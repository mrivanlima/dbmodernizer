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adding AI search to their product hits the same question: use the Postgres database you already run, or stand up a dedicated vector database? In this video, I'll walk through the actual 2026 decision framework -- with real benchmark numbers, not vibes.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long time, the safe answer was: don't even try pgvector at scale, just stand up Pinecone or Qdrant. That advice is stale. pgvector has closed a lot of that gap -- and a lot of teams are still making the old decision based on old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number that surprised a lot of people. Timescale's pgvectorscale extension hit 471 queries per second at 99 percent recall against 50 million vectors. Qdrant, on the same hardware, hit about 41. That's an 11-times throughput gap in pgvector's favor. It's a vendor benchmark, so take the exact multiple with a grain of salt, but the direction lines up with what other teams are reporting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erases pgvector's real limits. Each vector eats about six kilobytes of storage before you even build an index, so at a hundred million rows you're already past 600 gigabytes of raw data. HNSW needs the whole graph in memory to build. And Postgres tops out at 32 terabytes per table, so billion-vector deployments need real sharding work. pgvector was never rebuilt from scratch around vector search the way Qdrant or Milvus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short version. Under ten million vectors, just use pgvector -- it's cheaper and it's one less system. Between ten and fifty million, pgvector with pgvectorscale is now a real contender, not just a fallback. Past fifty to a hundred million, or if you need very high query throughput, purpose-built databases pull ahead and self-hosting one starts to pay for itself. And if you need hybrid search or strict multi-tenant isolation, engines like Qdrant were built for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mid-migration and not sure which side of this line your workload actually sits on, the full breakdown is on the blog, with the cost math and the four-question framework laid out. Link's on screen -- I'm Ivan Lima with Data Platform Advisory,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640080" y="1463040"/>
            <a:ext cx="10881360" cy="18288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pgvector vs. Purpose-Built</a:t>
            </a:r>
            <a:endParaRPr lang="en-US" sz="4000" dirty="0"/>
          </a:p>
          <a:p>
            <a:pPr algn="l" indent="0" marL="0">
              <a:buNone/>
            </a:pPr>
            <a:r>
              <a:rPr lang="en-US" sz="4000" b="1" dirty="0">
                <a:solidFill>
                  <a:srgbClr val="FFFFFF"/>
                </a:solidFill>
                <a:latin typeface="Cambria" pitchFamily="34" charset="0"/>
                <a:ea typeface="Cambria" pitchFamily="34" charset="-122"/>
                <a:cs typeface="Cambria" pitchFamily="34" charset="-120"/>
              </a:rPr>
              <a:t>Vector Databases</a:t>
            </a:r>
            <a:endParaRPr lang="en-US" sz="4000" dirty="0"/>
          </a:p>
        </p:txBody>
      </p:sp>
      <p:sp>
        <p:nvSpPr>
          <p:cNvPr id="3" name="Text 1"/>
          <p:cNvSpPr/>
          <p:nvPr/>
        </p:nvSpPr>
        <p:spPr>
          <a:xfrm>
            <a:off x="640080" y="3200400"/>
            <a:ext cx="10881360" cy="548640"/>
          </a:xfrm>
          <a:prstGeom prst="rect">
            <a:avLst/>
          </a:prstGeom>
          <a:noFill/>
          <a:ln/>
        </p:spPr>
        <p:txBody>
          <a:bodyPr wrap="square" lIns="0" tIns="0" rIns="0" bIns="0" rtlCol="0" anchor="ctr"/>
          <a:lstStyle/>
          <a:p>
            <a:pPr algn="l" indent="0" marL="0">
              <a:buNone/>
            </a:pPr>
            <a:r>
              <a:rPr lang="en-US" sz="2200" dirty="0">
                <a:solidFill>
                  <a:srgbClr val="8FD3C7"/>
                </a:solidFill>
                <a:latin typeface="Calibri" pitchFamily="34" charset="0"/>
                <a:ea typeface="Calibri" pitchFamily="34" charset="-122"/>
                <a:cs typeface="Calibri" pitchFamily="34" charset="-120"/>
              </a:rPr>
              <a:t>A 2026 Decision Framework</a:t>
            </a:r>
            <a:endParaRPr lang="en-US" sz="2200" dirty="0"/>
          </a:p>
        </p:txBody>
      </p:sp>
      <p:sp>
        <p:nvSpPr>
          <p:cNvPr id="4" name="Text 2"/>
          <p:cNvSpPr/>
          <p:nvPr/>
        </p:nvSpPr>
        <p:spPr>
          <a:xfrm>
            <a:off x="640080" y="5943600"/>
            <a:ext cx="7315200" cy="457200"/>
          </a:xfrm>
          <a:prstGeom prst="rect">
            <a:avLst/>
          </a:prstGeom>
          <a:noFill/>
          <a:ln/>
        </p:spPr>
        <p:txBody>
          <a:bodyPr wrap="square" lIns="0" tIns="0" rIns="0" bIns="0" rtlCol="0" anchor="ctr"/>
          <a:lstStyle/>
          <a:p>
            <a:pPr algn="l" indent="0" marL="0">
              <a:buNone/>
            </a:pPr>
            <a:r>
              <a:rPr lang="en-US" sz="1600" dirty="0">
                <a:solidFill>
                  <a:srgbClr val="C9D9E3"/>
                </a:solidFill>
                <a:latin typeface="Calibri" pitchFamily="34" charset="0"/>
                <a:ea typeface="Calibri" pitchFamily="34" charset="-122"/>
                <a:cs typeface="Calibri" pitchFamily="34" charset="-120"/>
              </a:rPr>
              <a:t>Ivan Lima · Data Platform Advisory</a:t>
            </a:r>
            <a:endParaRPr lang="en-US" sz="1600" dirty="0"/>
          </a:p>
        </p:txBody>
      </p:sp>
      <p:sp>
        <p:nvSpPr>
          <p:cNvPr id="5" name="Shape 3"/>
          <p:cNvSpPr/>
          <p:nvPr/>
        </p:nvSpPr>
        <p:spPr>
          <a:xfrm>
            <a:off x="9692640" y="548640"/>
            <a:ext cx="1828800" cy="1828800"/>
          </a:xfrm>
          <a:prstGeom prst="ellipse">
            <a:avLst/>
          </a:prstGeom>
          <a:solidFill>
            <a:srgbClr val="8FD3C7">
              <a:alpha val="15000"/>
            </a:srgbClr>
          </a:solidFill>
          <a:ln w="12700">
            <a:solidFill>
              <a:srgbClr val="8FD3C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0F2540"/>
                </a:solidFill>
                <a:latin typeface="Cambria" pitchFamily="34" charset="0"/>
                <a:ea typeface="Cambria" pitchFamily="34" charset="-122"/>
                <a:cs typeface="Cambria" pitchFamily="34" charset="-120"/>
              </a:rPr>
              <a:t>The Old Advice Is Outdated</a:t>
            </a:r>
            <a:endParaRPr lang="en-US" sz="3200" dirty="0"/>
          </a:p>
        </p:txBody>
      </p:sp>
      <p:sp>
        <p:nvSpPr>
          <p:cNvPr id="3" name="Shape 1"/>
          <p:cNvSpPr/>
          <p:nvPr/>
        </p:nvSpPr>
        <p:spPr>
          <a:xfrm>
            <a:off x="640080" y="1554480"/>
            <a:ext cx="10881360" cy="1188720"/>
          </a:xfrm>
          <a:prstGeom prst="roundRect">
            <a:avLst>
              <a:gd name="adj" fmla="val 7692"/>
            </a:avLst>
          </a:prstGeom>
          <a:solidFill>
            <a:srgbClr val="0F2540"/>
          </a:solidFill>
          <a:ln/>
        </p:spPr>
      </p:sp>
      <p:sp>
        <p:nvSpPr>
          <p:cNvPr id="4" name="Text 2"/>
          <p:cNvSpPr/>
          <p:nvPr/>
        </p:nvSpPr>
        <p:spPr>
          <a:xfrm>
            <a:off x="914400" y="1554480"/>
            <a:ext cx="10332720" cy="1188720"/>
          </a:xfrm>
          <a:prstGeom prst="rect">
            <a:avLst/>
          </a:prstGeom>
          <a:noFill/>
          <a:ln/>
        </p:spPr>
        <p:txBody>
          <a:bodyPr wrap="square" lIns="0" tIns="0" rIns="0" bIns="0" rtlCol="0" anchor="ctr"/>
          <a:lstStyle/>
          <a:p>
            <a:pPr algn="l" indent="0" marL="0">
              <a:buNone/>
            </a:pPr>
            <a:r>
              <a:rPr lang="en-US" sz="2000" i="1" dirty="0">
                <a:solidFill>
                  <a:srgbClr val="FFFFFF"/>
                </a:solidFill>
                <a:latin typeface="Calibri" pitchFamily="34" charset="0"/>
                <a:ea typeface="Calibri" pitchFamily="34" charset="-122"/>
                <a:cs typeface="Calibri" pitchFamily="34" charset="-120"/>
              </a:rPr>
              <a:t>"pgvector falls over past a few million rows" -- true in 2024. Not true anymore.</a:t>
            </a:r>
            <a:endParaRPr lang="en-US" sz="2000" dirty="0"/>
          </a:p>
        </p:txBody>
      </p:sp>
      <p:sp>
        <p:nvSpPr>
          <p:cNvPr id="5" name="Text 3"/>
          <p:cNvSpPr/>
          <p:nvPr/>
        </p:nvSpPr>
        <p:spPr>
          <a:xfrm>
            <a:off x="640080" y="3017520"/>
            <a:ext cx="10881360" cy="1463040"/>
          </a:xfrm>
          <a:prstGeom prst="rect">
            <a:avLst/>
          </a:prstGeom>
          <a:noFill/>
          <a:ln/>
        </p:spPr>
        <p:txBody>
          <a:bodyPr wrap="square" lIns="0" tIns="0" rIns="0" bIns="0" rtlCol="0" anchor="ctr"/>
          <a:lstStyle/>
          <a:p>
            <a:pPr algn="l" indent="0" marL="0">
              <a:spcAft>
                <a:spcPts val="1000"/>
              </a:spcAft>
              <a:buNone/>
            </a:pPr>
            <a:r>
              <a:rPr lang="en-US" sz="1700" dirty="0">
                <a:solidFill>
                  <a:srgbClr val="3A4A5A"/>
                </a:solidFill>
                <a:latin typeface="Calibri" pitchFamily="34" charset="0"/>
                <a:ea typeface="Calibri" pitchFamily="34" charset="-122"/>
                <a:cs typeface="Calibri" pitchFamily="34" charset="-120"/>
              </a:rPr>
              <a:t>Two years ago the safe default was "just use a dedicated vector database." </a:t>
            </a:r>
            <a:endParaRPr lang="en-US" sz="1700" dirty="0"/>
          </a:p>
          <a:p>
            <a:pPr algn="l" indent="0" marL="0">
              <a:spcAft>
                <a:spcPts val="1000"/>
              </a:spcAft>
              <a:buNone/>
            </a:pPr>
            <a:r>
              <a:rPr lang="en-US" sz="1700" dirty="0">
                <a:solidFill>
                  <a:srgbClr val="3A4A5A"/>
                </a:solidFill>
                <a:latin typeface="Calibri" pitchFamily="34" charset="0"/>
                <a:ea typeface="Calibri" pitchFamily="34" charset="-122"/>
                <a:cs typeface="Calibri" pitchFamily="34" charset="-120"/>
              </a:rPr>
              <a:t>That's no longer the full picture -- and treating it as settled either way costs teams real money and real latency.</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000" b="1" dirty="0">
                <a:solidFill>
                  <a:srgbClr val="0F2540"/>
                </a:solidFill>
                <a:latin typeface="Cambria" pitchFamily="34" charset="0"/>
                <a:ea typeface="Cambria" pitchFamily="34" charset="-122"/>
                <a:cs typeface="Cambria" pitchFamily="34" charset="-120"/>
              </a:rPr>
              <a:t>What Changed: Performance</a:t>
            </a:r>
            <a:endParaRPr lang="en-US" sz="3000" dirty="0"/>
          </a:p>
        </p:txBody>
      </p:sp>
      <p:sp>
        <p:nvSpPr>
          <p:cNvPr id="3" name="Shape 1"/>
          <p:cNvSpPr/>
          <p:nvPr/>
        </p:nvSpPr>
        <p:spPr>
          <a:xfrm>
            <a:off x="640080" y="1554480"/>
            <a:ext cx="5120640" cy="2926080"/>
          </a:xfrm>
          <a:prstGeom prst="roundRect">
            <a:avLst>
              <a:gd name="adj" fmla="val 3125"/>
            </a:avLst>
          </a:prstGeom>
          <a:solidFill>
            <a:srgbClr val="0F2540"/>
          </a:solidFill>
          <a:ln/>
        </p:spPr>
      </p:sp>
      <p:sp>
        <p:nvSpPr>
          <p:cNvPr id="4" name="Text 2"/>
          <p:cNvSpPr/>
          <p:nvPr/>
        </p:nvSpPr>
        <p:spPr>
          <a:xfrm>
            <a:off x="640080" y="1737360"/>
            <a:ext cx="5120640" cy="1188720"/>
          </a:xfrm>
          <a:prstGeom prst="rect">
            <a:avLst/>
          </a:prstGeom>
          <a:noFill/>
          <a:ln/>
        </p:spPr>
        <p:txBody>
          <a:bodyPr wrap="square" lIns="0" tIns="0" rIns="0" bIns="0" rtlCol="0" anchor="ctr"/>
          <a:lstStyle/>
          <a:p>
            <a:pPr algn="ctr" indent="0" marL="0">
              <a:buNone/>
            </a:pPr>
            <a:r>
              <a:rPr lang="en-US" sz="6400" b="1" dirty="0">
                <a:solidFill>
                  <a:srgbClr val="8FD3C7"/>
                </a:solidFill>
                <a:latin typeface="Cambria" pitchFamily="34" charset="0"/>
                <a:ea typeface="Cambria" pitchFamily="34" charset="-122"/>
                <a:cs typeface="Cambria" pitchFamily="34" charset="-120"/>
              </a:rPr>
              <a:t>471</a:t>
            </a:r>
            <a:endParaRPr lang="en-US" sz="6400" dirty="0"/>
          </a:p>
        </p:txBody>
      </p:sp>
      <p:sp>
        <p:nvSpPr>
          <p:cNvPr id="5" name="Text 3"/>
          <p:cNvSpPr/>
          <p:nvPr/>
        </p:nvSpPr>
        <p:spPr>
          <a:xfrm>
            <a:off x="822960" y="2926080"/>
            <a:ext cx="4754880" cy="1280160"/>
          </a:xfrm>
          <a:prstGeom prst="rect">
            <a:avLst/>
          </a:prstGeom>
          <a:noFill/>
          <a:ln/>
        </p:spPr>
        <p:txBody>
          <a:bodyPr wrap="square" lIns="0" tIns="0" rIns="0" bIns="0" rtlCol="0" anchor="ctr"/>
          <a:lstStyle/>
          <a:p>
            <a:pPr algn="ctr" indent="0" marL="0">
              <a:buNone/>
            </a:pPr>
            <a:r>
              <a:rPr lang="en-US" sz="1500" dirty="0">
                <a:solidFill>
                  <a:srgbClr val="C9D9E3"/>
                </a:solidFill>
                <a:latin typeface="Calibri" pitchFamily="34" charset="0"/>
                <a:ea typeface="Calibri" pitchFamily="34" charset="-122"/>
                <a:cs typeface="Calibri" pitchFamily="34" charset="-120"/>
              </a:rPr>
              <a:t>queries/sec at 99% recall</a:t>
            </a:r>
            <a:endParaRPr lang="en-US" sz="1500" dirty="0"/>
          </a:p>
          <a:p>
            <a:pPr algn="ctr" indent="0" marL="0">
              <a:buNone/>
            </a:pPr>
            <a:r>
              <a:rPr lang="en-US" sz="1500" dirty="0">
                <a:solidFill>
                  <a:srgbClr val="C9D9E3"/>
                </a:solidFill>
                <a:latin typeface="Calibri" pitchFamily="34" charset="0"/>
                <a:ea typeface="Calibri" pitchFamily="34" charset="-122"/>
                <a:cs typeface="Calibri" pitchFamily="34" charset="-120"/>
              </a:rPr>
              <a:t>pgvector + pgvectorscale, 50M vectors</a:t>
            </a:r>
            <a:endParaRPr lang="en-US" sz="1500" dirty="0"/>
          </a:p>
        </p:txBody>
      </p:sp>
      <p:sp>
        <p:nvSpPr>
          <p:cNvPr id="6" name="Shape 4"/>
          <p:cNvSpPr/>
          <p:nvPr/>
        </p:nvSpPr>
        <p:spPr>
          <a:xfrm>
            <a:off x="6035040" y="1554480"/>
            <a:ext cx="5120640" cy="2926080"/>
          </a:xfrm>
          <a:prstGeom prst="roundRect">
            <a:avLst>
              <a:gd name="adj" fmla="val 3125"/>
            </a:avLst>
          </a:prstGeom>
          <a:solidFill>
            <a:srgbClr val="3A4A5A"/>
          </a:solidFill>
          <a:ln/>
        </p:spPr>
      </p:sp>
      <p:sp>
        <p:nvSpPr>
          <p:cNvPr id="7" name="Text 5"/>
          <p:cNvSpPr/>
          <p:nvPr/>
        </p:nvSpPr>
        <p:spPr>
          <a:xfrm>
            <a:off x="6035040" y="1737360"/>
            <a:ext cx="5120640" cy="1188720"/>
          </a:xfrm>
          <a:prstGeom prst="rect">
            <a:avLst/>
          </a:prstGeom>
          <a:noFill/>
          <a:ln/>
        </p:spPr>
        <p:txBody>
          <a:bodyPr wrap="square" lIns="0" tIns="0" rIns="0" bIns="0" rtlCol="0" anchor="ctr"/>
          <a:lstStyle/>
          <a:p>
            <a:pPr algn="ctr" indent="0" marL="0">
              <a:buNone/>
            </a:pPr>
            <a:r>
              <a:rPr lang="en-US" sz="6400" b="1" dirty="0">
                <a:solidFill>
                  <a:srgbClr val="8FD3C7"/>
                </a:solidFill>
                <a:latin typeface="Cambria" pitchFamily="34" charset="0"/>
                <a:ea typeface="Cambria" pitchFamily="34" charset="-122"/>
                <a:cs typeface="Cambria" pitchFamily="34" charset="-120"/>
              </a:rPr>
              <a:t>41.5</a:t>
            </a:r>
            <a:endParaRPr lang="en-US" sz="6400" dirty="0"/>
          </a:p>
        </p:txBody>
      </p:sp>
      <p:sp>
        <p:nvSpPr>
          <p:cNvPr id="8" name="Text 6"/>
          <p:cNvSpPr/>
          <p:nvPr/>
        </p:nvSpPr>
        <p:spPr>
          <a:xfrm>
            <a:off x="6217920" y="2926080"/>
            <a:ext cx="4754880" cy="1280160"/>
          </a:xfrm>
          <a:prstGeom prst="rect">
            <a:avLst/>
          </a:prstGeom>
          <a:noFill/>
          <a:ln/>
        </p:spPr>
        <p:txBody>
          <a:bodyPr wrap="square" lIns="0" tIns="0" rIns="0" bIns="0" rtlCol="0" anchor="ctr"/>
          <a:lstStyle/>
          <a:p>
            <a:pPr algn="ctr" indent="0" marL="0">
              <a:buNone/>
            </a:pPr>
            <a:r>
              <a:rPr lang="en-US" sz="1500" dirty="0">
                <a:solidFill>
                  <a:srgbClr val="C9D9E3"/>
                </a:solidFill>
                <a:latin typeface="Calibri" pitchFamily="34" charset="0"/>
                <a:ea typeface="Calibri" pitchFamily="34" charset="-122"/>
                <a:cs typeface="Calibri" pitchFamily="34" charset="-120"/>
              </a:rPr>
              <a:t>queries/sec, same test</a:t>
            </a:r>
            <a:endParaRPr lang="en-US" sz="1500" dirty="0"/>
          </a:p>
          <a:p>
            <a:pPr algn="ctr" indent="0" marL="0">
              <a:buNone/>
            </a:pPr>
            <a:r>
              <a:rPr lang="en-US" sz="1500" dirty="0">
                <a:solidFill>
                  <a:srgbClr val="C9D9E3"/>
                </a:solidFill>
                <a:latin typeface="Calibri" pitchFamily="34" charset="0"/>
                <a:ea typeface="Calibri" pitchFamily="34" charset="-122"/>
                <a:cs typeface="Calibri" pitchFamily="34" charset="-120"/>
              </a:rPr>
              <a:t>Qdrant on identical hardware</a:t>
            </a:r>
            <a:endParaRPr lang="en-US" sz="1500" dirty="0"/>
          </a:p>
        </p:txBody>
      </p:sp>
      <p:sp>
        <p:nvSpPr>
          <p:cNvPr id="9" name="Text 7"/>
          <p:cNvSpPr/>
          <p:nvPr/>
        </p:nvSpPr>
        <p:spPr>
          <a:xfrm>
            <a:off x="640080" y="4709160"/>
            <a:ext cx="10881360" cy="548640"/>
          </a:xfrm>
          <a:prstGeom prst="rect">
            <a:avLst/>
          </a:prstGeom>
          <a:noFill/>
          <a:ln/>
        </p:spPr>
        <p:txBody>
          <a:bodyPr wrap="square" lIns="0" tIns="0" rIns="0" bIns="0" rtlCol="0" anchor="ctr"/>
          <a:lstStyle/>
          <a:p>
            <a:pPr algn="l" indent="0" marL="0">
              <a:buNone/>
            </a:pPr>
            <a:r>
              <a:rPr lang="en-US" sz="1300" i="1" dirty="0">
                <a:solidFill>
                  <a:srgbClr val="3A4A5A"/>
                </a:solidFill>
                <a:latin typeface="Calibri" pitchFamily="34" charset="0"/>
                <a:ea typeface="Calibri" pitchFamily="34" charset="-122"/>
                <a:cs typeface="Calibri" pitchFamily="34" charset="-120"/>
              </a:rPr>
              <a:t>Source: Tiger Data (Timescale) pgvector vs. Qdrant benchmark -- an 11.4x throughput advantage at matching recall.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000" b="1" dirty="0">
                <a:solidFill>
                  <a:srgbClr val="0F2540"/>
                </a:solidFill>
                <a:latin typeface="Cambria" pitchFamily="34" charset="0"/>
                <a:ea typeface="Cambria" pitchFamily="34" charset="-122"/>
                <a:cs typeface="Cambria" pitchFamily="34" charset="-120"/>
              </a:rPr>
              <a:t>Where pgvector Still Hits a Ceiling</a:t>
            </a:r>
            <a:endParaRPr lang="en-US" sz="3000" dirty="0"/>
          </a:p>
        </p:txBody>
      </p:sp>
      <p:sp>
        <p:nvSpPr>
          <p:cNvPr id="3" name="Shape 1"/>
          <p:cNvSpPr/>
          <p:nvPr/>
        </p:nvSpPr>
        <p:spPr>
          <a:xfrm>
            <a:off x="640080" y="1463040"/>
            <a:ext cx="5120640" cy="4023360"/>
          </a:xfrm>
          <a:prstGeom prst="roundRect">
            <a:avLst>
              <a:gd name="adj" fmla="val 1818"/>
            </a:avLst>
          </a:prstGeom>
          <a:solidFill>
            <a:srgbClr val="EDF3F1"/>
          </a:solidFill>
          <a:ln w="12700">
            <a:solidFill>
              <a:srgbClr val="8FD3C7"/>
            </a:solidFill>
            <a:prstDash val="solid"/>
          </a:ln>
        </p:spPr>
      </p:sp>
      <p:sp>
        <p:nvSpPr>
          <p:cNvPr id="4" name="Text 2"/>
          <p:cNvSpPr/>
          <p:nvPr/>
        </p:nvSpPr>
        <p:spPr>
          <a:xfrm>
            <a:off x="914400" y="1645920"/>
            <a:ext cx="4572000" cy="457200"/>
          </a:xfrm>
          <a:prstGeom prst="rect">
            <a:avLst/>
          </a:prstGeom>
          <a:noFill/>
          <a:ln/>
        </p:spPr>
        <p:txBody>
          <a:bodyPr wrap="square" lIns="0" tIns="0" rIns="0" bIns="0" rtlCol="0" anchor="ctr"/>
          <a:lstStyle/>
          <a:p>
            <a:pPr indent="0" marL="0">
              <a:buNone/>
            </a:pPr>
            <a:r>
              <a:rPr lang="en-US" sz="1800" b="1" dirty="0">
                <a:solidFill>
                  <a:srgbClr val="0F2540"/>
                </a:solidFill>
                <a:latin typeface="Calibri" pitchFamily="34" charset="0"/>
                <a:ea typeface="Calibri" pitchFamily="34" charset="-122"/>
                <a:cs typeface="Calibri" pitchFamily="34" charset="-120"/>
              </a:rPr>
              <a:t>Storage &amp; Memory</a:t>
            </a:r>
            <a:endParaRPr lang="en-US" sz="1800" dirty="0"/>
          </a:p>
        </p:txBody>
      </p:sp>
      <p:sp>
        <p:nvSpPr>
          <p:cNvPr id="5" name="Text 3"/>
          <p:cNvSpPr/>
          <p:nvPr/>
        </p:nvSpPr>
        <p:spPr>
          <a:xfrm>
            <a:off x="914400" y="2194560"/>
            <a:ext cx="4572000" cy="3108960"/>
          </a:xfrm>
          <a:prstGeom prst="rect">
            <a:avLst/>
          </a:prstGeom>
          <a:noFill/>
          <a:ln/>
        </p:spPr>
        <p:txBody>
          <a:bodyPr wrap="square" lIns="0" tIns="0" rIns="0" bIns="0" rtlCol="0" anchor="ctr"/>
          <a:lstStyle/>
          <a:p>
            <a:pPr algn="l" marL="342900" indent="-342900">
              <a:spcAft>
                <a:spcPts val="1200"/>
              </a:spcAft>
              <a:buSzPct val="100000"/>
              <a:buChar char="•"/>
            </a:pPr>
            <a:r>
              <a:rPr lang="en-US" sz="1500" dirty="0">
                <a:solidFill>
                  <a:srgbClr val="3A4A5A"/>
                </a:solidFill>
                <a:latin typeface="Calibri" pitchFamily="34" charset="0"/>
                <a:ea typeface="Calibri" pitchFamily="34" charset="-122"/>
                <a:cs typeface="Calibri" pitchFamily="34" charset="-120"/>
              </a:rPr>
              <a:t>~6KB per vector(1536) on disk before overhead</a:t>
            </a:r>
            <a:endParaRPr lang="en-US" sz="1500" dirty="0"/>
          </a:p>
          <a:p>
            <a:pPr algn="l" marL="342900" indent="-342900">
              <a:spcAft>
                <a:spcPts val="1200"/>
              </a:spcAft>
              <a:buSzPct val="100000"/>
              <a:buChar char="•"/>
            </a:pPr>
            <a:r>
              <a:rPr lang="en-US" sz="1500" dirty="0">
                <a:solidFill>
                  <a:srgbClr val="3A4A5A"/>
                </a:solidFill>
                <a:latin typeface="Calibri" pitchFamily="34" charset="0"/>
                <a:ea typeface="Calibri" pitchFamily="34" charset="-122"/>
                <a:cs typeface="Calibri" pitchFamily="34" charset="-120"/>
              </a:rPr>
              <a:t>100M rows = 600GB+ raw storage alone</a:t>
            </a:r>
            <a:endParaRPr lang="en-US" sz="1500" dirty="0"/>
          </a:p>
          <a:p>
            <a:pPr algn="l" marL="342900" indent="-342900">
              <a:spcAft>
                <a:spcPts val="1200"/>
              </a:spcAft>
              <a:buSzPct val="100000"/>
              <a:buChar char="•"/>
            </a:pPr>
            <a:r>
              <a:rPr lang="en-US" sz="1500" dirty="0">
                <a:solidFill>
                  <a:srgbClr val="3A4A5A"/>
                </a:solidFill>
                <a:latin typeface="Calibri" pitchFamily="34" charset="0"/>
                <a:ea typeface="Calibri" pitchFamily="34" charset="-122"/>
                <a:cs typeface="Calibri" pitchFamily="34" charset="-120"/>
              </a:rPr>
              <a:t>HNSW keeps full graph in RAM during build</a:t>
            </a:r>
            <a:endParaRPr lang="en-US" sz="1500" dirty="0"/>
          </a:p>
        </p:txBody>
      </p:sp>
      <p:sp>
        <p:nvSpPr>
          <p:cNvPr id="6" name="Shape 4"/>
          <p:cNvSpPr/>
          <p:nvPr/>
        </p:nvSpPr>
        <p:spPr>
          <a:xfrm>
            <a:off x="6035040" y="1463040"/>
            <a:ext cx="5120640" cy="4023360"/>
          </a:xfrm>
          <a:prstGeom prst="roundRect">
            <a:avLst>
              <a:gd name="adj" fmla="val 1818"/>
            </a:avLst>
          </a:prstGeom>
          <a:solidFill>
            <a:srgbClr val="EDF3F1"/>
          </a:solidFill>
          <a:ln w="12700">
            <a:solidFill>
              <a:srgbClr val="8FD3C7"/>
            </a:solidFill>
            <a:prstDash val="solid"/>
          </a:ln>
        </p:spPr>
      </p:sp>
      <p:sp>
        <p:nvSpPr>
          <p:cNvPr id="7" name="Text 5"/>
          <p:cNvSpPr/>
          <p:nvPr/>
        </p:nvSpPr>
        <p:spPr>
          <a:xfrm>
            <a:off x="6309360" y="1645920"/>
            <a:ext cx="4572000" cy="457200"/>
          </a:xfrm>
          <a:prstGeom prst="rect">
            <a:avLst/>
          </a:prstGeom>
          <a:noFill/>
          <a:ln/>
        </p:spPr>
        <p:txBody>
          <a:bodyPr wrap="square" lIns="0" tIns="0" rIns="0" bIns="0" rtlCol="0" anchor="ctr"/>
          <a:lstStyle/>
          <a:p>
            <a:pPr indent="0" marL="0">
              <a:buNone/>
            </a:pPr>
            <a:r>
              <a:rPr lang="en-US" sz="1800" b="1" dirty="0">
                <a:solidFill>
                  <a:srgbClr val="0F2540"/>
                </a:solidFill>
                <a:latin typeface="Calibri" pitchFamily="34" charset="0"/>
                <a:ea typeface="Calibri" pitchFamily="34" charset="-122"/>
                <a:cs typeface="Calibri" pitchFamily="34" charset="-120"/>
              </a:rPr>
              <a:t>Architecture Limits</a:t>
            </a:r>
            <a:endParaRPr lang="en-US" sz="1800" dirty="0"/>
          </a:p>
        </p:txBody>
      </p:sp>
      <p:sp>
        <p:nvSpPr>
          <p:cNvPr id="8" name="Text 6"/>
          <p:cNvSpPr/>
          <p:nvPr/>
        </p:nvSpPr>
        <p:spPr>
          <a:xfrm>
            <a:off x="6309360" y="2194560"/>
            <a:ext cx="4572000" cy="3108960"/>
          </a:xfrm>
          <a:prstGeom prst="rect">
            <a:avLst/>
          </a:prstGeom>
          <a:noFill/>
          <a:ln/>
        </p:spPr>
        <p:txBody>
          <a:bodyPr wrap="square" lIns="0" tIns="0" rIns="0" bIns="0" rtlCol="0" anchor="ctr"/>
          <a:lstStyle/>
          <a:p>
            <a:pPr algn="l" marL="342900" indent="-342900">
              <a:spcAft>
                <a:spcPts val="1200"/>
              </a:spcAft>
              <a:buSzPct val="100000"/>
              <a:buChar char="•"/>
            </a:pPr>
            <a:r>
              <a:rPr lang="en-US" sz="1500" dirty="0">
                <a:solidFill>
                  <a:srgbClr val="3A4A5A"/>
                </a:solidFill>
                <a:latin typeface="Calibri" pitchFamily="34" charset="0"/>
                <a:ea typeface="Calibri" pitchFamily="34" charset="-122"/>
                <a:cs typeface="Calibri" pitchFamily="34" charset="-120"/>
              </a:rPr>
              <a:t>Only HNSW and IVFFlat index types supported</a:t>
            </a:r>
            <a:endParaRPr lang="en-US" sz="1500" dirty="0"/>
          </a:p>
          <a:p>
            <a:pPr algn="l" marL="342900" indent="-342900">
              <a:spcAft>
                <a:spcPts val="1200"/>
              </a:spcAft>
              <a:buSzPct val="100000"/>
              <a:buChar char="•"/>
            </a:pPr>
            <a:r>
              <a:rPr lang="en-US" sz="1500" dirty="0">
                <a:solidFill>
                  <a:srgbClr val="3A4A5A"/>
                </a:solidFill>
                <a:latin typeface="Calibri" pitchFamily="34" charset="0"/>
                <a:ea typeface="Calibri" pitchFamily="34" charset="-122"/>
                <a:cs typeface="Calibri" pitchFamily="34" charset="-120"/>
              </a:rPr>
              <a:t>32TB per-table limit forces sharding at billion-scale</a:t>
            </a:r>
            <a:endParaRPr lang="en-US" sz="1500" dirty="0"/>
          </a:p>
          <a:p>
            <a:pPr algn="l" marL="342900" indent="-342900">
              <a:spcAft>
                <a:spcPts val="1200"/>
              </a:spcAft>
              <a:buSzPct val="100000"/>
              <a:buChar char="•"/>
            </a:pPr>
            <a:r>
              <a:rPr lang="en-US" sz="1500" dirty="0">
                <a:solidFill>
                  <a:srgbClr val="3A4A5A"/>
                </a:solidFill>
                <a:latin typeface="Calibri" pitchFamily="34" charset="0"/>
                <a:ea typeface="Calibri" pitchFamily="34" charset="-122"/>
                <a:cs typeface="Calibri" pitchFamily="34" charset="-120"/>
              </a:rPr>
              <a:t>Still bound by Postgres's general-purpose planner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3" name="Shape 1"/>
          <p:cNvSpPr/>
          <p:nvPr/>
        </p:nvSpPr>
        <p:spPr>
          <a:xfrm>
            <a:off x="640080" y="1554480"/>
            <a:ext cx="457200" cy="457200"/>
          </a:xfrm>
          <a:prstGeom prst="ellipse">
            <a:avLst/>
          </a:prstGeom>
          <a:solidFill>
            <a:srgbClr val="8FD3C7"/>
          </a:solidFill>
          <a:ln/>
        </p:spPr>
      </p:sp>
      <p:sp>
        <p:nvSpPr>
          <p:cNvPr id="4" name="Text 2"/>
          <p:cNvSpPr/>
          <p:nvPr/>
        </p:nvSpPr>
        <p:spPr>
          <a:xfrm>
            <a:off x="640080" y="1554480"/>
            <a:ext cx="457200" cy="457200"/>
          </a:xfrm>
          <a:prstGeom prst="rect">
            <a:avLst/>
          </a:prstGeom>
          <a:noFill/>
          <a:ln/>
        </p:spPr>
        <p:txBody>
          <a:bodyPr wrap="square" lIns="0" tIns="0" rIns="0" bIns="0" rtlCol="0" anchor="ctr"/>
          <a:lstStyle/>
          <a:p>
            <a:pPr algn="ctr" indent="0" marL="0">
              <a:buNone/>
            </a:pPr>
            <a:r>
              <a:rPr lang="en-US" sz="1600" b="1" dirty="0">
                <a:solidFill>
                  <a:srgbClr val="0F2540"/>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280160" y="1508760"/>
            <a:ext cx="3931920" cy="548640"/>
          </a:xfrm>
          <a:prstGeom prst="rect">
            <a:avLst/>
          </a:prstGeom>
          <a:noFill/>
          <a:ln/>
        </p:spPr>
        <p:txBody>
          <a:bodyPr wrap="square" lIns="0" tIns="0" rIns="0" bIns="0" rtlCol="0" anchor="ctr"/>
          <a:lstStyle/>
          <a:p>
            <a:pPr algn="l" indent="0" marL="0">
              <a:buNone/>
            </a:pPr>
            <a:r>
              <a:rPr lang="en-US" sz="1600" b="1" dirty="0">
                <a:solidFill>
                  <a:srgbClr val="8FD3C7"/>
                </a:solidFill>
                <a:latin typeface="Calibri" pitchFamily="34" charset="0"/>
                <a:ea typeface="Calibri" pitchFamily="34" charset="-122"/>
                <a:cs typeface="Calibri" pitchFamily="34" charset="-120"/>
              </a:rPr>
              <a:t>Under 10M vectors</a:t>
            </a:r>
            <a:endParaRPr lang="en-US" sz="1600" dirty="0"/>
          </a:p>
        </p:txBody>
      </p:sp>
      <p:sp>
        <p:nvSpPr>
          <p:cNvPr id="6" name="Text 4"/>
          <p:cNvSpPr/>
          <p:nvPr/>
        </p:nvSpPr>
        <p:spPr>
          <a:xfrm>
            <a:off x="5303520" y="1508760"/>
            <a:ext cx="6035040" cy="822960"/>
          </a:xfrm>
          <a:prstGeom prst="rect">
            <a:avLst/>
          </a:prstGeom>
          <a:noFill/>
          <a:ln/>
        </p:spPr>
        <p:txBody>
          <a:bodyPr wrap="square" lIns="0" tIns="0" rIns="0" bIns="0" rtlCol="0" anchor="ctr"/>
          <a:lstStyle/>
          <a:p>
            <a:pPr algn="l" indent="0" marL="0">
              <a:buNone/>
            </a:pPr>
            <a:r>
              <a:rPr lang="en-US" sz="1400" dirty="0">
                <a:solidFill>
                  <a:srgbClr val="C9D9E3"/>
                </a:solidFill>
                <a:latin typeface="Calibri" pitchFamily="34" charset="0"/>
                <a:ea typeface="Calibri" pitchFamily="34" charset="-122"/>
                <a:cs typeface="Calibri" pitchFamily="34" charset="-120"/>
              </a:rPr>
              <a:t>pgvector wins on cost and simplicity -- no new system to run.</a:t>
            </a:r>
            <a:endParaRPr lang="en-US" sz="1400" dirty="0"/>
          </a:p>
        </p:txBody>
      </p:sp>
      <p:sp>
        <p:nvSpPr>
          <p:cNvPr id="7" name="Shape 5"/>
          <p:cNvSpPr/>
          <p:nvPr/>
        </p:nvSpPr>
        <p:spPr>
          <a:xfrm>
            <a:off x="640080" y="2697480"/>
            <a:ext cx="457200" cy="457200"/>
          </a:xfrm>
          <a:prstGeom prst="ellipse">
            <a:avLst/>
          </a:prstGeom>
          <a:solidFill>
            <a:srgbClr val="8FD3C7"/>
          </a:solidFill>
          <a:ln/>
        </p:spPr>
      </p:sp>
      <p:sp>
        <p:nvSpPr>
          <p:cNvPr id="8" name="Text 6"/>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600" b="1" dirty="0">
                <a:solidFill>
                  <a:srgbClr val="0F2540"/>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80160" y="2651760"/>
            <a:ext cx="3931920" cy="548640"/>
          </a:xfrm>
          <a:prstGeom prst="rect">
            <a:avLst/>
          </a:prstGeom>
          <a:noFill/>
          <a:ln/>
        </p:spPr>
        <p:txBody>
          <a:bodyPr wrap="square" lIns="0" tIns="0" rIns="0" bIns="0" rtlCol="0" anchor="ctr"/>
          <a:lstStyle/>
          <a:p>
            <a:pPr algn="l" indent="0" marL="0">
              <a:buNone/>
            </a:pPr>
            <a:r>
              <a:rPr lang="en-US" sz="1600" b="1" dirty="0">
                <a:solidFill>
                  <a:srgbClr val="8FD3C7"/>
                </a:solidFill>
                <a:latin typeface="Calibri" pitchFamily="34" charset="0"/>
                <a:ea typeface="Calibri" pitchFamily="34" charset="-122"/>
                <a:cs typeface="Calibri" pitchFamily="34" charset="-120"/>
              </a:rPr>
              <a:t>10M-50M vectors</a:t>
            </a:r>
            <a:endParaRPr lang="en-US" sz="1600" dirty="0"/>
          </a:p>
        </p:txBody>
      </p:sp>
      <p:sp>
        <p:nvSpPr>
          <p:cNvPr id="10" name="Text 8"/>
          <p:cNvSpPr/>
          <p:nvPr/>
        </p:nvSpPr>
        <p:spPr>
          <a:xfrm>
            <a:off x="5303520" y="2651760"/>
            <a:ext cx="6035040" cy="822960"/>
          </a:xfrm>
          <a:prstGeom prst="rect">
            <a:avLst/>
          </a:prstGeom>
          <a:noFill/>
          <a:ln/>
        </p:spPr>
        <p:txBody>
          <a:bodyPr wrap="square" lIns="0" tIns="0" rIns="0" bIns="0" rtlCol="0" anchor="ctr"/>
          <a:lstStyle/>
          <a:p>
            <a:pPr algn="l" indent="0" marL="0">
              <a:buNone/>
            </a:pPr>
            <a:r>
              <a:rPr lang="en-US" sz="1400" dirty="0">
                <a:solidFill>
                  <a:srgbClr val="C9D9E3"/>
                </a:solidFill>
                <a:latin typeface="Calibri" pitchFamily="34" charset="0"/>
                <a:ea typeface="Calibri" pitchFamily="34" charset="-122"/>
                <a:cs typeface="Calibri" pitchFamily="34" charset="-120"/>
              </a:rPr>
              <a:t>pgvector + pgvectorscale is now genuinely competitive on throughput.</a:t>
            </a:r>
            <a:endParaRPr lang="en-US" sz="1400" dirty="0"/>
          </a:p>
        </p:txBody>
      </p:sp>
      <p:sp>
        <p:nvSpPr>
          <p:cNvPr id="11" name="Shape 9"/>
          <p:cNvSpPr/>
          <p:nvPr/>
        </p:nvSpPr>
        <p:spPr>
          <a:xfrm>
            <a:off x="640080" y="3840480"/>
            <a:ext cx="457200" cy="457200"/>
          </a:xfrm>
          <a:prstGeom prst="ellipse">
            <a:avLst/>
          </a:prstGeom>
          <a:solidFill>
            <a:srgbClr val="8FD3C7"/>
          </a:solidFill>
          <a:ln/>
        </p:spPr>
      </p:sp>
      <p:sp>
        <p:nvSpPr>
          <p:cNvPr id="12" name="Text 10"/>
          <p:cNvSpPr/>
          <p:nvPr/>
        </p:nvSpPr>
        <p:spPr>
          <a:xfrm>
            <a:off x="640080" y="3840480"/>
            <a:ext cx="457200" cy="457200"/>
          </a:xfrm>
          <a:prstGeom prst="rect">
            <a:avLst/>
          </a:prstGeom>
          <a:noFill/>
          <a:ln/>
        </p:spPr>
        <p:txBody>
          <a:bodyPr wrap="square" lIns="0" tIns="0" rIns="0" bIns="0" rtlCol="0" anchor="ctr"/>
          <a:lstStyle/>
          <a:p>
            <a:pPr algn="ctr" indent="0" marL="0">
              <a:buNone/>
            </a:pPr>
            <a:r>
              <a:rPr lang="en-US" sz="1600" b="1" dirty="0">
                <a:solidFill>
                  <a:srgbClr val="0F2540"/>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280160" y="3794760"/>
            <a:ext cx="3931920" cy="548640"/>
          </a:xfrm>
          <a:prstGeom prst="rect">
            <a:avLst/>
          </a:prstGeom>
          <a:noFill/>
          <a:ln/>
        </p:spPr>
        <p:txBody>
          <a:bodyPr wrap="square" lIns="0" tIns="0" rIns="0" bIns="0" rtlCol="0" anchor="ctr"/>
          <a:lstStyle/>
          <a:p>
            <a:pPr algn="l" indent="0" marL="0">
              <a:buNone/>
            </a:pPr>
            <a:r>
              <a:rPr lang="en-US" sz="1600" b="1" dirty="0">
                <a:solidFill>
                  <a:srgbClr val="8FD3C7"/>
                </a:solidFill>
                <a:latin typeface="Calibri" pitchFamily="34" charset="0"/>
                <a:ea typeface="Calibri" pitchFamily="34" charset="-122"/>
                <a:cs typeface="Calibri" pitchFamily="34" charset="-120"/>
              </a:rPr>
              <a:t>Past 50M-100M or high QPS</a:t>
            </a:r>
            <a:endParaRPr lang="en-US" sz="1600" dirty="0"/>
          </a:p>
        </p:txBody>
      </p:sp>
      <p:sp>
        <p:nvSpPr>
          <p:cNvPr id="14" name="Text 12"/>
          <p:cNvSpPr/>
          <p:nvPr/>
        </p:nvSpPr>
        <p:spPr>
          <a:xfrm>
            <a:off x="5303520" y="3794760"/>
            <a:ext cx="6035040" cy="822960"/>
          </a:xfrm>
          <a:prstGeom prst="rect">
            <a:avLst/>
          </a:prstGeom>
          <a:noFill/>
          <a:ln/>
        </p:spPr>
        <p:txBody>
          <a:bodyPr wrap="square" lIns="0" tIns="0" rIns="0" bIns="0" rtlCol="0" anchor="ctr"/>
          <a:lstStyle/>
          <a:p>
            <a:pPr algn="l" indent="0" marL="0">
              <a:buNone/>
            </a:pPr>
            <a:r>
              <a:rPr lang="en-US" sz="1400" dirty="0">
                <a:solidFill>
                  <a:srgbClr val="C9D9E3"/>
                </a:solidFill>
                <a:latin typeface="Calibri" pitchFamily="34" charset="0"/>
                <a:ea typeface="Calibri" pitchFamily="34" charset="-122"/>
                <a:cs typeface="Calibri" pitchFamily="34" charset="-120"/>
              </a:rPr>
              <a:t>purpose-built databases pull ahead; self-hosting becomes cost-justified.</a:t>
            </a:r>
            <a:endParaRPr lang="en-US" sz="1400" dirty="0"/>
          </a:p>
        </p:txBody>
      </p:sp>
      <p:sp>
        <p:nvSpPr>
          <p:cNvPr id="15" name="Shape 13"/>
          <p:cNvSpPr/>
          <p:nvPr/>
        </p:nvSpPr>
        <p:spPr>
          <a:xfrm>
            <a:off x="640080" y="4983480"/>
            <a:ext cx="457200" cy="457200"/>
          </a:xfrm>
          <a:prstGeom prst="ellipse">
            <a:avLst/>
          </a:prstGeom>
          <a:solidFill>
            <a:srgbClr val="8FD3C7"/>
          </a:solidFill>
          <a:ln/>
        </p:spPr>
      </p:sp>
      <p:sp>
        <p:nvSpPr>
          <p:cNvPr id="16" name="Text 14"/>
          <p:cNvSpPr/>
          <p:nvPr/>
        </p:nvSpPr>
        <p:spPr>
          <a:xfrm>
            <a:off x="640080" y="4983480"/>
            <a:ext cx="457200" cy="457200"/>
          </a:xfrm>
          <a:prstGeom prst="rect">
            <a:avLst/>
          </a:prstGeom>
          <a:noFill/>
          <a:ln/>
        </p:spPr>
        <p:txBody>
          <a:bodyPr wrap="square" lIns="0" tIns="0" rIns="0" bIns="0" rtlCol="0" anchor="ctr"/>
          <a:lstStyle/>
          <a:p>
            <a:pPr algn="ctr" indent="0" marL="0">
              <a:buNone/>
            </a:pPr>
            <a:r>
              <a:rPr lang="en-US" sz="1600" b="1" dirty="0">
                <a:solidFill>
                  <a:srgbClr val="0F2540"/>
                </a:solidFill>
                <a:latin typeface="Calibri" pitchFamily="34" charset="0"/>
                <a:ea typeface="Calibri" pitchFamily="34" charset="-122"/>
                <a:cs typeface="Calibri" pitchFamily="34" charset="-120"/>
              </a:rPr>
              <a:t>4</a:t>
            </a:r>
            <a:endParaRPr lang="en-US" sz="1600" dirty="0"/>
          </a:p>
        </p:txBody>
      </p:sp>
      <p:sp>
        <p:nvSpPr>
          <p:cNvPr id="17" name="Text 15"/>
          <p:cNvSpPr/>
          <p:nvPr/>
        </p:nvSpPr>
        <p:spPr>
          <a:xfrm>
            <a:off x="1280160" y="4937760"/>
            <a:ext cx="3931920" cy="548640"/>
          </a:xfrm>
          <a:prstGeom prst="rect">
            <a:avLst/>
          </a:prstGeom>
          <a:noFill/>
          <a:ln/>
        </p:spPr>
        <p:txBody>
          <a:bodyPr wrap="square" lIns="0" tIns="0" rIns="0" bIns="0" rtlCol="0" anchor="ctr"/>
          <a:lstStyle/>
          <a:p>
            <a:pPr algn="l" indent="0" marL="0">
              <a:buNone/>
            </a:pPr>
            <a:r>
              <a:rPr lang="en-US" sz="1600" b="1" dirty="0">
                <a:solidFill>
                  <a:srgbClr val="8FD3C7"/>
                </a:solidFill>
                <a:latin typeface="Calibri" pitchFamily="34" charset="0"/>
                <a:ea typeface="Calibri" pitchFamily="34" charset="-122"/>
                <a:cs typeface="Calibri" pitchFamily="34" charset="-120"/>
              </a:rPr>
              <a:t>Hybrid search / multi-tenant</a:t>
            </a:r>
            <a:endParaRPr lang="en-US" sz="1600" dirty="0"/>
          </a:p>
        </p:txBody>
      </p:sp>
      <p:sp>
        <p:nvSpPr>
          <p:cNvPr id="18" name="Text 16"/>
          <p:cNvSpPr/>
          <p:nvPr/>
        </p:nvSpPr>
        <p:spPr>
          <a:xfrm>
            <a:off x="5303520" y="4937760"/>
            <a:ext cx="6035040" cy="822960"/>
          </a:xfrm>
          <a:prstGeom prst="rect">
            <a:avLst/>
          </a:prstGeom>
          <a:noFill/>
          <a:ln/>
        </p:spPr>
        <p:txBody>
          <a:bodyPr wrap="square" lIns="0" tIns="0" rIns="0" bIns="0" rtlCol="0" anchor="ctr"/>
          <a:lstStyle/>
          <a:p>
            <a:pPr algn="l" indent="0" marL="0">
              <a:buNone/>
            </a:pPr>
            <a:r>
              <a:rPr lang="en-US" sz="1400" dirty="0">
                <a:solidFill>
                  <a:srgbClr val="C9D9E3"/>
                </a:solidFill>
                <a:latin typeface="Calibri" pitchFamily="34" charset="0"/>
                <a:ea typeface="Calibri" pitchFamily="34" charset="-122"/>
                <a:cs typeface="Calibri" pitchFamily="34" charset="-120"/>
              </a:rPr>
              <a:t>purpose-built engines like Qdrant were designed for this pattern.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640080" y="1371600"/>
            <a:ext cx="1088136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Not Sure Which Side of the Line</a:t>
            </a:r>
            <a:endParaRPr lang="en-US" sz="3200" dirty="0"/>
          </a:p>
          <a:p>
            <a:pPr algn="l" indent="0" marL="0">
              <a:buNone/>
            </a:pPr>
            <a:r>
              <a:rPr lang="en-US" sz="3200" b="1" dirty="0">
                <a:solidFill>
                  <a:srgbClr val="FFFFFF"/>
                </a:solidFill>
                <a:latin typeface="Cambria" pitchFamily="34" charset="0"/>
                <a:ea typeface="Cambria" pitchFamily="34" charset="-122"/>
                <a:cs typeface="Cambria" pitchFamily="34" charset="-120"/>
              </a:rPr>
              <a:t>Your Workload Sits On?</a:t>
            </a:r>
            <a:endParaRPr lang="en-US" sz="3200" dirty="0"/>
          </a:p>
        </p:txBody>
      </p:sp>
      <p:sp>
        <p:nvSpPr>
          <p:cNvPr id="3" name="Shape 1"/>
          <p:cNvSpPr/>
          <p:nvPr/>
        </p:nvSpPr>
        <p:spPr>
          <a:xfrm>
            <a:off x="640080" y="3291840"/>
            <a:ext cx="5943600" cy="914400"/>
          </a:xfrm>
          <a:prstGeom prst="roundRect">
            <a:avLst>
              <a:gd name="adj" fmla="val 10000"/>
            </a:avLst>
          </a:prstGeom>
          <a:solidFill>
            <a:srgbClr val="8FD3C7"/>
          </a:solidFill>
          <a:ln/>
        </p:spPr>
      </p:sp>
      <p:sp>
        <p:nvSpPr>
          <p:cNvPr id="4" name="Text 2"/>
          <p:cNvSpPr/>
          <p:nvPr/>
        </p:nvSpPr>
        <p:spPr>
          <a:xfrm>
            <a:off x="640080" y="3291840"/>
            <a:ext cx="5943600" cy="914400"/>
          </a:xfrm>
          <a:prstGeom prst="rect">
            <a:avLst/>
          </a:prstGeom>
          <a:noFill/>
          <a:ln/>
        </p:spPr>
        <p:txBody>
          <a:bodyPr wrap="square" lIns="0" tIns="0" rIns="0" bIns="0"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Read the Full Breakdown</a:t>
            </a:r>
            <a:endParaRPr lang="en-US" sz="1800" dirty="0"/>
          </a:p>
        </p:txBody>
      </p:sp>
      <p:sp>
        <p:nvSpPr>
          <p:cNvPr id="5" name="Text 3"/>
          <p:cNvSpPr/>
          <p:nvPr/>
        </p:nvSpPr>
        <p:spPr>
          <a:xfrm>
            <a:off x="640080" y="4572000"/>
            <a:ext cx="7315200" cy="548640"/>
          </a:xfrm>
          <a:prstGeom prst="rect">
            <a:avLst/>
          </a:prstGeom>
          <a:noFill/>
          <a:ln/>
        </p:spPr>
        <p:txBody>
          <a:bodyPr wrap="square" lIns="0" tIns="0" rIns="0" bIns="0" rtlCol="0" anchor="ctr"/>
          <a:lstStyle/>
          <a:p>
            <a:pPr algn="l" indent="0" marL="0">
              <a:buNone/>
            </a:pPr>
            <a:r>
              <a:rPr lang="en-US" sz="1800" dirty="0">
                <a:solidFill>
                  <a:srgbClr val="C9D9E3"/>
                </a:solidFill>
                <a:latin typeface="Calibri" pitchFamily="34" charset="0"/>
                <a:ea typeface="Calibri" pitchFamily="34" charset="-122"/>
                <a:cs typeface="Calibri" pitchFamily="34" charset="-120"/>
              </a:rPr>
              <a:t>dataplatformadvisory.com</a:t>
            </a:r>
            <a:endParaRPr lang="en-US" sz="1800" dirty="0"/>
          </a:p>
        </p:txBody>
      </p:sp>
      <p:sp>
        <p:nvSpPr>
          <p:cNvPr id="6" name="Text 4"/>
          <p:cNvSpPr/>
          <p:nvPr/>
        </p:nvSpPr>
        <p:spPr>
          <a:xfrm>
            <a:off x="640080" y="6035040"/>
            <a:ext cx="7315200" cy="457200"/>
          </a:xfrm>
          <a:prstGeom prst="rect">
            <a:avLst/>
          </a:prstGeom>
          <a:noFill/>
          <a:ln/>
        </p:spPr>
        <p:txBody>
          <a:bodyPr wrap="square" lIns="0" tIns="0" rIns="0" bIns="0" rtlCol="0" anchor="ctr"/>
          <a:lstStyle/>
          <a:p>
            <a:pPr algn="l" indent="0" marL="0">
              <a:buNone/>
            </a:pPr>
            <a:r>
              <a:rPr lang="en-US" sz="1500" dirty="0">
                <a:solidFill>
                  <a:srgbClr val="C9D9E3"/>
                </a:solidFill>
                <a:latin typeface="Calibri" pitchFamily="34" charset="0"/>
                <a:ea typeface="Calibri" pitchFamily="34" charset="-122"/>
                <a:cs typeface="Calibri" pitchFamily="34" charset="-120"/>
              </a:rPr>
              <a:t>Ivan Lima · Data Platform Advisory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2026-08-20T06:06:21Z</dcterms:created>
  <dcterms:modified xsi:type="dcterms:W3CDTF">2026-08-20T06:06:21Z</dcterms:modified>
</cp:coreProperties>
</file>