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actually trace an LLM's answer back to the database row it came from? For most companies right now, the honest answer is no. Today we're talking about why that gap is a database problem, not a model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your lineage tools are probably great at telling you which pipeline built a table. But almost none of them can tell you which specific row produced the sentence your AI just told a customer. That's the blind spot we need to talk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full chain: a raw table, an ETL pipeline, an embedding step, a retrieval step, and finally the LLM's response. Most governance tooling tracks the first two stages really well. After that... it goes dark. That's exactly where the risk is hiding.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 news: you don't need to buy some big new AI governance platform to fix this. Three things help a lot. One, tag every embedding with its source row and transform version. Two, log what the retriever actually pulled, not just what the model said. Three, version your semantic layer the same way you'd version a schema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what to remember: pipeline lineage and answer provenance are not the same thing, and regulators are now drawing that line explicitly — the EU AI Act's Article 10 requirements kicked in back on August 2nd of this year. The fix doesn't require new tooling, just treating provenance as a first-class part of your database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can't currently answer 'which row produced this answer' for a production AI feature, that's worth a real conversation. Reach out at Data Platform Advisory — I'm Ivan Lima, and I help companies close exactly this kind of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731520" y="1554480"/>
            <a:ext cx="10698480" cy="1554480"/>
          </a:xfrm>
          <a:prstGeom prst="rect">
            <a:avLst/>
          </a:prstGeom>
          <a:noFill/>
          <a:ln/>
        </p:spPr>
        <p:txBody>
          <a:bodyPr wrap="square"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Data Lineage From Raw Table to LLM Response</a:t>
            </a:r>
            <a:endParaRPr lang="en-US" sz="3600" dirty="0"/>
          </a:p>
        </p:txBody>
      </p:sp>
      <p:sp>
        <p:nvSpPr>
          <p:cNvPr id="3" name="Text 1"/>
          <p:cNvSpPr/>
          <p:nvPr/>
        </p:nvSpPr>
        <p:spPr>
          <a:xfrm>
            <a:off x="731520" y="3017520"/>
            <a:ext cx="10698480" cy="640080"/>
          </a:xfrm>
          <a:prstGeom prst="rect">
            <a:avLst/>
          </a:prstGeom>
          <a:noFill/>
          <a:ln/>
        </p:spPr>
        <p:txBody>
          <a:bodyPr wrap="square" rtlCol="0" anchor="ctr"/>
          <a:lstStyle/>
          <a:p>
            <a:pPr algn="l" indent="0" marL="0">
              <a:buNone/>
            </a:pPr>
            <a:r>
              <a:rPr lang="en-US" sz="2000" dirty="0">
                <a:solidFill>
                  <a:srgbClr val="8FD3C7"/>
                </a:solidFill>
                <a:latin typeface="Calibri" pitchFamily="34" charset="0"/>
                <a:ea typeface="Calibri" pitchFamily="34" charset="-122"/>
                <a:cs typeface="Calibri" pitchFamily="34" charset="-120"/>
              </a:rPr>
              <a:t>Why Governance Is Now a Database Problem</a:t>
            </a:r>
            <a:endParaRPr lang="en-US" sz="2000" dirty="0"/>
          </a:p>
        </p:txBody>
      </p:sp>
      <p:sp>
        <p:nvSpPr>
          <p:cNvPr id="4" name="Shape 2"/>
          <p:cNvSpPr/>
          <p:nvPr/>
        </p:nvSpPr>
        <p:spPr>
          <a:xfrm>
            <a:off x="731520" y="4206240"/>
            <a:ext cx="164592" cy="164592"/>
          </a:xfrm>
          <a:prstGeom prst="ellipse">
            <a:avLst/>
          </a:prstGeom>
          <a:solidFill>
            <a:srgbClr val="8FD3C7"/>
          </a:solidFill>
          <a:ln/>
        </p:spPr>
      </p:sp>
      <p:sp>
        <p:nvSpPr>
          <p:cNvPr id="5" name="Text 3"/>
          <p:cNvSpPr/>
          <p:nvPr/>
        </p:nvSpPr>
        <p:spPr>
          <a:xfrm>
            <a:off x="1005840" y="4069080"/>
            <a:ext cx="5486400" cy="457200"/>
          </a:xfrm>
          <a:prstGeom prst="rect">
            <a:avLst/>
          </a:prstGeom>
          <a:noFill/>
          <a:ln/>
        </p:spPr>
        <p:txBody>
          <a:bodyPr wrap="square" rtlCol="0" anchor="ctr"/>
          <a:lstStyle/>
          <a:p>
            <a:pPr indent="0" marL="0">
              <a:buNone/>
            </a:pPr>
            <a:r>
              <a:rPr lang="en-US" sz="1600" dirty="0">
                <a:solidFill>
                  <a:srgbClr val="C9D9E3"/>
                </a:solidFill>
                <a:latin typeface="Calibri" pitchFamily="34" charset="0"/>
                <a:ea typeface="Calibri" pitchFamily="34" charset="-122"/>
                <a:cs typeface="Calibri" pitchFamily="34" charset="-120"/>
              </a:rPr>
              <a:t>Ivan Lima  ·  Data Platform Advisory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914400"/>
          </a:xfrm>
          <a:prstGeom prst="rect">
            <a:avLst/>
          </a:prstGeom>
          <a:noFill/>
          <a:ln/>
        </p:spPr>
        <p:txBody>
          <a:bodyPr wrap="square"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Can you trace an LLM's answer back to one row?</a:t>
            </a:r>
            <a:endParaRPr lang="en-US" sz="3000" dirty="0"/>
          </a:p>
        </p:txBody>
      </p:sp>
      <p:sp>
        <p:nvSpPr>
          <p:cNvPr id="3" name="Shape 1"/>
          <p:cNvSpPr/>
          <p:nvPr/>
        </p:nvSpPr>
        <p:spPr>
          <a:xfrm>
            <a:off x="731520" y="1645920"/>
            <a:ext cx="10698480" cy="4389120"/>
          </a:xfrm>
          <a:prstGeom prst="roundRect">
            <a:avLst>
              <a:gd name="adj" fmla="val 2083"/>
            </a:avLst>
          </a:prstGeom>
          <a:solidFill>
            <a:srgbClr val="F4F8F7"/>
          </a:solidFill>
          <a:ln w="12700">
            <a:solidFill>
              <a:srgbClr val="8FD3C7"/>
            </a:solidFill>
            <a:prstDash val="solid"/>
          </a:ln>
        </p:spPr>
      </p:sp>
      <p:sp>
        <p:nvSpPr>
          <p:cNvPr id="4" name="Text 2"/>
          <p:cNvSpPr/>
          <p:nvPr/>
        </p:nvSpPr>
        <p:spPr>
          <a:xfrm>
            <a:off x="1188720" y="2011680"/>
            <a:ext cx="9784080" cy="3657600"/>
          </a:xfrm>
          <a:prstGeom prst="rect">
            <a:avLst/>
          </a:prstGeom>
          <a:noFill/>
          <a:ln/>
        </p:spPr>
        <p:txBody>
          <a:bodyPr wrap="square" rtlCol="0" anchor="ctr"/>
          <a:lstStyle/>
          <a:p>
            <a:pPr indent="0" marL="0">
              <a:buNone/>
            </a:pPr>
            <a:r>
              <a:rPr lang="en-US" sz="2000" dirty="0">
                <a:solidFill>
                  <a:srgbClr val="3A4A5A"/>
                </a:solidFill>
                <a:latin typeface="Calibri" pitchFamily="34" charset="0"/>
                <a:ea typeface="Calibri" pitchFamily="34" charset="-122"/>
                <a:cs typeface="Calibri" pitchFamily="34" charset="-120"/>
              </a:rPr>
              <a:t>Most lineage tools can tell you which pipeline populated a table.
</a:t>
            </a:r>
            <a:endParaRPr lang="en-US" sz="2000" dirty="0"/>
          </a:p>
          <a:p>
            <a:pPr indent="0" marL="0">
              <a:buNone/>
            </a:pPr>
            <a:r>
              <a:rPr lang="en-US" sz="2000" b="1" dirty="0">
                <a:solidFill>
                  <a:srgbClr val="0F2540"/>
                </a:solidFill>
                <a:latin typeface="Calibri" pitchFamily="34" charset="0"/>
                <a:ea typeface="Calibri" pitchFamily="34" charset="-122"/>
                <a:cs typeface="Calibri" pitchFamily="34" charset="-120"/>
              </a:rPr>
              <a:t>Almost none of them can tell you which row produced the sentence an LLM just showed a customer.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chain most tools stop tracking halfway through</a:t>
            </a:r>
            <a:endParaRPr lang="en-US" sz="2600" dirty="0"/>
          </a:p>
        </p:txBody>
      </p:sp>
      <p:sp>
        <p:nvSpPr>
          <p:cNvPr id="3" name="Shape 1"/>
          <p:cNvSpPr/>
          <p:nvPr/>
        </p:nvSpPr>
        <p:spPr>
          <a:xfrm>
            <a:off x="548640" y="2743200"/>
            <a:ext cx="1965960" cy="1188720"/>
          </a:xfrm>
          <a:prstGeom prst="roundRect">
            <a:avLst>
              <a:gd name="adj" fmla="val 6154"/>
            </a:avLst>
          </a:prstGeom>
          <a:solidFill>
            <a:srgbClr val="8FD3C7"/>
          </a:solidFill>
          <a:ln/>
        </p:spPr>
      </p:sp>
      <p:sp>
        <p:nvSpPr>
          <p:cNvPr id="4" name="Text 2"/>
          <p:cNvSpPr/>
          <p:nvPr/>
        </p:nvSpPr>
        <p:spPr>
          <a:xfrm>
            <a:off x="548640" y="2743200"/>
            <a:ext cx="1965960" cy="118872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Raw Table</a:t>
            </a:r>
            <a:endParaRPr lang="en-US" sz="1400" dirty="0"/>
          </a:p>
        </p:txBody>
      </p:sp>
      <p:sp>
        <p:nvSpPr>
          <p:cNvPr id="5" name="Text 3"/>
          <p:cNvSpPr/>
          <p:nvPr/>
        </p:nvSpPr>
        <p:spPr>
          <a:xfrm>
            <a:off x="2514600" y="2743200"/>
            <a:ext cx="228600" cy="1188720"/>
          </a:xfrm>
          <a:prstGeom prst="rect">
            <a:avLst/>
          </a:prstGeom>
          <a:noFill/>
          <a:ln/>
        </p:spPr>
        <p:txBody>
          <a:bodyPr wrap="square" rtlCol="0" anchor="ctr"/>
          <a:lstStyle/>
          <a:p>
            <a:pPr algn="ctr" indent="0" marL="0">
              <a:buNone/>
            </a:pPr>
            <a:r>
              <a:rPr lang="en-US" sz="2000" dirty="0">
                <a:solidFill>
                  <a:srgbClr val="C9D9E3"/>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2743200" y="2743200"/>
            <a:ext cx="1965960" cy="1188720"/>
          </a:xfrm>
          <a:prstGeom prst="roundRect">
            <a:avLst>
              <a:gd name="adj" fmla="val 6154"/>
            </a:avLst>
          </a:prstGeom>
          <a:solidFill>
            <a:srgbClr val="8FD3C7"/>
          </a:solidFill>
          <a:ln/>
        </p:spPr>
      </p:sp>
      <p:sp>
        <p:nvSpPr>
          <p:cNvPr id="7" name="Text 5"/>
          <p:cNvSpPr/>
          <p:nvPr/>
        </p:nvSpPr>
        <p:spPr>
          <a:xfrm>
            <a:off x="2743200" y="2743200"/>
            <a:ext cx="1965960" cy="118872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ETL / Pipeline</a:t>
            </a:r>
            <a:endParaRPr lang="en-US" sz="1400" dirty="0"/>
          </a:p>
        </p:txBody>
      </p:sp>
      <p:sp>
        <p:nvSpPr>
          <p:cNvPr id="8" name="Text 6"/>
          <p:cNvSpPr/>
          <p:nvPr/>
        </p:nvSpPr>
        <p:spPr>
          <a:xfrm>
            <a:off x="4709160" y="2743200"/>
            <a:ext cx="228600" cy="1188720"/>
          </a:xfrm>
          <a:prstGeom prst="rect">
            <a:avLst/>
          </a:prstGeom>
          <a:noFill/>
          <a:ln/>
        </p:spPr>
        <p:txBody>
          <a:bodyPr wrap="square" rtlCol="0" anchor="ctr"/>
          <a:lstStyle/>
          <a:p>
            <a:pPr algn="ctr" indent="0" marL="0">
              <a:buNone/>
            </a:pPr>
            <a:r>
              <a:rPr lang="en-US" sz="2000" dirty="0">
                <a:solidFill>
                  <a:srgbClr val="C9D9E3"/>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937760" y="2743200"/>
            <a:ext cx="1965960" cy="1188720"/>
          </a:xfrm>
          <a:prstGeom prst="roundRect">
            <a:avLst>
              <a:gd name="adj" fmla="val 6154"/>
            </a:avLst>
          </a:prstGeom>
          <a:solidFill>
            <a:srgbClr val="8FD3C7"/>
          </a:solidFill>
          <a:ln/>
        </p:spPr>
      </p:sp>
      <p:sp>
        <p:nvSpPr>
          <p:cNvPr id="10" name="Text 8"/>
          <p:cNvSpPr/>
          <p:nvPr/>
        </p:nvSpPr>
        <p:spPr>
          <a:xfrm>
            <a:off x="4937760" y="2743200"/>
            <a:ext cx="1965960" cy="118872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Embedding</a:t>
            </a:r>
            <a:endParaRPr lang="en-US" sz="1400" dirty="0"/>
          </a:p>
        </p:txBody>
      </p:sp>
      <p:sp>
        <p:nvSpPr>
          <p:cNvPr id="11" name="Text 9"/>
          <p:cNvSpPr/>
          <p:nvPr/>
        </p:nvSpPr>
        <p:spPr>
          <a:xfrm>
            <a:off x="6903720" y="2743200"/>
            <a:ext cx="228600" cy="1188720"/>
          </a:xfrm>
          <a:prstGeom prst="rect">
            <a:avLst/>
          </a:prstGeom>
          <a:noFill/>
          <a:ln/>
        </p:spPr>
        <p:txBody>
          <a:bodyPr wrap="square" rtlCol="0" anchor="ctr"/>
          <a:lstStyle/>
          <a:p>
            <a:pPr algn="ctr" indent="0" marL="0">
              <a:buNone/>
            </a:pPr>
            <a:r>
              <a:rPr lang="en-US" sz="2000" dirty="0">
                <a:solidFill>
                  <a:srgbClr val="C9D9E3"/>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7132320" y="2743200"/>
            <a:ext cx="1965960" cy="1188720"/>
          </a:xfrm>
          <a:prstGeom prst="roundRect">
            <a:avLst>
              <a:gd name="adj" fmla="val 6154"/>
            </a:avLst>
          </a:prstGeom>
          <a:solidFill>
            <a:srgbClr val="8FD3C7"/>
          </a:solidFill>
          <a:ln/>
        </p:spPr>
      </p:sp>
      <p:sp>
        <p:nvSpPr>
          <p:cNvPr id="13" name="Text 11"/>
          <p:cNvSpPr/>
          <p:nvPr/>
        </p:nvSpPr>
        <p:spPr>
          <a:xfrm>
            <a:off x="7132320" y="2743200"/>
            <a:ext cx="1965960" cy="118872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RAG Retrieval</a:t>
            </a:r>
            <a:endParaRPr lang="en-US" sz="1400" dirty="0"/>
          </a:p>
        </p:txBody>
      </p:sp>
      <p:sp>
        <p:nvSpPr>
          <p:cNvPr id="14" name="Text 12"/>
          <p:cNvSpPr/>
          <p:nvPr/>
        </p:nvSpPr>
        <p:spPr>
          <a:xfrm>
            <a:off x="9098280" y="2743200"/>
            <a:ext cx="228600" cy="1188720"/>
          </a:xfrm>
          <a:prstGeom prst="rect">
            <a:avLst/>
          </a:prstGeom>
          <a:noFill/>
          <a:ln/>
        </p:spPr>
        <p:txBody>
          <a:bodyPr wrap="square" rtlCol="0" anchor="ctr"/>
          <a:lstStyle/>
          <a:p>
            <a:pPr algn="ctr" indent="0" marL="0">
              <a:buNone/>
            </a:pPr>
            <a:r>
              <a:rPr lang="en-US" sz="2000" dirty="0">
                <a:solidFill>
                  <a:srgbClr val="C9D9E3"/>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9326880" y="2743200"/>
            <a:ext cx="1965960" cy="1188720"/>
          </a:xfrm>
          <a:prstGeom prst="roundRect">
            <a:avLst>
              <a:gd name="adj" fmla="val 6154"/>
            </a:avLst>
          </a:prstGeom>
          <a:solidFill>
            <a:srgbClr val="FFFFFF"/>
          </a:solidFill>
          <a:ln/>
        </p:spPr>
      </p:sp>
      <p:sp>
        <p:nvSpPr>
          <p:cNvPr id="16" name="Text 14"/>
          <p:cNvSpPr/>
          <p:nvPr/>
        </p:nvSpPr>
        <p:spPr>
          <a:xfrm>
            <a:off x="9326880" y="2743200"/>
            <a:ext cx="1965960" cy="118872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LLM Response</a:t>
            </a:r>
            <a:endParaRPr lang="en-US" sz="1400" dirty="0"/>
          </a:p>
        </p:txBody>
      </p:sp>
      <p:sp>
        <p:nvSpPr>
          <p:cNvPr id="17" name="Text 15"/>
          <p:cNvSpPr/>
          <p:nvPr/>
        </p:nvSpPr>
        <p:spPr>
          <a:xfrm>
            <a:off x="731520" y="4480560"/>
            <a:ext cx="10698480" cy="731520"/>
          </a:xfrm>
          <a:prstGeom prst="rect">
            <a:avLst/>
          </a:prstGeom>
          <a:noFill/>
          <a:ln/>
        </p:spPr>
        <p:txBody>
          <a:bodyPr wrap="square" rtlCol="0" anchor="ctr"/>
          <a:lstStyle/>
          <a:p>
            <a:pPr indent="0" marL="0">
              <a:buNone/>
            </a:pPr>
            <a:r>
              <a:rPr lang="en-US" sz="1600" i="1" dirty="0">
                <a:solidFill>
                  <a:srgbClr val="C9D9E3"/>
                </a:solidFill>
                <a:latin typeface="Calibri" pitchFamily="34" charset="0"/>
                <a:ea typeface="Calibri" pitchFamily="34" charset="-122"/>
                <a:cs typeface="Calibri" pitchFamily="34" charset="-120"/>
              </a:rPr>
              <a:t>Governance tooling is strong on the first two stages — and goes dark after that.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indent="0" marL="0">
              <a:buNone/>
            </a:pPr>
            <a:r>
              <a:rPr lang="en-US" sz="2800" b="1" dirty="0">
                <a:solidFill>
                  <a:srgbClr val="0F2540"/>
                </a:solidFill>
                <a:latin typeface="Cambria" pitchFamily="34" charset="0"/>
                <a:ea typeface="Cambria" pitchFamily="34" charset="-122"/>
                <a:cs typeface="Cambria" pitchFamily="34" charset="-120"/>
              </a:rPr>
              <a:t>Three moves that close the gap</a:t>
            </a:r>
            <a:endParaRPr lang="en-US" sz="2800" dirty="0"/>
          </a:p>
        </p:txBody>
      </p:sp>
      <p:sp>
        <p:nvSpPr>
          <p:cNvPr id="3" name="Shape 1"/>
          <p:cNvSpPr/>
          <p:nvPr/>
        </p:nvSpPr>
        <p:spPr>
          <a:xfrm>
            <a:off x="822960" y="1554480"/>
            <a:ext cx="640080" cy="640080"/>
          </a:xfrm>
          <a:prstGeom prst="ellipse">
            <a:avLst/>
          </a:prstGeom>
          <a:solidFill>
            <a:srgbClr val="8FD3C7"/>
          </a:solidFill>
          <a:ln/>
        </p:spPr>
      </p:sp>
      <p:sp>
        <p:nvSpPr>
          <p:cNvPr id="4" name="Text 2"/>
          <p:cNvSpPr/>
          <p:nvPr/>
        </p:nvSpPr>
        <p:spPr>
          <a:xfrm>
            <a:off x="822960" y="1554480"/>
            <a:ext cx="640080" cy="640080"/>
          </a:xfrm>
          <a:prstGeom prst="rect">
            <a:avLst/>
          </a:prstGeom>
          <a:noFill/>
          <a:ln/>
        </p:spPr>
        <p:txBody>
          <a:bodyPr wrap="square" lIns="0" tIns="0" rIns="0" bIns="0" rtlCol="0" anchor="ctr"/>
          <a:lstStyle/>
          <a:p>
            <a:pPr algn="ctr" indent="0" marL="0">
              <a:buNone/>
            </a:pPr>
            <a:r>
              <a:rPr lang="en-US" sz="2400" b="1" dirty="0">
                <a:solidFill>
                  <a:srgbClr val="0F2540"/>
                </a:solidFill>
                <a:latin typeface="Cambria" pitchFamily="34" charset="0"/>
                <a:ea typeface="Cambria" pitchFamily="34" charset="-122"/>
                <a:cs typeface="Cambria" pitchFamily="34" charset="-120"/>
              </a:rPr>
              <a:t>1</a:t>
            </a:r>
            <a:endParaRPr lang="en-US" sz="2400" dirty="0"/>
          </a:p>
        </p:txBody>
      </p:sp>
      <p:sp>
        <p:nvSpPr>
          <p:cNvPr id="5" name="Text 3"/>
          <p:cNvSpPr/>
          <p:nvPr/>
        </p:nvSpPr>
        <p:spPr>
          <a:xfrm>
            <a:off x="1737360" y="1508760"/>
            <a:ext cx="9509760" cy="457200"/>
          </a:xfrm>
          <a:prstGeom prst="rect">
            <a:avLst/>
          </a:prstGeom>
          <a:noFill/>
          <a:ln/>
        </p:spPr>
        <p:txBody>
          <a:bodyPr wrap="square"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Tag embeddings at write time</a:t>
            </a:r>
            <a:endParaRPr lang="en-US" sz="1800" dirty="0"/>
          </a:p>
        </p:txBody>
      </p:sp>
      <p:sp>
        <p:nvSpPr>
          <p:cNvPr id="6" name="Text 4"/>
          <p:cNvSpPr/>
          <p:nvPr/>
        </p:nvSpPr>
        <p:spPr>
          <a:xfrm>
            <a:off x="1737360" y="1965960"/>
            <a:ext cx="9509760" cy="64008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Store source table, primary key, and transform version alongside every vector.</a:t>
            </a:r>
            <a:endParaRPr lang="en-US" sz="1400" dirty="0"/>
          </a:p>
        </p:txBody>
      </p:sp>
      <p:sp>
        <p:nvSpPr>
          <p:cNvPr id="7" name="Shape 5"/>
          <p:cNvSpPr/>
          <p:nvPr/>
        </p:nvSpPr>
        <p:spPr>
          <a:xfrm>
            <a:off x="822960" y="2971800"/>
            <a:ext cx="640080" cy="640080"/>
          </a:xfrm>
          <a:prstGeom prst="ellipse">
            <a:avLst/>
          </a:prstGeom>
          <a:solidFill>
            <a:srgbClr val="8FD3C7"/>
          </a:solidFill>
          <a:ln/>
        </p:spPr>
      </p:sp>
      <p:sp>
        <p:nvSpPr>
          <p:cNvPr id="8" name="Text 6"/>
          <p:cNvSpPr/>
          <p:nvPr/>
        </p:nvSpPr>
        <p:spPr>
          <a:xfrm>
            <a:off x="822960" y="2971800"/>
            <a:ext cx="640080" cy="640080"/>
          </a:xfrm>
          <a:prstGeom prst="rect">
            <a:avLst/>
          </a:prstGeom>
          <a:noFill/>
          <a:ln/>
        </p:spPr>
        <p:txBody>
          <a:bodyPr wrap="square" lIns="0" tIns="0" rIns="0" bIns="0" rtlCol="0" anchor="ctr"/>
          <a:lstStyle/>
          <a:p>
            <a:pPr algn="ctr" indent="0" marL="0">
              <a:buNone/>
            </a:pPr>
            <a:r>
              <a:rPr lang="en-US" sz="2400" b="1" dirty="0">
                <a:solidFill>
                  <a:srgbClr val="0F2540"/>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1737360" y="2926080"/>
            <a:ext cx="9509760" cy="457200"/>
          </a:xfrm>
          <a:prstGeom prst="rect">
            <a:avLst/>
          </a:prstGeom>
          <a:noFill/>
          <a:ln/>
        </p:spPr>
        <p:txBody>
          <a:bodyPr wrap="square"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Log retrieval, not just generation</a:t>
            </a:r>
            <a:endParaRPr lang="en-US" sz="1800" dirty="0"/>
          </a:p>
        </p:txBody>
      </p:sp>
      <p:sp>
        <p:nvSpPr>
          <p:cNvPr id="10" name="Text 8"/>
          <p:cNvSpPr/>
          <p:nvPr/>
        </p:nvSpPr>
        <p:spPr>
          <a:xfrm>
            <a:off x="1737360" y="3383280"/>
            <a:ext cx="9509760" cy="64008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Record which chunks the retriever selected — not just the model's final answer.</a:t>
            </a:r>
            <a:endParaRPr lang="en-US" sz="1400" dirty="0"/>
          </a:p>
        </p:txBody>
      </p:sp>
      <p:sp>
        <p:nvSpPr>
          <p:cNvPr id="11" name="Shape 9"/>
          <p:cNvSpPr/>
          <p:nvPr/>
        </p:nvSpPr>
        <p:spPr>
          <a:xfrm>
            <a:off x="822960" y="4389120"/>
            <a:ext cx="640080" cy="640080"/>
          </a:xfrm>
          <a:prstGeom prst="ellipse">
            <a:avLst/>
          </a:prstGeom>
          <a:solidFill>
            <a:srgbClr val="8FD3C7"/>
          </a:solidFill>
          <a:ln/>
        </p:spPr>
      </p:sp>
      <p:sp>
        <p:nvSpPr>
          <p:cNvPr id="12" name="Text 10"/>
          <p:cNvSpPr/>
          <p:nvPr/>
        </p:nvSpPr>
        <p:spPr>
          <a:xfrm>
            <a:off x="822960" y="4389120"/>
            <a:ext cx="640080" cy="640080"/>
          </a:xfrm>
          <a:prstGeom prst="rect">
            <a:avLst/>
          </a:prstGeom>
          <a:noFill/>
          <a:ln/>
        </p:spPr>
        <p:txBody>
          <a:bodyPr wrap="square" lIns="0" tIns="0" rIns="0" bIns="0" rtlCol="0" anchor="ctr"/>
          <a:lstStyle/>
          <a:p>
            <a:pPr algn="ctr" indent="0" marL="0">
              <a:buNone/>
            </a:pPr>
            <a:r>
              <a:rPr lang="en-US" sz="2400" b="1" dirty="0">
                <a:solidFill>
                  <a:srgbClr val="0F2540"/>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1737360" y="4343400"/>
            <a:ext cx="9509760" cy="457200"/>
          </a:xfrm>
          <a:prstGeom prst="rect">
            <a:avLst/>
          </a:prstGeom>
          <a:noFill/>
          <a:ln/>
        </p:spPr>
        <p:txBody>
          <a:bodyPr wrap="square"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Version the semantic layer</a:t>
            </a:r>
            <a:endParaRPr lang="en-US" sz="1800" dirty="0"/>
          </a:p>
        </p:txBody>
      </p:sp>
      <p:sp>
        <p:nvSpPr>
          <p:cNvPr id="14" name="Text 12"/>
          <p:cNvSpPr/>
          <p:nvPr/>
        </p:nvSpPr>
        <p:spPr>
          <a:xfrm>
            <a:off x="1737360" y="4800600"/>
            <a:ext cx="9509760" cy="640080"/>
          </a:xfrm>
          <a:prstGeom prst="rect">
            <a:avLst/>
          </a:prstGeom>
          <a:noFill/>
          <a:ln/>
        </p:spPr>
        <p:txBody>
          <a:bodyPr wrap="square" rtlCol="0" anchor="ctr"/>
          <a:lstStyle/>
          <a:p>
            <a:pPr indent="0" marL="0">
              <a:buNone/>
            </a:pPr>
            <a:r>
              <a:rPr lang="en-US" sz="1400" dirty="0">
                <a:solidFill>
                  <a:srgbClr val="3A4A5A"/>
                </a:solidFill>
                <a:latin typeface="Calibri" pitchFamily="34" charset="0"/>
                <a:ea typeface="Calibri" pitchFamily="34" charset="-122"/>
                <a:cs typeface="Calibri" pitchFamily="34" charset="-120"/>
              </a:rPr>
              <a:t>Treat a changed business definition like a schema migration, with change control.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731520" y="457200"/>
            <a:ext cx="1069848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3" name="Text 1"/>
          <p:cNvSpPr/>
          <p:nvPr/>
        </p:nvSpPr>
        <p:spPr>
          <a:xfrm>
            <a:off x="822960" y="1645920"/>
            <a:ext cx="10332720" cy="4389120"/>
          </a:xfrm>
          <a:prstGeom prst="rect">
            <a:avLst/>
          </a:prstGeom>
          <a:noFill/>
          <a:ln/>
        </p:spPr>
        <p:txBody>
          <a:bodyPr wrap="square" rtlCol="0" anchor="ctr"/>
          <a:lstStyle/>
          <a:p>
            <a:pPr marL="342900" indent="-342900">
              <a:spcAft>
                <a:spcPts val="1400"/>
              </a:spcAft>
              <a:buSzPct val="100000"/>
              <a:buChar char="•"/>
            </a:pPr>
            <a:r>
              <a:rPr lang="en-US" sz="1800" dirty="0">
                <a:solidFill>
                  <a:srgbClr val="C9D9E3"/>
                </a:solidFill>
                <a:latin typeface="Calibri" pitchFamily="34" charset="0"/>
                <a:ea typeface="Calibri" pitchFamily="34" charset="-122"/>
                <a:cs typeface="Calibri" pitchFamily="34" charset="-120"/>
              </a:rPr>
              <a:t>Pipeline lineage isn't the same as answer provenance — and regulators now care about the second one.</a:t>
            </a:r>
            <a:endParaRPr lang="en-US" sz="1800" dirty="0"/>
          </a:p>
          <a:p>
            <a:pPr marL="342900" indent="-342900">
              <a:spcAft>
                <a:spcPts val="1400"/>
              </a:spcAft>
              <a:buSzPct val="100000"/>
              <a:buChar char="•"/>
            </a:pPr>
            <a:r>
              <a:rPr lang="en-US" sz="1800" dirty="0">
                <a:solidFill>
                  <a:srgbClr val="C9D9E3"/>
                </a:solidFill>
                <a:latin typeface="Calibri" pitchFamily="34" charset="0"/>
                <a:ea typeface="Calibri" pitchFamily="34" charset="-122"/>
                <a:cs typeface="Calibri" pitchFamily="34" charset="-120"/>
              </a:rPr>
              <a:t>EU AI Act Article 10 makes documented provenance a legal requirement as of August 2, 2026.</a:t>
            </a:r>
            <a:endParaRPr lang="en-US" sz="1800" dirty="0"/>
          </a:p>
          <a:p>
            <a:pPr marL="342900" indent="-342900">
              <a:spcAft>
                <a:spcPts val="1400"/>
              </a:spcAft>
              <a:buSzPct val="100000"/>
              <a:buChar char="•"/>
            </a:pPr>
            <a:r>
              <a:rPr lang="en-US" sz="1800" dirty="0">
                <a:solidFill>
                  <a:srgbClr val="C9D9E3"/>
                </a:solidFill>
                <a:latin typeface="Calibri" pitchFamily="34" charset="0"/>
                <a:ea typeface="Calibri" pitchFamily="34" charset="-122"/>
                <a:cs typeface="Calibri" pitchFamily="34" charset="-120"/>
              </a:rPr>
              <a:t>The full chain: raw table → pipeline → embedding → retrieval → response.</a:t>
            </a:r>
            <a:endParaRPr lang="en-US" sz="1800" dirty="0"/>
          </a:p>
          <a:p>
            <a:pPr marL="342900" indent="-342900">
              <a:spcAft>
                <a:spcPts val="1400"/>
              </a:spcAft>
              <a:buSzPct val="100000"/>
              <a:buChar char="•"/>
            </a:pPr>
            <a:r>
              <a:rPr lang="en-US" sz="1800" dirty="0">
                <a:solidFill>
                  <a:srgbClr val="C9D9E3"/>
                </a:solidFill>
                <a:latin typeface="Calibri" pitchFamily="34" charset="0"/>
                <a:ea typeface="Calibri" pitchFamily="34" charset="-122"/>
                <a:cs typeface="Calibri" pitchFamily="34" charset="-120"/>
              </a:rPr>
              <a:t>You can close this gap with existing database features — no new platform required.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731520" y="2011680"/>
            <a:ext cx="1069848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Know where your data actually came from</a:t>
            </a:r>
            <a:endParaRPr lang="en-US" sz="3000" dirty="0"/>
          </a:p>
        </p:txBody>
      </p:sp>
      <p:sp>
        <p:nvSpPr>
          <p:cNvPr id="3" name="Text 1"/>
          <p:cNvSpPr/>
          <p:nvPr/>
        </p:nvSpPr>
        <p:spPr>
          <a:xfrm>
            <a:off x="731520" y="3108960"/>
            <a:ext cx="10698480" cy="457200"/>
          </a:xfrm>
          <a:prstGeom prst="rect">
            <a:avLst/>
          </a:prstGeom>
          <a:noFill/>
          <a:ln/>
        </p:spPr>
        <p:txBody>
          <a:bodyPr wrap="square" rtlCol="0" anchor="ctr"/>
          <a:lstStyle/>
          <a:p>
            <a:pPr algn="ctr" indent="0" marL="0">
              <a:buNone/>
            </a:pPr>
            <a:r>
              <a:rPr lang="en-US" sz="1800" dirty="0">
                <a:solidFill>
                  <a:srgbClr val="8FD3C7"/>
                </a:solidFill>
                <a:latin typeface="Calibri" pitchFamily="34" charset="0"/>
                <a:ea typeface="Calibri" pitchFamily="34" charset="-122"/>
                <a:cs typeface="Calibri" pitchFamily="34" charset="-120"/>
              </a:rPr>
              <a:t>Ivan Lima  ·  Data Platform Advisory</a:t>
            </a:r>
            <a:endParaRPr lang="en-US" sz="1800" dirty="0"/>
          </a:p>
        </p:txBody>
      </p:sp>
      <p:sp>
        <p:nvSpPr>
          <p:cNvPr id="4" name="Text 2"/>
          <p:cNvSpPr/>
          <p:nvPr/>
        </p:nvSpPr>
        <p:spPr>
          <a:xfrm>
            <a:off x="731520" y="3657600"/>
            <a:ext cx="10698480" cy="457200"/>
          </a:xfrm>
          <a:prstGeom prst="rect">
            <a:avLst/>
          </a:prstGeom>
          <a:noFill/>
          <a:ln/>
        </p:spPr>
        <p:txBody>
          <a:bodyPr wrap="square" rtlCol="0" anchor="ctr"/>
          <a:lstStyle/>
          <a:p>
            <a:pPr algn="ctr" indent="0" marL="0">
              <a:buNone/>
            </a:pPr>
            <a:r>
              <a:rPr lang="en-US" sz="1600" dirty="0">
                <a:solidFill>
                  <a:srgbClr val="C9D9E3"/>
                </a:solidFill>
                <a:latin typeface="Calibri" pitchFamily="34" charset="0"/>
                <a:ea typeface="Calibri" pitchFamily="34" charset="-122"/>
                <a:cs typeface="Calibri" pitchFamily="34" charset="-120"/>
              </a:rPr>
              <a:t>dataplatformadvisory.com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2026-08-24T06:05:41Z</dcterms:created>
  <dcterms:modified xsi:type="dcterms:W3CDTF">2026-08-24T06:05:41Z</dcterms:modified>
</cp:coreProperties>
</file>