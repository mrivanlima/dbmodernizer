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I'm Ivan Lima with Data Platform Advisory. Today I want to talk about something almost every engineering team has automated — except one piece: the database. Let's get into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gap. 65 percent of companies have automated their application releases. Only 35 percent have done the same for their databases. In practice, that means someone is still connecting to production, pasting in a SQL file, and just watching what happens. That works, until the day it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code is stateless — you roll back a bad deploy just by redeploying the old container. A database carries its state forward, so rolling back isn't as simple. But that's not a reason to stay manual. It's a reason to be more deliberate: version control, staged testing, and automated gates before anything touches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actually changes? Migrations live in source control instead of someone's memory. Every migration runs in staging before it ever touches production. Automated checks gate the deploy. And the pipeline logs exactly what ran, when, and against which environment — an audit trail a manual process almost never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things worth remembering. The database is usually where a team's DevOps maturity actually stops. Manual schema deploys tend to fail the same way every time — wrong order, wrong environment, or a silent failure. And getting this right doesn't mean forcing the database to act stateless — it means version control and automated gates. The barrier is usually organizational, not technical.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database changes still depend on someone running a script by hand, that's not something you fix overnight — but it's worth closing deliberately. Get in touch at dataplatformadvisory.com if you want help mapping out where to start.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14392E">
              <a:alpha val="60000"/>
            </a:srgbClr>
          </a:solidFill>
          <a:ln/>
        </p:spPr>
      </p:sp>
      <p:sp>
        <p:nvSpPr>
          <p:cNvPr id="3" name="Text 1"/>
          <p:cNvSpPr/>
          <p:nvPr/>
        </p:nvSpPr>
        <p:spPr>
          <a:xfrm>
            <a:off x="640080" y="2011680"/>
            <a:ext cx="10881360" cy="10058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CI/CD for Databases</a:t>
            </a:r>
            <a:endParaRPr lang="en-US" sz="4000" dirty="0"/>
          </a:p>
        </p:txBody>
      </p:sp>
      <p:sp>
        <p:nvSpPr>
          <p:cNvPr id="4" name="Text 2"/>
          <p:cNvSpPr/>
          <p:nvPr/>
        </p:nvSpPr>
        <p:spPr>
          <a:xfrm>
            <a:off x="640080" y="2971800"/>
            <a:ext cx="10881360" cy="640080"/>
          </a:xfrm>
          <a:prstGeom prst="rect">
            <a:avLst/>
          </a:prstGeom>
          <a:noFill/>
          <a:ln/>
        </p:spPr>
        <p:txBody>
          <a:bodyPr wrap="square" rtlCol="0" anchor="ctr"/>
          <a:lstStyle/>
          <a:p>
            <a:pPr indent="0" marL="0">
              <a:buNone/>
            </a:pPr>
            <a:r>
              <a:rPr lang="en-US" sz="2000" dirty="0">
                <a:solidFill>
                  <a:srgbClr val="8FD3C7"/>
                </a:solidFill>
                <a:latin typeface="Calibri" pitchFamily="34" charset="0"/>
                <a:ea typeface="Calibri" pitchFamily="34" charset="-122"/>
                <a:cs typeface="Calibri" pitchFamily="34" charset="-120"/>
              </a:rPr>
              <a:t>Why Most Teams Still Deploy Schema Changes by Hand</a:t>
            </a:r>
            <a:endParaRPr lang="en-US" sz="2000" dirty="0"/>
          </a:p>
        </p:txBody>
      </p:sp>
      <p:sp>
        <p:nvSpPr>
          <p:cNvPr id="5" name="Text 3"/>
          <p:cNvSpPr/>
          <p:nvPr/>
        </p:nvSpPr>
        <p:spPr>
          <a:xfrm>
            <a:off x="640080" y="5943600"/>
            <a:ext cx="7315200" cy="457200"/>
          </a:xfrm>
          <a:prstGeom prst="rect">
            <a:avLst/>
          </a:prstGeom>
          <a:noFill/>
          <a:ln/>
        </p:spPr>
        <p:txBody>
          <a:bodyPr wrap="square" rtlCol="0" anchor="ctr"/>
          <a:lstStyle/>
          <a:p>
            <a:pPr indent="0" marL="0">
              <a:buNone/>
            </a:pPr>
            <a:r>
              <a:rPr lang="en-US" sz="1400" dirty="0">
                <a:solidFill>
                  <a:srgbClr val="C9D9E3"/>
                </a:solidFill>
                <a:latin typeface="Calibri" pitchFamily="34" charset="0"/>
                <a:ea typeface="Calibri" pitchFamily="34" charset="-122"/>
                <a:cs typeface="Calibri" pitchFamily="34" charset="-120"/>
              </a:rPr>
              <a:t>Ivan Lima · Data Platform Advisory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822960"/>
          </a:xfrm>
          <a:prstGeom prst="rect">
            <a:avLst/>
          </a:prstGeom>
          <a:noFill/>
          <a:ln/>
        </p:spPr>
        <p:txBody>
          <a:bodyPr wrap="square" rtlCol="0" anchor="ctr"/>
          <a:lstStyle/>
          <a:p>
            <a:pPr indent="0" marL="0">
              <a:buNone/>
            </a:pPr>
            <a:r>
              <a:rPr lang="en-US" sz="3200" b="1" dirty="0">
                <a:solidFill>
                  <a:srgbClr val="0F2540"/>
                </a:solidFill>
                <a:latin typeface="Cambria" pitchFamily="34" charset="0"/>
                <a:ea typeface="Cambria" pitchFamily="34" charset="-122"/>
                <a:cs typeface="Cambria" pitchFamily="34" charset="-120"/>
              </a:rPr>
              <a:t>The Gap Nobody Talks About</a:t>
            </a:r>
            <a:endParaRPr lang="en-US" sz="3200" dirty="0"/>
          </a:p>
        </p:txBody>
      </p:sp>
      <p:sp>
        <p:nvSpPr>
          <p:cNvPr id="3" name="Shape 1"/>
          <p:cNvSpPr/>
          <p:nvPr/>
        </p:nvSpPr>
        <p:spPr>
          <a:xfrm>
            <a:off x="548640" y="1554480"/>
            <a:ext cx="5212080" cy="4206240"/>
          </a:xfrm>
          <a:prstGeom prst="roundRect">
            <a:avLst>
              <a:gd name="adj" fmla="val 2609"/>
            </a:avLst>
          </a:prstGeom>
          <a:solidFill>
            <a:srgbClr val="F2F6F5"/>
          </a:solidFill>
          <a:ln w="12700">
            <a:solidFill>
              <a:srgbClr val="8FD3C7"/>
            </a:solidFill>
            <a:prstDash val="solid"/>
          </a:ln>
        </p:spPr>
      </p:sp>
      <p:sp>
        <p:nvSpPr>
          <p:cNvPr id="4" name="Text 2"/>
          <p:cNvSpPr/>
          <p:nvPr/>
        </p:nvSpPr>
        <p:spPr>
          <a:xfrm>
            <a:off x="822960" y="1828800"/>
            <a:ext cx="4663440" cy="1828800"/>
          </a:xfrm>
          <a:prstGeom prst="rect">
            <a:avLst/>
          </a:prstGeom>
          <a:noFill/>
          <a:ln/>
        </p:spPr>
        <p:txBody>
          <a:bodyPr wrap="square" rtlCol="0" anchor="t"/>
          <a:lstStyle/>
          <a:p>
            <a:pPr indent="0" marL="0">
              <a:buNone/>
            </a:pPr>
            <a:r>
              <a:rPr lang="en-US" sz="5400" b="1" dirty="0">
                <a:solidFill>
                  <a:srgbClr val="028090"/>
                </a:solidFill>
                <a:latin typeface="Calibri" pitchFamily="34" charset="0"/>
                <a:ea typeface="Calibri" pitchFamily="34" charset="-122"/>
                <a:cs typeface="Calibri" pitchFamily="34" charset="-120"/>
              </a:rPr>
              <a:t>65%</a:t>
            </a:r>
            <a:endParaRPr lang="en-US" sz="5400" dirty="0"/>
          </a:p>
          <a:p>
            <a:pPr indent="0" marL="0">
              <a:buNone/>
            </a:pPr>
            <a:r>
              <a:rPr lang="en-US" sz="1500" dirty="0">
                <a:solidFill>
                  <a:srgbClr val="3A4A5A"/>
                </a:solidFill>
                <a:latin typeface="Calibri" pitchFamily="34" charset="0"/>
                <a:ea typeface="Calibri" pitchFamily="34" charset="-122"/>
                <a:cs typeface="Calibri" pitchFamily="34" charset="-120"/>
              </a:rPr>
              <a:t>of companies have automated application releases</a:t>
            </a:r>
            <a:endParaRPr lang="en-US" sz="5400" dirty="0"/>
          </a:p>
        </p:txBody>
      </p:sp>
      <p:sp>
        <p:nvSpPr>
          <p:cNvPr id="5" name="Text 3"/>
          <p:cNvSpPr/>
          <p:nvPr/>
        </p:nvSpPr>
        <p:spPr>
          <a:xfrm>
            <a:off x="822960" y="3657600"/>
            <a:ext cx="4663440" cy="1828800"/>
          </a:xfrm>
          <a:prstGeom prst="rect">
            <a:avLst/>
          </a:prstGeom>
          <a:noFill/>
          <a:ln/>
        </p:spPr>
        <p:txBody>
          <a:bodyPr wrap="square" rtlCol="0" anchor="t"/>
          <a:lstStyle/>
          <a:p>
            <a:pPr indent="0" marL="0">
              <a:buNone/>
            </a:pPr>
            <a:r>
              <a:rPr lang="en-US" sz="5400" b="1" dirty="0">
                <a:solidFill>
                  <a:srgbClr val="990011"/>
                </a:solidFill>
                <a:latin typeface="Calibri" pitchFamily="34" charset="0"/>
                <a:ea typeface="Calibri" pitchFamily="34" charset="-122"/>
                <a:cs typeface="Calibri" pitchFamily="34" charset="-120"/>
              </a:rPr>
              <a:t>35%</a:t>
            </a:r>
            <a:endParaRPr lang="en-US" sz="5400" dirty="0"/>
          </a:p>
          <a:p>
            <a:pPr indent="0" marL="0">
              <a:buNone/>
            </a:pPr>
            <a:r>
              <a:rPr lang="en-US" sz="1500" dirty="0">
                <a:solidFill>
                  <a:srgbClr val="3A4A5A"/>
                </a:solidFill>
                <a:latin typeface="Calibri" pitchFamily="34" charset="0"/>
                <a:ea typeface="Calibri" pitchFamily="34" charset="-122"/>
                <a:cs typeface="Calibri" pitchFamily="34" charset="-120"/>
              </a:rPr>
              <a:t>have automated database releases</a:t>
            </a:r>
            <a:endParaRPr lang="en-US" sz="5400" dirty="0"/>
          </a:p>
        </p:txBody>
      </p:sp>
      <p:sp>
        <p:nvSpPr>
          <p:cNvPr id="6" name="Shape 4"/>
          <p:cNvSpPr/>
          <p:nvPr/>
        </p:nvSpPr>
        <p:spPr>
          <a:xfrm>
            <a:off x="6126480" y="1554480"/>
            <a:ext cx="5394960" cy="4206240"/>
          </a:xfrm>
          <a:prstGeom prst="roundRect">
            <a:avLst>
              <a:gd name="adj" fmla="val 2609"/>
            </a:avLst>
          </a:prstGeom>
          <a:solidFill>
            <a:srgbClr val="0F2540"/>
          </a:solidFill>
          <a:ln/>
        </p:spPr>
      </p:sp>
      <p:sp>
        <p:nvSpPr>
          <p:cNvPr id="7" name="Text 5"/>
          <p:cNvSpPr/>
          <p:nvPr/>
        </p:nvSpPr>
        <p:spPr>
          <a:xfrm>
            <a:off x="6400800" y="1828800"/>
            <a:ext cx="4846320" cy="1463040"/>
          </a:xfrm>
          <a:prstGeom prst="rect">
            <a:avLst/>
          </a:prstGeom>
          <a:noFill/>
          <a:ln/>
        </p:spPr>
        <p:txBody>
          <a:bodyPr wrap="square" rtlCol="0" anchor="ctr"/>
          <a:lstStyle/>
          <a:p>
            <a:pPr indent="0" marL="0">
              <a:buNone/>
            </a:pPr>
            <a:r>
              <a:rPr lang="en-US" sz="1700" i="1" dirty="0">
                <a:solidFill>
                  <a:srgbClr val="FFFFFF"/>
                </a:solidFill>
                <a:latin typeface="Calibri" pitchFamily="34" charset="0"/>
                <a:ea typeface="Calibri" pitchFamily="34" charset="-122"/>
                <a:cs typeface="Calibri" pitchFamily="34" charset="-120"/>
              </a:rPr>
              <a:t>Someone connects to production, pastes in a .sql file, and watches the output.</a:t>
            </a:r>
            <a:endParaRPr lang="en-US" sz="1700" dirty="0"/>
          </a:p>
        </p:txBody>
      </p:sp>
      <p:sp>
        <p:nvSpPr>
          <p:cNvPr id="8" name="Text 6"/>
          <p:cNvSpPr/>
          <p:nvPr/>
        </p:nvSpPr>
        <p:spPr>
          <a:xfrm>
            <a:off x="6400800" y="3474720"/>
            <a:ext cx="4846320" cy="2011680"/>
          </a:xfrm>
          <a:prstGeom prst="rect">
            <a:avLst/>
          </a:prstGeom>
          <a:noFill/>
          <a:ln/>
        </p:spPr>
        <p:txBody>
          <a:bodyPr wrap="square" rtlCol="0" anchor="ctr"/>
          <a:lstStyle/>
          <a:p>
            <a:pPr indent="0" marL="0">
              <a:buNone/>
            </a:pPr>
            <a:r>
              <a:rPr lang="en-US" sz="1500" dirty="0">
                <a:solidFill>
                  <a:srgbClr val="C9D9E3"/>
                </a:solidFill>
                <a:latin typeface="Calibri" pitchFamily="34" charset="0"/>
                <a:ea typeface="Calibri" pitchFamily="34" charset="-122"/>
                <a:cs typeface="Calibri" pitchFamily="34" charset="-120"/>
              </a:rPr>
              <a:t>It works — until it doesn't. Wrong order, wrong environment, or a silent partial failure.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822960"/>
          </a:xfrm>
          <a:prstGeom prst="rect">
            <a:avLst/>
          </a:prstGeom>
          <a:noFill/>
          <a:ln/>
        </p:spPr>
        <p:txBody>
          <a:bodyPr wrap="square" rtlCol="0" anchor="ctr"/>
          <a:lstStyle/>
          <a:p>
            <a:pPr indent="0" marL="0">
              <a:buNone/>
            </a:pPr>
            <a:r>
              <a:rPr lang="en-US" sz="3000" b="1" dirty="0">
                <a:solidFill>
                  <a:srgbClr val="0F2540"/>
                </a:solidFill>
                <a:latin typeface="Cambria" pitchFamily="34" charset="0"/>
                <a:ea typeface="Cambria" pitchFamily="34" charset="-122"/>
                <a:cs typeface="Cambria" pitchFamily="34" charset="-120"/>
              </a:rPr>
              <a:t>Why Schema Changes Resist Automation</a:t>
            </a:r>
            <a:endParaRPr lang="en-US" sz="3000" dirty="0"/>
          </a:p>
        </p:txBody>
      </p:sp>
      <p:sp>
        <p:nvSpPr>
          <p:cNvPr id="3" name="Shape 1"/>
          <p:cNvSpPr/>
          <p:nvPr/>
        </p:nvSpPr>
        <p:spPr>
          <a:xfrm>
            <a:off x="640080" y="1737360"/>
            <a:ext cx="502920" cy="502920"/>
          </a:xfrm>
          <a:prstGeom prst="ellipse">
            <a:avLst/>
          </a:prstGeom>
          <a:solidFill>
            <a:srgbClr val="0F2540"/>
          </a:solidFill>
          <a:ln/>
        </p:spPr>
      </p:sp>
      <p:sp>
        <p:nvSpPr>
          <p:cNvPr id="4" name="Text 2"/>
          <p:cNvSpPr/>
          <p:nvPr/>
        </p:nvSpPr>
        <p:spPr>
          <a:xfrm>
            <a:off x="640080" y="1737360"/>
            <a:ext cx="502920" cy="502920"/>
          </a:xfrm>
          <a:prstGeom prst="rect">
            <a:avLst/>
          </a:prstGeom>
          <a:noFill/>
          <a:ln/>
        </p:spPr>
        <p:txBody>
          <a:bodyPr wrap="square" rtlCol="0" anchor="ctr"/>
          <a:lstStyle/>
          <a:p>
            <a:pPr algn="ctr" indent="0" marL="0">
              <a:buNone/>
            </a:pPr>
            <a:r>
              <a:rPr lang="en-US" sz="2000" b="1" dirty="0">
                <a:solidFill>
                  <a:srgbClr val="028090"/>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371600" y="1691640"/>
            <a:ext cx="3108960" cy="594360"/>
          </a:xfrm>
          <a:prstGeom prst="rect">
            <a:avLst/>
          </a:prstGeom>
          <a:noFill/>
          <a:ln/>
        </p:spPr>
        <p:txBody>
          <a:bodyPr wrap="square" rtlCol="0" anchor="ctr"/>
          <a:lstStyle/>
          <a:p>
            <a:pPr indent="0" marL="0">
              <a:buNone/>
            </a:pPr>
            <a:r>
              <a:rPr lang="en-US" sz="1700" b="1" dirty="0">
                <a:solidFill>
                  <a:srgbClr val="0F2540"/>
                </a:solidFill>
                <a:latin typeface="Calibri" pitchFamily="34" charset="0"/>
                <a:ea typeface="Calibri" pitchFamily="34" charset="-122"/>
                <a:cs typeface="Calibri" pitchFamily="34" charset="-120"/>
              </a:rPr>
              <a:t>Application code</a:t>
            </a:r>
            <a:endParaRPr lang="en-US" sz="1700" dirty="0"/>
          </a:p>
        </p:txBody>
      </p:sp>
      <p:sp>
        <p:nvSpPr>
          <p:cNvPr id="6" name="Text 4"/>
          <p:cNvSpPr/>
          <p:nvPr/>
        </p:nvSpPr>
        <p:spPr>
          <a:xfrm>
            <a:off x="4663440" y="1691640"/>
            <a:ext cx="6766560" cy="822960"/>
          </a:xfrm>
          <a:prstGeom prst="rect">
            <a:avLst/>
          </a:prstGeom>
          <a:noFill/>
          <a:ln/>
        </p:spPr>
        <p:txBody>
          <a:bodyPr wrap="square" rtlCol="0" anchor="ctr"/>
          <a:lstStyle/>
          <a:p>
            <a:pPr indent="0" marL="0">
              <a:buNone/>
            </a:pPr>
            <a:r>
              <a:rPr lang="en-US" sz="1400" dirty="0">
                <a:solidFill>
                  <a:srgbClr val="3A4A5A"/>
                </a:solidFill>
                <a:latin typeface="Calibri" pitchFamily="34" charset="0"/>
                <a:ea typeface="Calibri" pitchFamily="34" charset="-122"/>
                <a:cs typeface="Calibri" pitchFamily="34" charset="-120"/>
              </a:rPr>
              <a:t>Stateless — redeploy the old container image and you're back.</a:t>
            </a:r>
            <a:endParaRPr lang="en-US" sz="1400" dirty="0"/>
          </a:p>
        </p:txBody>
      </p:sp>
      <p:sp>
        <p:nvSpPr>
          <p:cNvPr id="7" name="Shape 5"/>
          <p:cNvSpPr/>
          <p:nvPr/>
        </p:nvSpPr>
        <p:spPr>
          <a:xfrm>
            <a:off x="640080" y="3108960"/>
            <a:ext cx="502920" cy="502920"/>
          </a:xfrm>
          <a:prstGeom prst="ellipse">
            <a:avLst/>
          </a:prstGeom>
          <a:solidFill>
            <a:srgbClr val="0F2540"/>
          </a:solidFill>
          <a:ln/>
        </p:spPr>
      </p:sp>
      <p:sp>
        <p:nvSpPr>
          <p:cNvPr id="8" name="Text 6"/>
          <p:cNvSpPr/>
          <p:nvPr/>
        </p:nvSpPr>
        <p:spPr>
          <a:xfrm>
            <a:off x="640080" y="3108960"/>
            <a:ext cx="502920" cy="502920"/>
          </a:xfrm>
          <a:prstGeom prst="rect">
            <a:avLst/>
          </a:prstGeom>
          <a:noFill/>
          <a:ln/>
        </p:spPr>
        <p:txBody>
          <a:bodyPr wrap="square" rtlCol="0" anchor="ctr"/>
          <a:lstStyle/>
          <a:p>
            <a:pPr algn="ctr" indent="0" marL="0">
              <a:buNone/>
            </a:pPr>
            <a:r>
              <a:rPr lang="en-US" sz="2000" b="1" dirty="0">
                <a:solidFill>
                  <a:srgbClr val="990011"/>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371600" y="3063240"/>
            <a:ext cx="3108960" cy="594360"/>
          </a:xfrm>
          <a:prstGeom prst="rect">
            <a:avLst/>
          </a:prstGeom>
          <a:noFill/>
          <a:ln/>
        </p:spPr>
        <p:txBody>
          <a:bodyPr wrap="square" rtlCol="0" anchor="ctr"/>
          <a:lstStyle/>
          <a:p>
            <a:pPr indent="0" marL="0">
              <a:buNone/>
            </a:pPr>
            <a:r>
              <a:rPr lang="en-US" sz="1700" b="1" dirty="0">
                <a:solidFill>
                  <a:srgbClr val="0F2540"/>
                </a:solidFill>
                <a:latin typeface="Calibri" pitchFamily="34" charset="0"/>
                <a:ea typeface="Calibri" pitchFamily="34" charset="-122"/>
                <a:cs typeface="Calibri" pitchFamily="34" charset="-120"/>
              </a:rPr>
              <a:t>Database schema</a:t>
            </a:r>
            <a:endParaRPr lang="en-US" sz="1700" dirty="0"/>
          </a:p>
        </p:txBody>
      </p:sp>
      <p:sp>
        <p:nvSpPr>
          <p:cNvPr id="10" name="Text 8"/>
          <p:cNvSpPr/>
          <p:nvPr/>
        </p:nvSpPr>
        <p:spPr>
          <a:xfrm>
            <a:off x="4663440" y="3063240"/>
            <a:ext cx="6766560" cy="822960"/>
          </a:xfrm>
          <a:prstGeom prst="rect">
            <a:avLst/>
          </a:prstGeom>
          <a:noFill/>
          <a:ln/>
        </p:spPr>
        <p:txBody>
          <a:bodyPr wrap="square" rtlCol="0" anchor="ctr"/>
          <a:lstStyle/>
          <a:p>
            <a:pPr indent="0" marL="0">
              <a:buNone/>
            </a:pPr>
            <a:r>
              <a:rPr lang="en-US" sz="1400" dirty="0">
                <a:solidFill>
                  <a:srgbClr val="3A4A5A"/>
                </a:solidFill>
                <a:latin typeface="Calibri" pitchFamily="34" charset="0"/>
                <a:ea typeface="Calibri" pitchFamily="34" charset="-122"/>
                <a:cs typeface="Calibri" pitchFamily="34" charset="-120"/>
              </a:rPr>
              <a:t>Stateful — a migration changes data already written to the new shape.</a:t>
            </a:r>
            <a:endParaRPr lang="en-US" sz="1400" dirty="0"/>
          </a:p>
        </p:txBody>
      </p:sp>
      <p:sp>
        <p:nvSpPr>
          <p:cNvPr id="11" name="Shape 9"/>
          <p:cNvSpPr/>
          <p:nvPr/>
        </p:nvSpPr>
        <p:spPr>
          <a:xfrm>
            <a:off x="640080" y="4480560"/>
            <a:ext cx="502920" cy="502920"/>
          </a:xfrm>
          <a:prstGeom prst="ellipse">
            <a:avLst/>
          </a:prstGeom>
          <a:solidFill>
            <a:srgbClr val="14392E"/>
          </a:solidFill>
          <a:ln/>
        </p:spPr>
      </p:sp>
      <p:sp>
        <p:nvSpPr>
          <p:cNvPr id="12" name="Text 10"/>
          <p:cNvSpPr/>
          <p:nvPr/>
        </p:nvSpPr>
        <p:spPr>
          <a:xfrm>
            <a:off x="640080" y="4480560"/>
            <a:ext cx="502920" cy="502920"/>
          </a:xfrm>
          <a:prstGeom prst="rect">
            <a:avLst/>
          </a:prstGeom>
          <a:noFill/>
          <a:ln/>
        </p:spPr>
        <p:txBody>
          <a:bodyPr wrap="square" rtlCol="0" anchor="ctr"/>
          <a:lstStyle/>
          <a:p>
            <a:pPr algn="ctr" indent="0" marL="0">
              <a:buNone/>
            </a:pPr>
            <a:r>
              <a:rPr lang="en-US" sz="2000" b="1" dirty="0">
                <a:solidFill>
                  <a:srgbClr val="8FD3C7"/>
                </a:solidFill>
                <a:latin typeface="Calibri" pitchFamily="34" charset="0"/>
                <a:ea typeface="Calibri" pitchFamily="34" charset="-122"/>
                <a:cs typeface="Calibri" pitchFamily="34" charset="-120"/>
              </a:rPr>
              <a:t>3</a:t>
            </a:r>
            <a:endParaRPr lang="en-US" sz="2000" dirty="0"/>
          </a:p>
        </p:txBody>
      </p:sp>
      <p:sp>
        <p:nvSpPr>
          <p:cNvPr id="13" name="Text 11"/>
          <p:cNvSpPr/>
          <p:nvPr/>
        </p:nvSpPr>
        <p:spPr>
          <a:xfrm>
            <a:off x="1371600" y="4434840"/>
            <a:ext cx="3108960" cy="594360"/>
          </a:xfrm>
          <a:prstGeom prst="rect">
            <a:avLst/>
          </a:prstGeom>
          <a:noFill/>
          <a:ln/>
        </p:spPr>
        <p:txBody>
          <a:bodyPr wrap="square" rtlCol="0" anchor="ctr"/>
          <a:lstStyle/>
          <a:p>
            <a:pPr indent="0" marL="0">
              <a:buNone/>
            </a:pPr>
            <a:r>
              <a:rPr lang="en-US" sz="1700" b="1" dirty="0">
                <a:solidFill>
                  <a:srgbClr val="0F2540"/>
                </a:solidFill>
                <a:latin typeface="Calibri" pitchFamily="34" charset="0"/>
                <a:ea typeface="Calibri" pitchFamily="34" charset="-122"/>
                <a:cs typeface="Calibri" pitchFamily="34" charset="-120"/>
              </a:rPr>
              <a:t>The real fix</a:t>
            </a:r>
            <a:endParaRPr lang="en-US" sz="1700" dirty="0"/>
          </a:p>
        </p:txBody>
      </p:sp>
      <p:sp>
        <p:nvSpPr>
          <p:cNvPr id="14" name="Text 12"/>
          <p:cNvSpPr/>
          <p:nvPr/>
        </p:nvSpPr>
        <p:spPr>
          <a:xfrm>
            <a:off x="4663440" y="4434840"/>
            <a:ext cx="6766560" cy="822960"/>
          </a:xfrm>
          <a:prstGeom prst="rect">
            <a:avLst/>
          </a:prstGeom>
          <a:noFill/>
          <a:ln/>
        </p:spPr>
        <p:txBody>
          <a:bodyPr wrap="square" rtlCol="0" anchor="ctr"/>
          <a:lstStyle/>
          <a:p>
            <a:pPr indent="0" marL="0">
              <a:buNone/>
            </a:pPr>
            <a:r>
              <a:rPr lang="en-US" sz="1400" dirty="0">
                <a:solidFill>
                  <a:srgbClr val="3A4A5A"/>
                </a:solidFill>
                <a:latin typeface="Calibri" pitchFamily="34" charset="0"/>
                <a:ea typeface="Calibri" pitchFamily="34" charset="-122"/>
                <a:cs typeface="Calibri" pitchFamily="34" charset="-120"/>
              </a:rPr>
              <a:t>Not staying manual — being deliberate: version control, staged testing, gates.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548640" y="457200"/>
            <a:ext cx="109728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Changes With Database CI/CD</a:t>
            </a:r>
            <a:endParaRPr lang="en-US" sz="3000" dirty="0"/>
          </a:p>
        </p:txBody>
      </p:sp>
      <p:sp>
        <p:nvSpPr>
          <p:cNvPr id="3" name="Shape 1"/>
          <p:cNvSpPr/>
          <p:nvPr/>
        </p:nvSpPr>
        <p:spPr>
          <a:xfrm>
            <a:off x="640080" y="1737360"/>
            <a:ext cx="10881360" cy="914400"/>
          </a:xfrm>
          <a:prstGeom prst="roundRect">
            <a:avLst>
              <a:gd name="adj" fmla="val 10000"/>
            </a:avLst>
          </a:prstGeom>
          <a:solidFill>
            <a:srgbClr val="16344F"/>
          </a:solidFill>
          <a:ln w="9525">
            <a:solidFill>
              <a:srgbClr val="8FD3C7"/>
            </a:solidFill>
            <a:prstDash val="solid"/>
          </a:ln>
        </p:spPr>
      </p:sp>
      <p:sp>
        <p:nvSpPr>
          <p:cNvPr id="4" name="Shape 2"/>
          <p:cNvSpPr/>
          <p:nvPr/>
        </p:nvSpPr>
        <p:spPr>
          <a:xfrm>
            <a:off x="914400" y="1965960"/>
            <a:ext cx="457200" cy="457200"/>
          </a:xfrm>
          <a:prstGeom prst="ellipse">
            <a:avLst/>
          </a:prstGeom>
          <a:solidFill>
            <a:srgbClr val="8FD3C7"/>
          </a:solidFill>
          <a:ln/>
        </p:spPr>
      </p:sp>
      <p:sp>
        <p:nvSpPr>
          <p:cNvPr id="5" name="Text 3"/>
          <p:cNvSpPr/>
          <p:nvPr/>
        </p:nvSpPr>
        <p:spPr>
          <a:xfrm>
            <a:off x="914400" y="196596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645920" y="1737360"/>
            <a:ext cx="9601200" cy="9144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Migrations live in source control, ordered and named</a:t>
            </a:r>
            <a:endParaRPr lang="en-US" sz="1600" dirty="0"/>
          </a:p>
        </p:txBody>
      </p:sp>
      <p:sp>
        <p:nvSpPr>
          <p:cNvPr id="7" name="Shape 5"/>
          <p:cNvSpPr/>
          <p:nvPr/>
        </p:nvSpPr>
        <p:spPr>
          <a:xfrm>
            <a:off x="640080" y="2834640"/>
            <a:ext cx="10881360" cy="914400"/>
          </a:xfrm>
          <a:prstGeom prst="roundRect">
            <a:avLst>
              <a:gd name="adj" fmla="val 10000"/>
            </a:avLst>
          </a:prstGeom>
          <a:solidFill>
            <a:srgbClr val="16344F"/>
          </a:solidFill>
          <a:ln w="9525">
            <a:solidFill>
              <a:srgbClr val="8FD3C7"/>
            </a:solidFill>
            <a:prstDash val="solid"/>
          </a:ln>
        </p:spPr>
      </p:sp>
      <p:sp>
        <p:nvSpPr>
          <p:cNvPr id="8" name="Shape 6"/>
          <p:cNvSpPr/>
          <p:nvPr/>
        </p:nvSpPr>
        <p:spPr>
          <a:xfrm>
            <a:off x="914400" y="3063240"/>
            <a:ext cx="457200" cy="457200"/>
          </a:xfrm>
          <a:prstGeom prst="ellipse">
            <a:avLst/>
          </a:prstGeom>
          <a:solidFill>
            <a:srgbClr val="8FD3C7"/>
          </a:solidFill>
          <a:ln/>
        </p:spPr>
      </p:sp>
      <p:sp>
        <p:nvSpPr>
          <p:cNvPr id="9" name="Text 7"/>
          <p:cNvSpPr/>
          <p:nvPr/>
        </p:nvSpPr>
        <p:spPr>
          <a:xfrm>
            <a:off x="914400" y="306324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645920" y="2834640"/>
            <a:ext cx="9601200" cy="9144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Every migration runs in staging before production</a:t>
            </a:r>
            <a:endParaRPr lang="en-US" sz="1600" dirty="0"/>
          </a:p>
        </p:txBody>
      </p:sp>
      <p:sp>
        <p:nvSpPr>
          <p:cNvPr id="11" name="Shape 9"/>
          <p:cNvSpPr/>
          <p:nvPr/>
        </p:nvSpPr>
        <p:spPr>
          <a:xfrm>
            <a:off x="640080" y="3931920"/>
            <a:ext cx="10881360" cy="914400"/>
          </a:xfrm>
          <a:prstGeom prst="roundRect">
            <a:avLst>
              <a:gd name="adj" fmla="val 10000"/>
            </a:avLst>
          </a:prstGeom>
          <a:solidFill>
            <a:srgbClr val="16344F"/>
          </a:solidFill>
          <a:ln w="9525">
            <a:solidFill>
              <a:srgbClr val="8FD3C7"/>
            </a:solidFill>
            <a:prstDash val="solid"/>
          </a:ln>
        </p:spPr>
      </p:sp>
      <p:sp>
        <p:nvSpPr>
          <p:cNvPr id="12" name="Shape 10"/>
          <p:cNvSpPr/>
          <p:nvPr/>
        </p:nvSpPr>
        <p:spPr>
          <a:xfrm>
            <a:off x="914400" y="4160520"/>
            <a:ext cx="457200" cy="457200"/>
          </a:xfrm>
          <a:prstGeom prst="ellipse">
            <a:avLst/>
          </a:prstGeom>
          <a:solidFill>
            <a:srgbClr val="8FD3C7"/>
          </a:solidFill>
          <a:ln/>
        </p:spPr>
      </p:sp>
      <p:sp>
        <p:nvSpPr>
          <p:cNvPr id="13" name="Text 11"/>
          <p:cNvSpPr/>
          <p:nvPr/>
        </p:nvSpPr>
        <p:spPr>
          <a:xfrm>
            <a:off x="914400" y="416052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1645920" y="3931920"/>
            <a:ext cx="9601200" cy="9144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Automated checks gate the deploy — lock time, rollback path</a:t>
            </a:r>
            <a:endParaRPr lang="en-US" sz="1600" dirty="0"/>
          </a:p>
        </p:txBody>
      </p:sp>
      <p:sp>
        <p:nvSpPr>
          <p:cNvPr id="15" name="Shape 13"/>
          <p:cNvSpPr/>
          <p:nvPr/>
        </p:nvSpPr>
        <p:spPr>
          <a:xfrm>
            <a:off x="640080" y="5029200"/>
            <a:ext cx="10881360" cy="914400"/>
          </a:xfrm>
          <a:prstGeom prst="roundRect">
            <a:avLst>
              <a:gd name="adj" fmla="val 10000"/>
            </a:avLst>
          </a:prstGeom>
          <a:solidFill>
            <a:srgbClr val="16344F"/>
          </a:solidFill>
          <a:ln w="9525">
            <a:solidFill>
              <a:srgbClr val="8FD3C7"/>
            </a:solidFill>
            <a:prstDash val="solid"/>
          </a:ln>
        </p:spPr>
      </p:sp>
      <p:sp>
        <p:nvSpPr>
          <p:cNvPr id="16" name="Shape 14"/>
          <p:cNvSpPr/>
          <p:nvPr/>
        </p:nvSpPr>
        <p:spPr>
          <a:xfrm>
            <a:off x="914400" y="5257800"/>
            <a:ext cx="457200" cy="457200"/>
          </a:xfrm>
          <a:prstGeom prst="ellipse">
            <a:avLst/>
          </a:prstGeom>
          <a:solidFill>
            <a:srgbClr val="8FD3C7"/>
          </a:solidFill>
          <a:ln/>
        </p:spPr>
      </p:sp>
      <p:sp>
        <p:nvSpPr>
          <p:cNvPr id="17" name="Text 15"/>
          <p:cNvSpPr/>
          <p:nvPr/>
        </p:nvSpPr>
        <p:spPr>
          <a:xfrm>
            <a:off x="914400" y="525780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645920" y="5029200"/>
            <a:ext cx="9601200" cy="9144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pipeline logs exactly what ran, when, and where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822960"/>
          </a:xfrm>
          <a:prstGeom prst="rect">
            <a:avLst/>
          </a:prstGeom>
          <a:noFill/>
          <a:ln/>
        </p:spPr>
        <p:txBody>
          <a:bodyPr wrap="square" rtlCol="0" anchor="ctr"/>
          <a:lstStyle/>
          <a:p>
            <a:pPr indent="0" marL="0">
              <a:buNone/>
            </a:pPr>
            <a:r>
              <a:rPr lang="en-US" sz="3200" b="1" dirty="0">
                <a:solidFill>
                  <a:srgbClr val="0F2540"/>
                </a:solidFill>
                <a:latin typeface="Cambria" pitchFamily="34" charset="0"/>
                <a:ea typeface="Cambria" pitchFamily="34" charset="-122"/>
                <a:cs typeface="Cambria" pitchFamily="34" charset="-120"/>
              </a:rPr>
              <a:t>Key Takeaways</a:t>
            </a:r>
            <a:endParaRPr lang="en-US" sz="3200" dirty="0"/>
          </a:p>
        </p:txBody>
      </p:sp>
      <p:sp>
        <p:nvSpPr>
          <p:cNvPr id="3" name="Shape 1"/>
          <p:cNvSpPr/>
          <p:nvPr/>
        </p:nvSpPr>
        <p:spPr>
          <a:xfrm>
            <a:off x="640080" y="1737360"/>
            <a:ext cx="137160" cy="822960"/>
          </a:xfrm>
          <a:prstGeom prst="roundRect">
            <a:avLst>
              <a:gd name="adj" fmla="val 33333"/>
            </a:avLst>
          </a:prstGeom>
          <a:solidFill>
            <a:srgbClr val="028090"/>
          </a:solidFill>
          <a:ln/>
        </p:spPr>
      </p:sp>
      <p:sp>
        <p:nvSpPr>
          <p:cNvPr id="4" name="Text 2"/>
          <p:cNvSpPr/>
          <p:nvPr/>
        </p:nvSpPr>
        <p:spPr>
          <a:xfrm>
            <a:off x="1005840" y="1737360"/>
            <a:ext cx="10332720" cy="822960"/>
          </a:xfrm>
          <a:prstGeom prst="rect">
            <a:avLst/>
          </a:prstGeom>
          <a:noFill/>
          <a:ln/>
        </p:spPr>
        <p:txBody>
          <a:bodyPr wrap="square" rtlCol="0" anchor="ctr"/>
          <a:lstStyle/>
          <a:p>
            <a:pPr indent="0" marL="0">
              <a:buNone/>
            </a:pPr>
            <a:r>
              <a:rPr lang="en-US" sz="1600" dirty="0">
                <a:solidFill>
                  <a:srgbClr val="3A4A5A"/>
                </a:solidFill>
                <a:latin typeface="Calibri" pitchFamily="34" charset="0"/>
                <a:ea typeface="Calibri" pitchFamily="34" charset="-122"/>
                <a:cs typeface="Calibri" pitchFamily="34" charset="-120"/>
              </a:rPr>
              <a:t>The database is where most teams' DevOps maturity actually stops</a:t>
            </a:r>
            <a:endParaRPr lang="en-US" sz="1600" dirty="0"/>
          </a:p>
        </p:txBody>
      </p:sp>
      <p:sp>
        <p:nvSpPr>
          <p:cNvPr id="5" name="Shape 3"/>
          <p:cNvSpPr/>
          <p:nvPr/>
        </p:nvSpPr>
        <p:spPr>
          <a:xfrm>
            <a:off x="640080" y="2788920"/>
            <a:ext cx="137160" cy="822960"/>
          </a:xfrm>
          <a:prstGeom prst="roundRect">
            <a:avLst>
              <a:gd name="adj" fmla="val 33333"/>
            </a:avLst>
          </a:prstGeom>
          <a:solidFill>
            <a:srgbClr val="028090"/>
          </a:solidFill>
          <a:ln/>
        </p:spPr>
      </p:sp>
      <p:sp>
        <p:nvSpPr>
          <p:cNvPr id="6" name="Text 4"/>
          <p:cNvSpPr/>
          <p:nvPr/>
        </p:nvSpPr>
        <p:spPr>
          <a:xfrm>
            <a:off x="1005840" y="2788920"/>
            <a:ext cx="10332720" cy="822960"/>
          </a:xfrm>
          <a:prstGeom prst="rect">
            <a:avLst/>
          </a:prstGeom>
          <a:noFill/>
          <a:ln/>
        </p:spPr>
        <p:txBody>
          <a:bodyPr wrap="square" rtlCol="0" anchor="ctr"/>
          <a:lstStyle/>
          <a:p>
            <a:pPr indent="0" marL="0">
              <a:buNone/>
            </a:pPr>
            <a:r>
              <a:rPr lang="en-US" sz="1600" dirty="0">
                <a:solidFill>
                  <a:srgbClr val="3A4A5A"/>
                </a:solidFill>
                <a:latin typeface="Calibri" pitchFamily="34" charset="0"/>
                <a:ea typeface="Calibri" pitchFamily="34" charset="-122"/>
                <a:cs typeface="Calibri" pitchFamily="34" charset="-120"/>
              </a:rPr>
              <a:t>Manual schema deploys fail the same way: wrong order, wrong env, silent failure</a:t>
            </a:r>
            <a:endParaRPr lang="en-US" sz="1600" dirty="0"/>
          </a:p>
        </p:txBody>
      </p:sp>
      <p:sp>
        <p:nvSpPr>
          <p:cNvPr id="7" name="Shape 5"/>
          <p:cNvSpPr/>
          <p:nvPr/>
        </p:nvSpPr>
        <p:spPr>
          <a:xfrm>
            <a:off x="640080" y="3840480"/>
            <a:ext cx="137160" cy="822960"/>
          </a:xfrm>
          <a:prstGeom prst="roundRect">
            <a:avLst>
              <a:gd name="adj" fmla="val 33333"/>
            </a:avLst>
          </a:prstGeom>
          <a:solidFill>
            <a:srgbClr val="028090"/>
          </a:solidFill>
          <a:ln/>
        </p:spPr>
      </p:sp>
      <p:sp>
        <p:nvSpPr>
          <p:cNvPr id="8" name="Text 6"/>
          <p:cNvSpPr/>
          <p:nvPr/>
        </p:nvSpPr>
        <p:spPr>
          <a:xfrm>
            <a:off x="1005840" y="3840480"/>
            <a:ext cx="10332720" cy="822960"/>
          </a:xfrm>
          <a:prstGeom prst="rect">
            <a:avLst/>
          </a:prstGeom>
          <a:noFill/>
          <a:ln/>
        </p:spPr>
        <p:txBody>
          <a:bodyPr wrap="square" rtlCol="0" anchor="ctr"/>
          <a:lstStyle/>
          <a:p>
            <a:pPr indent="0" marL="0">
              <a:buNone/>
            </a:pPr>
            <a:r>
              <a:rPr lang="en-US" sz="1600" dirty="0">
                <a:solidFill>
                  <a:srgbClr val="3A4A5A"/>
                </a:solidFill>
                <a:latin typeface="Calibri" pitchFamily="34" charset="0"/>
                <a:ea typeface="Calibri" pitchFamily="34" charset="-122"/>
                <a:cs typeface="Calibri" pitchFamily="34" charset="-120"/>
              </a:rPr>
              <a:t>CI/CD doesn't require the database to act stateless — just version control + gates</a:t>
            </a:r>
            <a:endParaRPr lang="en-US" sz="1600" dirty="0"/>
          </a:p>
        </p:txBody>
      </p:sp>
      <p:sp>
        <p:nvSpPr>
          <p:cNvPr id="9" name="Shape 7"/>
          <p:cNvSpPr/>
          <p:nvPr/>
        </p:nvSpPr>
        <p:spPr>
          <a:xfrm>
            <a:off x="640080" y="4892040"/>
            <a:ext cx="137160" cy="822960"/>
          </a:xfrm>
          <a:prstGeom prst="roundRect">
            <a:avLst>
              <a:gd name="adj" fmla="val 33333"/>
            </a:avLst>
          </a:prstGeom>
          <a:solidFill>
            <a:srgbClr val="028090"/>
          </a:solidFill>
          <a:ln/>
        </p:spPr>
      </p:sp>
      <p:sp>
        <p:nvSpPr>
          <p:cNvPr id="10" name="Text 8"/>
          <p:cNvSpPr/>
          <p:nvPr/>
        </p:nvSpPr>
        <p:spPr>
          <a:xfrm>
            <a:off x="1005840" y="4892040"/>
            <a:ext cx="10332720" cy="822960"/>
          </a:xfrm>
          <a:prstGeom prst="rect">
            <a:avLst/>
          </a:prstGeom>
          <a:noFill/>
          <a:ln/>
        </p:spPr>
        <p:txBody>
          <a:bodyPr wrap="square" rtlCol="0" anchor="ctr"/>
          <a:lstStyle/>
          <a:p>
            <a:pPr indent="0" marL="0">
              <a:buNone/>
            </a:pPr>
            <a:r>
              <a:rPr lang="en-US" sz="1600" dirty="0">
                <a:solidFill>
                  <a:srgbClr val="3A4A5A"/>
                </a:solidFill>
                <a:latin typeface="Calibri" pitchFamily="34" charset="0"/>
                <a:ea typeface="Calibri" pitchFamily="34" charset="-122"/>
                <a:cs typeface="Calibri" pitchFamily="34" charset="-120"/>
              </a:rPr>
              <a:t>Barriers are organizational (54% cite integration complexity), not just tooling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14392E">
              <a:alpha val="60000"/>
            </a:srgbClr>
          </a:solidFill>
          <a:ln/>
        </p:spPr>
      </p:sp>
      <p:sp>
        <p:nvSpPr>
          <p:cNvPr id="3" name="Text 1"/>
          <p:cNvSpPr/>
          <p:nvPr/>
        </p:nvSpPr>
        <p:spPr>
          <a:xfrm>
            <a:off x="731520" y="1828800"/>
            <a:ext cx="10698480" cy="10972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Still Deploying Schema Changes By Hand?</a:t>
            </a:r>
            <a:endParaRPr lang="en-US" sz="3200" dirty="0"/>
          </a:p>
        </p:txBody>
      </p:sp>
      <p:sp>
        <p:nvSpPr>
          <p:cNvPr id="4" name="Text 2"/>
          <p:cNvSpPr/>
          <p:nvPr/>
        </p:nvSpPr>
        <p:spPr>
          <a:xfrm>
            <a:off x="731520" y="2926080"/>
            <a:ext cx="10698480" cy="548640"/>
          </a:xfrm>
          <a:prstGeom prst="rect">
            <a:avLst/>
          </a:prstGeom>
          <a:noFill/>
          <a:ln/>
        </p:spPr>
        <p:txBody>
          <a:bodyPr wrap="square" rtlCol="0" anchor="ctr"/>
          <a:lstStyle/>
          <a:p>
            <a:pPr indent="0" marL="0">
              <a:buNone/>
            </a:pPr>
            <a:r>
              <a:rPr lang="en-US" sz="1800" dirty="0">
                <a:solidFill>
                  <a:srgbClr val="8FD3C7"/>
                </a:solidFill>
                <a:latin typeface="Calibri" pitchFamily="34" charset="0"/>
                <a:ea typeface="Calibri" pitchFamily="34" charset="-122"/>
                <a:cs typeface="Calibri" pitchFamily="34" charset="-120"/>
              </a:rPr>
              <a:t>Let's map out where to start.</a:t>
            </a:r>
            <a:endParaRPr lang="en-US" sz="1800" dirty="0"/>
          </a:p>
        </p:txBody>
      </p:sp>
      <p:sp>
        <p:nvSpPr>
          <p:cNvPr id="5" name="Text 3"/>
          <p:cNvSpPr/>
          <p:nvPr/>
        </p:nvSpPr>
        <p:spPr>
          <a:xfrm>
            <a:off x="731520" y="5120640"/>
            <a:ext cx="7315200" cy="457200"/>
          </a:xfrm>
          <a:prstGeom prst="rect">
            <a:avLst/>
          </a:prstGeom>
          <a:noFill/>
          <a:ln/>
        </p:spPr>
        <p:txBody>
          <a:bodyPr wrap="square" rtlCol="0" anchor="ctr"/>
          <a:lstStyle/>
          <a:p>
            <a:pPr indent="0" marL="0">
              <a:buNone/>
            </a:pPr>
            <a:r>
              <a:rPr lang="en-US" sz="1600" dirty="0">
                <a:solidFill>
                  <a:srgbClr val="C9D9E3"/>
                </a:solidFill>
                <a:latin typeface="Calibri" pitchFamily="34" charset="0"/>
                <a:ea typeface="Calibri" pitchFamily="34" charset="-122"/>
                <a:cs typeface="Calibri" pitchFamily="34" charset="-120"/>
              </a:rPr>
              <a:t>dataplatformadvisory.com</a:t>
            </a:r>
            <a:endParaRPr lang="en-US" sz="1600" dirty="0"/>
          </a:p>
        </p:txBody>
      </p:sp>
      <p:sp>
        <p:nvSpPr>
          <p:cNvPr id="6" name="Text 4"/>
          <p:cNvSpPr/>
          <p:nvPr/>
        </p:nvSpPr>
        <p:spPr>
          <a:xfrm>
            <a:off x="731520" y="5577840"/>
            <a:ext cx="7315200" cy="457200"/>
          </a:xfrm>
          <a:prstGeom prst="rect">
            <a:avLst/>
          </a:prstGeom>
          <a:noFill/>
          <a:ln/>
        </p:spPr>
        <p:txBody>
          <a:bodyPr wrap="square" rtlCol="0" anchor="ctr"/>
          <a:lstStyle/>
          <a:p>
            <a:pPr indent="0" marL="0">
              <a:buNone/>
            </a:pPr>
            <a:r>
              <a:rPr lang="en-US" sz="1400" dirty="0">
                <a:solidFill>
                  <a:srgbClr val="C9D9E3"/>
                </a:solidFill>
                <a:latin typeface="Calibri" pitchFamily="34" charset="0"/>
                <a:ea typeface="Calibri" pitchFamily="34" charset="-122"/>
                <a:cs typeface="Calibri" pitchFamily="34" charset="-120"/>
              </a:rPr>
              <a:t>Ivan Lima · Data Platform Advisory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2026-08-22T06:06:56Z</dcterms:created>
  <dcterms:modified xsi:type="dcterms:W3CDTF">2026-08-22T06:06:56Z</dcterms:modified>
</cp:coreProperties>
</file>