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Ivan Lima. Welcome to DbModernizer. Most companies trying to build AI features run into the same wall: it's not the model that's slow to ship, it's the database underneath it. That's what this channel is about — getting databases genuinely ready to support AI, not just bolting AI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I see over and over: slow queries, no vector search, schema changes still deployed by hand, and pipelines nobody fully trusts. AI makes all of that visible faster than anything else does, because AI systems are unforgiving about data quality and retrieval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channel rotates through six areas: indexing and performance, CI/CD for data platforms, data engineering, vector databases, AI semantics, and — every so often — where quantum computing might eventually change how we think about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audiences, one blog. If you're a CTO or CEO, this is about knowing whether your database can actually carry the AI product you're building. If you're a database developer, expect hands-on tutorials on the exact problems you hit constantly — plus where AI can realistically help automate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remember: AI initiatives almost always stall at the database layer, not the model. New posts go up daily, alternating strategic insight with hands-on tutorials. And every tutorial comes with real, runnable code you can find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database is standing between your team and a working AI product, that's exactly what I help with. Find the blog at DbModernizer, or reach out directly — link's in the description. Thanks for watching, and I'll see you in the next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822960" y="2331720"/>
            <a:ext cx="914400" cy="914400"/>
          </a:xfrm>
          <a:prstGeom prst="rect">
            <a:avLst>
              <a:gd name="adj" fmla="val 18000"/>
            </a:avLst>
          </a:prstGeom>
          <a:solidFill>
            <a:srgbClr val="8FD3C7"/>
          </a:solidFill>
          <a:ln/>
        </p:spPr>
      </p:sp>
      <p:sp>
        <p:nvSpPr>
          <p:cNvPr id="3" name="Text 1"/>
          <p:cNvSpPr/>
          <p:nvPr/>
        </p:nvSpPr>
        <p:spPr>
          <a:xfrm>
            <a:off x="822960" y="2331720"/>
            <a:ext cx="914400" cy="914400"/>
          </a:xfrm>
          <a:prstGeom prst="rect">
            <a:avLst/>
          </a:prstGeom>
          <a:noFill/>
          <a:ln/>
        </p:spPr>
        <p:txBody>
          <a:bodyPr wrap="square" rtlCol="0" anchor="ctr"/>
          <a:lstStyle/>
          <a:p>
            <a:pPr algn="ctr" indent="0" marL="0">
              <a:buNone/>
            </a:pPr>
            <a:r>
              <a:rPr lang="en-US" sz="4000" b="1" dirty="0">
                <a:solidFill>
                  <a:srgbClr val="0F2540"/>
                </a:solidFill>
                <a:latin typeface="Calibri" pitchFamily="34" charset="0"/>
                <a:ea typeface="Calibri" pitchFamily="34" charset="-122"/>
                <a:cs typeface="Calibri" pitchFamily="34" charset="-120"/>
              </a:rPr>
              <a:t>D</a:t>
            </a:r>
            <a:endParaRPr lang="en-US" sz="4000" dirty="0"/>
          </a:p>
        </p:txBody>
      </p:sp>
      <p:sp>
        <p:nvSpPr>
          <p:cNvPr id="4" name="Text 2"/>
          <p:cNvSpPr/>
          <p:nvPr/>
        </p:nvSpPr>
        <p:spPr>
          <a:xfrm>
            <a:off x="2011680" y="2286000"/>
            <a:ext cx="932688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Welcome to DbModernizer</a:t>
            </a:r>
            <a:endParaRPr lang="en-US" sz="4000" dirty="0"/>
          </a:p>
        </p:txBody>
      </p:sp>
      <p:sp>
        <p:nvSpPr>
          <p:cNvPr id="5" name="Text 3"/>
          <p:cNvSpPr/>
          <p:nvPr/>
        </p:nvSpPr>
        <p:spPr>
          <a:xfrm>
            <a:off x="2011680" y="3063240"/>
            <a:ext cx="9326880" cy="548640"/>
          </a:xfrm>
          <a:prstGeom prst="rect">
            <a:avLst/>
          </a:prstGeom>
          <a:noFill/>
          <a:ln/>
        </p:spPr>
        <p:txBody>
          <a:bodyPr wrap="square" lIns="0" tIns="0" rIns="0" bIns="0" rtlCol="0" anchor="ctr"/>
          <a:lstStyle/>
          <a:p>
            <a:pPr indent="0" marL="0">
              <a:buNone/>
            </a:pPr>
            <a:r>
              <a:rPr lang="en-US" sz="2000" dirty="0">
                <a:solidFill>
                  <a:srgbClr val="8FD3C7"/>
                </a:solidFill>
                <a:latin typeface="Calibri" pitchFamily="34" charset="0"/>
                <a:ea typeface="Calibri" pitchFamily="34" charset="-122"/>
                <a:cs typeface="Calibri" pitchFamily="34" charset="-120"/>
              </a:rPr>
              <a:t>Getting Databases Ready for AI</a:t>
            </a:r>
            <a:endParaRPr lang="en-US" sz="2000" dirty="0"/>
          </a:p>
        </p:txBody>
      </p:sp>
      <p:sp>
        <p:nvSpPr>
          <p:cNvPr id="6" name="Text 4"/>
          <p:cNvSpPr/>
          <p:nvPr/>
        </p:nvSpPr>
        <p:spPr>
          <a:xfrm>
            <a:off x="2011680" y="3749040"/>
            <a:ext cx="9326880" cy="365760"/>
          </a:xfrm>
          <a:prstGeom prst="rect">
            <a:avLst/>
          </a:prstGeom>
          <a:noFill/>
          <a:ln/>
        </p:spPr>
        <p:txBody>
          <a:bodyPr wrap="square" lIns="0" tIns="0" rIns="0" bIns="0" rtlCol="0" anchor="ctr"/>
          <a:lstStyle/>
          <a:p>
            <a:pPr indent="0" marL="0">
              <a:buNone/>
            </a:pPr>
            <a:r>
              <a:rPr lang="en-US" sz="1300" dirty="0">
                <a:solidFill>
                  <a:srgbClr val="C9D9E3"/>
                </a:solidFill>
                <a:latin typeface="Calibri" pitchFamily="34" charset="0"/>
                <a:ea typeface="Calibri" pitchFamily="34" charset="-122"/>
                <a:cs typeface="Calibri" pitchFamily="34" charset="-120"/>
              </a:rPr>
              <a:t>Ivan Lima  ·  Database Modernization for AI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indent="0" marL="0">
              <a:buNone/>
            </a:pPr>
            <a:r>
              <a:rPr lang="en-US" sz="3200" b="1" dirty="0">
                <a:solidFill>
                  <a:srgbClr val="0F2540"/>
                </a:solidFill>
                <a:latin typeface="Cambria" pitchFamily="34" charset="0"/>
                <a:ea typeface="Cambria" pitchFamily="34" charset="-122"/>
                <a:cs typeface="Cambria" pitchFamily="34" charset="-120"/>
              </a:rPr>
              <a:t>The Real Bottleneck</a:t>
            </a:r>
            <a:endParaRPr lang="en-US" sz="3200" dirty="0"/>
          </a:p>
        </p:txBody>
      </p:sp>
      <p:sp>
        <p:nvSpPr>
          <p:cNvPr id="3" name="Shape 1"/>
          <p:cNvSpPr/>
          <p:nvPr/>
        </p:nvSpPr>
        <p:spPr>
          <a:xfrm>
            <a:off x="548640" y="1554480"/>
            <a:ext cx="5486400" cy="4206240"/>
          </a:xfrm>
          <a:prstGeom prst="roundRect">
            <a:avLst>
              <a:gd name="adj" fmla="val 2609"/>
            </a:avLst>
          </a:prstGeom>
          <a:solidFill>
            <a:srgbClr val="F4F7F9"/>
          </a:solidFill>
          <a:ln/>
        </p:spPr>
      </p:sp>
      <p:sp>
        <p:nvSpPr>
          <p:cNvPr id="4" name="Text 2"/>
          <p:cNvSpPr/>
          <p:nvPr/>
        </p:nvSpPr>
        <p:spPr>
          <a:xfrm>
            <a:off x="914400" y="1920240"/>
            <a:ext cx="4754880" cy="1371600"/>
          </a:xfrm>
          <a:prstGeom prst="rect">
            <a:avLst/>
          </a:prstGeom>
          <a:noFill/>
          <a:ln/>
        </p:spPr>
        <p:txBody>
          <a:bodyPr wrap="square" lIns="0" tIns="0" rIns="0" bIns="0" rtlCol="0" anchor="ctr"/>
          <a:lstStyle/>
          <a:p>
            <a:pPr indent="0" marL="0">
              <a:buNone/>
            </a:pPr>
            <a:r>
              <a:rPr lang="en-US" sz="2200" b="1" dirty="0">
                <a:solidFill>
                  <a:srgbClr val="0F2540"/>
                </a:solidFill>
                <a:latin typeface="Calibri" pitchFamily="34" charset="0"/>
                <a:ea typeface="Calibri" pitchFamily="34" charset="-122"/>
                <a:cs typeface="Calibri" pitchFamily="34" charset="-120"/>
              </a:rPr>
              <a:t>Most AI features aren't blocked by the model.</a:t>
            </a:r>
            <a:endParaRPr lang="en-US" sz="2200" dirty="0"/>
          </a:p>
        </p:txBody>
      </p:sp>
      <p:sp>
        <p:nvSpPr>
          <p:cNvPr id="5" name="Text 3"/>
          <p:cNvSpPr/>
          <p:nvPr/>
        </p:nvSpPr>
        <p:spPr>
          <a:xfrm>
            <a:off x="914400" y="3291840"/>
            <a:ext cx="4754880" cy="1097280"/>
          </a:xfrm>
          <a:prstGeom prst="rect">
            <a:avLst/>
          </a:prstGeom>
          <a:noFill/>
          <a:ln/>
        </p:spPr>
        <p:txBody>
          <a:bodyPr wrap="square" lIns="0" tIns="0" rIns="0" bIns="0" rtlCol="0" anchor="ctr"/>
          <a:lstStyle/>
          <a:p>
            <a:pPr indent="0" marL="0">
              <a:buNone/>
            </a:pPr>
            <a:r>
              <a:rPr lang="en-US" sz="1800" dirty="0">
                <a:solidFill>
                  <a:srgbClr val="3A4A5A"/>
                </a:solidFill>
                <a:latin typeface="Calibri" pitchFamily="34" charset="0"/>
                <a:ea typeface="Calibri" pitchFamily="34" charset="-122"/>
                <a:cs typeface="Calibri" pitchFamily="34" charset="-120"/>
              </a:rPr>
              <a:t>They're blocked by the database underneath it.</a:t>
            </a:r>
            <a:endParaRPr lang="en-US" sz="1800" dirty="0"/>
          </a:p>
        </p:txBody>
      </p:sp>
      <p:sp>
        <p:nvSpPr>
          <p:cNvPr id="6" name="Shape 4"/>
          <p:cNvSpPr/>
          <p:nvPr/>
        </p:nvSpPr>
        <p:spPr>
          <a:xfrm>
            <a:off x="6492240" y="1847088"/>
            <a:ext cx="201168" cy="201168"/>
          </a:xfrm>
          <a:prstGeom prst="ellipse">
            <a:avLst/>
          </a:prstGeom>
          <a:solidFill>
            <a:srgbClr val="8FD3C7"/>
          </a:solidFill>
          <a:ln/>
        </p:spPr>
      </p:sp>
      <p:sp>
        <p:nvSpPr>
          <p:cNvPr id="7" name="Text 5"/>
          <p:cNvSpPr/>
          <p:nvPr/>
        </p:nvSpPr>
        <p:spPr>
          <a:xfrm>
            <a:off x="6858000" y="1737360"/>
            <a:ext cx="4754880" cy="548640"/>
          </a:xfrm>
          <a:prstGeom prst="rect">
            <a:avLst/>
          </a:prstGeom>
          <a:noFill/>
          <a:ln/>
        </p:spPr>
        <p:txBody>
          <a:bodyPr wrap="square" lIns="0" tIns="0" rIns="0" bIns="0" rtlCol="0" anchor="ctr"/>
          <a:lstStyle/>
          <a:p>
            <a:pPr indent="0" marL="0">
              <a:buNone/>
            </a:pPr>
            <a:r>
              <a:rPr lang="en-US" sz="1600" dirty="0">
                <a:solidFill>
                  <a:srgbClr val="0F2540"/>
                </a:solidFill>
                <a:latin typeface="Calibri" pitchFamily="34" charset="0"/>
                <a:ea typeface="Calibri" pitchFamily="34" charset="-122"/>
                <a:cs typeface="Calibri" pitchFamily="34" charset="-120"/>
              </a:rPr>
              <a:t>Slow queries</a:t>
            </a:r>
            <a:endParaRPr lang="en-US" sz="1600" dirty="0"/>
          </a:p>
        </p:txBody>
      </p:sp>
      <p:sp>
        <p:nvSpPr>
          <p:cNvPr id="8" name="Shape 6"/>
          <p:cNvSpPr/>
          <p:nvPr/>
        </p:nvSpPr>
        <p:spPr>
          <a:xfrm>
            <a:off x="6492240" y="2715768"/>
            <a:ext cx="201168" cy="201168"/>
          </a:xfrm>
          <a:prstGeom prst="ellipse">
            <a:avLst/>
          </a:prstGeom>
          <a:solidFill>
            <a:srgbClr val="8FD3C7"/>
          </a:solidFill>
          <a:ln/>
        </p:spPr>
      </p:sp>
      <p:sp>
        <p:nvSpPr>
          <p:cNvPr id="9" name="Text 7"/>
          <p:cNvSpPr/>
          <p:nvPr/>
        </p:nvSpPr>
        <p:spPr>
          <a:xfrm>
            <a:off x="6858000" y="2606040"/>
            <a:ext cx="4754880" cy="548640"/>
          </a:xfrm>
          <a:prstGeom prst="rect">
            <a:avLst/>
          </a:prstGeom>
          <a:noFill/>
          <a:ln/>
        </p:spPr>
        <p:txBody>
          <a:bodyPr wrap="square" lIns="0" tIns="0" rIns="0" bIns="0" rtlCol="0" anchor="ctr"/>
          <a:lstStyle/>
          <a:p>
            <a:pPr indent="0" marL="0">
              <a:buNone/>
            </a:pPr>
            <a:r>
              <a:rPr lang="en-US" sz="1600" dirty="0">
                <a:solidFill>
                  <a:srgbClr val="0F2540"/>
                </a:solidFill>
                <a:latin typeface="Calibri" pitchFamily="34" charset="0"/>
                <a:ea typeface="Calibri" pitchFamily="34" charset="-122"/>
                <a:cs typeface="Calibri" pitchFamily="34" charset="-120"/>
              </a:rPr>
              <a:t>No vector search</a:t>
            </a:r>
            <a:endParaRPr lang="en-US" sz="1600" dirty="0"/>
          </a:p>
        </p:txBody>
      </p:sp>
      <p:sp>
        <p:nvSpPr>
          <p:cNvPr id="10" name="Shape 8"/>
          <p:cNvSpPr/>
          <p:nvPr/>
        </p:nvSpPr>
        <p:spPr>
          <a:xfrm>
            <a:off x="6492240" y="3584448"/>
            <a:ext cx="201168" cy="201168"/>
          </a:xfrm>
          <a:prstGeom prst="ellipse">
            <a:avLst/>
          </a:prstGeom>
          <a:solidFill>
            <a:srgbClr val="8FD3C7"/>
          </a:solidFill>
          <a:ln/>
        </p:spPr>
      </p:sp>
      <p:sp>
        <p:nvSpPr>
          <p:cNvPr id="11" name="Text 9"/>
          <p:cNvSpPr/>
          <p:nvPr/>
        </p:nvSpPr>
        <p:spPr>
          <a:xfrm>
            <a:off x="6858000" y="3474720"/>
            <a:ext cx="4754880" cy="548640"/>
          </a:xfrm>
          <a:prstGeom prst="rect">
            <a:avLst/>
          </a:prstGeom>
          <a:noFill/>
          <a:ln/>
        </p:spPr>
        <p:txBody>
          <a:bodyPr wrap="square" lIns="0" tIns="0" rIns="0" bIns="0" rtlCol="0" anchor="ctr"/>
          <a:lstStyle/>
          <a:p>
            <a:pPr indent="0" marL="0">
              <a:buNone/>
            </a:pPr>
            <a:r>
              <a:rPr lang="en-US" sz="1600" dirty="0">
                <a:solidFill>
                  <a:srgbClr val="0F2540"/>
                </a:solidFill>
                <a:latin typeface="Calibri" pitchFamily="34" charset="0"/>
                <a:ea typeface="Calibri" pitchFamily="34" charset="-122"/>
                <a:cs typeface="Calibri" pitchFamily="34" charset="-120"/>
              </a:rPr>
              <a:t>Schema changes deployed by hand</a:t>
            </a:r>
            <a:endParaRPr lang="en-US" sz="1600" dirty="0"/>
          </a:p>
        </p:txBody>
      </p:sp>
      <p:sp>
        <p:nvSpPr>
          <p:cNvPr id="12" name="Shape 10"/>
          <p:cNvSpPr/>
          <p:nvPr/>
        </p:nvSpPr>
        <p:spPr>
          <a:xfrm>
            <a:off x="6492240" y="4453128"/>
            <a:ext cx="201168" cy="201168"/>
          </a:xfrm>
          <a:prstGeom prst="ellipse">
            <a:avLst/>
          </a:prstGeom>
          <a:solidFill>
            <a:srgbClr val="8FD3C7"/>
          </a:solidFill>
          <a:ln/>
        </p:spPr>
      </p:sp>
      <p:sp>
        <p:nvSpPr>
          <p:cNvPr id="13" name="Text 11"/>
          <p:cNvSpPr/>
          <p:nvPr/>
        </p:nvSpPr>
        <p:spPr>
          <a:xfrm>
            <a:off x="6858000" y="4343400"/>
            <a:ext cx="4754880" cy="548640"/>
          </a:xfrm>
          <a:prstGeom prst="rect">
            <a:avLst/>
          </a:prstGeom>
          <a:noFill/>
          <a:ln/>
        </p:spPr>
        <p:txBody>
          <a:bodyPr wrap="square" lIns="0" tIns="0" rIns="0" bIns="0" rtlCol="0" anchor="ctr"/>
          <a:lstStyle/>
          <a:p>
            <a:pPr indent="0" marL="0">
              <a:buNone/>
            </a:pPr>
            <a:r>
              <a:rPr lang="en-US" sz="1600" dirty="0">
                <a:solidFill>
                  <a:srgbClr val="0F2540"/>
                </a:solidFill>
                <a:latin typeface="Calibri" pitchFamily="34" charset="0"/>
                <a:ea typeface="Calibri" pitchFamily="34" charset="-122"/>
                <a:cs typeface="Calibri" pitchFamily="34" charset="-120"/>
              </a:rPr>
              <a:t>Pipelines nobody fully trusts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This Blog Covers</a:t>
            </a:r>
            <a:endParaRPr lang="en-US" sz="3200" dirty="0"/>
          </a:p>
        </p:txBody>
      </p:sp>
      <p:sp>
        <p:nvSpPr>
          <p:cNvPr id="3" name="Shape 1"/>
          <p:cNvSpPr/>
          <p:nvPr/>
        </p:nvSpPr>
        <p:spPr>
          <a:xfrm>
            <a:off x="548640" y="1645920"/>
            <a:ext cx="3520440" cy="1920240"/>
          </a:xfrm>
          <a:prstGeom prst="roundRect">
            <a:avLst>
              <a:gd name="adj" fmla="val 4762"/>
            </a:avLst>
          </a:prstGeom>
          <a:solidFill>
            <a:srgbClr val="0A1B30"/>
          </a:solidFill>
          <a:ln/>
        </p:spPr>
      </p:sp>
      <p:sp>
        <p:nvSpPr>
          <p:cNvPr id="4" name="Shape 2"/>
          <p:cNvSpPr/>
          <p:nvPr/>
        </p:nvSpPr>
        <p:spPr>
          <a:xfrm>
            <a:off x="822960" y="1920240"/>
            <a:ext cx="457200" cy="457200"/>
          </a:xfrm>
          <a:prstGeom prst="ellipse">
            <a:avLst/>
          </a:prstGeom>
          <a:solidFill>
            <a:srgbClr val="8FD3C7"/>
          </a:solidFill>
          <a:ln/>
        </p:spPr>
      </p:sp>
      <p:sp>
        <p:nvSpPr>
          <p:cNvPr id="5" name="Text 3"/>
          <p:cNvSpPr/>
          <p:nvPr/>
        </p:nvSpPr>
        <p:spPr>
          <a:xfrm>
            <a:off x="822960" y="192024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777240" y="2560320"/>
            <a:ext cx="306324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Indexing &amp; Performance</a:t>
            </a:r>
            <a:endParaRPr lang="en-US" sz="1600" dirty="0"/>
          </a:p>
        </p:txBody>
      </p:sp>
      <p:sp>
        <p:nvSpPr>
          <p:cNvPr id="7" name="Shape 5"/>
          <p:cNvSpPr/>
          <p:nvPr/>
        </p:nvSpPr>
        <p:spPr>
          <a:xfrm>
            <a:off x="4343400" y="1645920"/>
            <a:ext cx="3520440" cy="1920240"/>
          </a:xfrm>
          <a:prstGeom prst="roundRect">
            <a:avLst>
              <a:gd name="adj" fmla="val 4762"/>
            </a:avLst>
          </a:prstGeom>
          <a:solidFill>
            <a:srgbClr val="0A1B30"/>
          </a:solidFill>
          <a:ln/>
        </p:spPr>
      </p:sp>
      <p:sp>
        <p:nvSpPr>
          <p:cNvPr id="8" name="Shape 6"/>
          <p:cNvSpPr/>
          <p:nvPr/>
        </p:nvSpPr>
        <p:spPr>
          <a:xfrm>
            <a:off x="4617720" y="1920240"/>
            <a:ext cx="457200" cy="457200"/>
          </a:xfrm>
          <a:prstGeom prst="ellipse">
            <a:avLst/>
          </a:prstGeom>
          <a:solidFill>
            <a:srgbClr val="8FD3C7"/>
          </a:solidFill>
          <a:ln/>
        </p:spPr>
      </p:sp>
      <p:sp>
        <p:nvSpPr>
          <p:cNvPr id="9" name="Text 7"/>
          <p:cNvSpPr/>
          <p:nvPr/>
        </p:nvSpPr>
        <p:spPr>
          <a:xfrm>
            <a:off x="4617720" y="192024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4572000" y="2560320"/>
            <a:ext cx="306324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CI/CD for Data Platforms</a:t>
            </a:r>
            <a:endParaRPr lang="en-US" sz="1600" dirty="0"/>
          </a:p>
        </p:txBody>
      </p:sp>
      <p:sp>
        <p:nvSpPr>
          <p:cNvPr id="11" name="Shape 9"/>
          <p:cNvSpPr/>
          <p:nvPr/>
        </p:nvSpPr>
        <p:spPr>
          <a:xfrm>
            <a:off x="8138160" y="1645920"/>
            <a:ext cx="3520440" cy="1920240"/>
          </a:xfrm>
          <a:prstGeom prst="roundRect">
            <a:avLst>
              <a:gd name="adj" fmla="val 4762"/>
            </a:avLst>
          </a:prstGeom>
          <a:solidFill>
            <a:srgbClr val="0A1B30"/>
          </a:solidFill>
          <a:ln/>
        </p:spPr>
      </p:sp>
      <p:sp>
        <p:nvSpPr>
          <p:cNvPr id="12" name="Shape 10"/>
          <p:cNvSpPr/>
          <p:nvPr/>
        </p:nvSpPr>
        <p:spPr>
          <a:xfrm>
            <a:off x="8412480" y="1920240"/>
            <a:ext cx="457200" cy="457200"/>
          </a:xfrm>
          <a:prstGeom prst="ellipse">
            <a:avLst/>
          </a:prstGeom>
          <a:solidFill>
            <a:srgbClr val="8FD3C7"/>
          </a:solidFill>
          <a:ln/>
        </p:spPr>
      </p:sp>
      <p:sp>
        <p:nvSpPr>
          <p:cNvPr id="13" name="Text 11"/>
          <p:cNvSpPr/>
          <p:nvPr/>
        </p:nvSpPr>
        <p:spPr>
          <a:xfrm>
            <a:off x="8412480" y="192024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8366760" y="2560320"/>
            <a:ext cx="306324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Data Engineering</a:t>
            </a:r>
            <a:endParaRPr lang="en-US" sz="1600" dirty="0"/>
          </a:p>
        </p:txBody>
      </p:sp>
      <p:sp>
        <p:nvSpPr>
          <p:cNvPr id="15" name="Shape 13"/>
          <p:cNvSpPr/>
          <p:nvPr/>
        </p:nvSpPr>
        <p:spPr>
          <a:xfrm>
            <a:off x="548640" y="3840480"/>
            <a:ext cx="3520440" cy="1920240"/>
          </a:xfrm>
          <a:prstGeom prst="roundRect">
            <a:avLst>
              <a:gd name="adj" fmla="val 4762"/>
            </a:avLst>
          </a:prstGeom>
          <a:solidFill>
            <a:srgbClr val="0A1B30"/>
          </a:solidFill>
          <a:ln/>
        </p:spPr>
      </p:sp>
      <p:sp>
        <p:nvSpPr>
          <p:cNvPr id="16" name="Shape 14"/>
          <p:cNvSpPr/>
          <p:nvPr/>
        </p:nvSpPr>
        <p:spPr>
          <a:xfrm>
            <a:off x="822960" y="4114800"/>
            <a:ext cx="457200" cy="457200"/>
          </a:xfrm>
          <a:prstGeom prst="ellipse">
            <a:avLst/>
          </a:prstGeom>
          <a:solidFill>
            <a:srgbClr val="8FD3C7"/>
          </a:solidFill>
          <a:ln/>
        </p:spPr>
      </p:sp>
      <p:sp>
        <p:nvSpPr>
          <p:cNvPr id="17" name="Text 15"/>
          <p:cNvSpPr/>
          <p:nvPr/>
        </p:nvSpPr>
        <p:spPr>
          <a:xfrm>
            <a:off x="822960" y="411480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4</a:t>
            </a:r>
            <a:endParaRPr lang="en-US" sz="1800" dirty="0"/>
          </a:p>
        </p:txBody>
      </p:sp>
      <p:sp>
        <p:nvSpPr>
          <p:cNvPr id="18" name="Text 16"/>
          <p:cNvSpPr/>
          <p:nvPr/>
        </p:nvSpPr>
        <p:spPr>
          <a:xfrm>
            <a:off x="777240" y="4754880"/>
            <a:ext cx="306324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Vector Databases</a:t>
            </a:r>
            <a:endParaRPr lang="en-US" sz="1600" dirty="0"/>
          </a:p>
        </p:txBody>
      </p:sp>
      <p:sp>
        <p:nvSpPr>
          <p:cNvPr id="19" name="Shape 17"/>
          <p:cNvSpPr/>
          <p:nvPr/>
        </p:nvSpPr>
        <p:spPr>
          <a:xfrm>
            <a:off x="4343400" y="3840480"/>
            <a:ext cx="3520440" cy="1920240"/>
          </a:xfrm>
          <a:prstGeom prst="roundRect">
            <a:avLst>
              <a:gd name="adj" fmla="val 4762"/>
            </a:avLst>
          </a:prstGeom>
          <a:solidFill>
            <a:srgbClr val="0A1B30"/>
          </a:solidFill>
          <a:ln/>
        </p:spPr>
      </p:sp>
      <p:sp>
        <p:nvSpPr>
          <p:cNvPr id="20" name="Shape 18"/>
          <p:cNvSpPr/>
          <p:nvPr/>
        </p:nvSpPr>
        <p:spPr>
          <a:xfrm>
            <a:off x="4617720" y="4114800"/>
            <a:ext cx="457200" cy="457200"/>
          </a:xfrm>
          <a:prstGeom prst="ellipse">
            <a:avLst/>
          </a:prstGeom>
          <a:solidFill>
            <a:srgbClr val="8FD3C7"/>
          </a:solidFill>
          <a:ln/>
        </p:spPr>
      </p:sp>
      <p:sp>
        <p:nvSpPr>
          <p:cNvPr id="21" name="Text 19"/>
          <p:cNvSpPr/>
          <p:nvPr/>
        </p:nvSpPr>
        <p:spPr>
          <a:xfrm>
            <a:off x="4617720" y="411480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5</a:t>
            </a:r>
            <a:endParaRPr lang="en-US" sz="1800" dirty="0"/>
          </a:p>
        </p:txBody>
      </p:sp>
      <p:sp>
        <p:nvSpPr>
          <p:cNvPr id="22" name="Text 20"/>
          <p:cNvSpPr/>
          <p:nvPr/>
        </p:nvSpPr>
        <p:spPr>
          <a:xfrm>
            <a:off x="4572000" y="4754880"/>
            <a:ext cx="306324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AI Semantics</a:t>
            </a:r>
            <a:endParaRPr lang="en-US" sz="1600" dirty="0"/>
          </a:p>
        </p:txBody>
      </p:sp>
      <p:sp>
        <p:nvSpPr>
          <p:cNvPr id="23" name="Shape 21"/>
          <p:cNvSpPr/>
          <p:nvPr/>
        </p:nvSpPr>
        <p:spPr>
          <a:xfrm>
            <a:off x="8138160" y="3840480"/>
            <a:ext cx="3520440" cy="1920240"/>
          </a:xfrm>
          <a:prstGeom prst="roundRect">
            <a:avLst>
              <a:gd name="adj" fmla="val 4762"/>
            </a:avLst>
          </a:prstGeom>
          <a:solidFill>
            <a:srgbClr val="0A1B30"/>
          </a:solidFill>
          <a:ln/>
        </p:spPr>
      </p:sp>
      <p:sp>
        <p:nvSpPr>
          <p:cNvPr id="24" name="Shape 22"/>
          <p:cNvSpPr/>
          <p:nvPr/>
        </p:nvSpPr>
        <p:spPr>
          <a:xfrm>
            <a:off x="8412480" y="4114800"/>
            <a:ext cx="457200" cy="457200"/>
          </a:xfrm>
          <a:prstGeom prst="ellipse">
            <a:avLst/>
          </a:prstGeom>
          <a:solidFill>
            <a:srgbClr val="8FD3C7"/>
          </a:solidFill>
          <a:ln/>
        </p:spPr>
      </p:sp>
      <p:sp>
        <p:nvSpPr>
          <p:cNvPr id="25" name="Text 23"/>
          <p:cNvSpPr/>
          <p:nvPr/>
        </p:nvSpPr>
        <p:spPr>
          <a:xfrm>
            <a:off x="8412480" y="411480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6</a:t>
            </a:r>
            <a:endParaRPr lang="en-US" sz="1800" dirty="0"/>
          </a:p>
        </p:txBody>
      </p:sp>
      <p:sp>
        <p:nvSpPr>
          <p:cNvPr id="26" name="Text 24"/>
          <p:cNvSpPr/>
          <p:nvPr/>
        </p:nvSpPr>
        <p:spPr>
          <a:xfrm>
            <a:off x="8366760" y="4754880"/>
            <a:ext cx="306324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Quantum's Future Impact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indent="0" marL="0">
              <a:buNone/>
            </a:pPr>
            <a:r>
              <a:rPr lang="en-US" sz="3200" b="1" dirty="0">
                <a:solidFill>
                  <a:srgbClr val="0F2540"/>
                </a:solidFill>
                <a:latin typeface="Cambria" pitchFamily="34" charset="0"/>
                <a:ea typeface="Cambria" pitchFamily="34" charset="-122"/>
                <a:cs typeface="Cambria" pitchFamily="34" charset="-120"/>
              </a:rPr>
              <a:t>Who This Is For</a:t>
            </a:r>
            <a:endParaRPr lang="en-US" sz="3200" dirty="0"/>
          </a:p>
        </p:txBody>
      </p:sp>
      <p:sp>
        <p:nvSpPr>
          <p:cNvPr id="3" name="Shape 1"/>
          <p:cNvSpPr/>
          <p:nvPr/>
        </p:nvSpPr>
        <p:spPr>
          <a:xfrm>
            <a:off x="548640" y="1645920"/>
            <a:ext cx="5349240" cy="4023360"/>
          </a:xfrm>
          <a:prstGeom prst="roundRect">
            <a:avLst>
              <a:gd name="adj" fmla="val 2727"/>
            </a:avLst>
          </a:prstGeom>
          <a:solidFill>
            <a:srgbClr val="0F2540"/>
          </a:solidFill>
          <a:ln/>
        </p:spPr>
      </p:sp>
      <p:sp>
        <p:nvSpPr>
          <p:cNvPr id="4" name="Text 2"/>
          <p:cNvSpPr/>
          <p:nvPr/>
        </p:nvSpPr>
        <p:spPr>
          <a:xfrm>
            <a:off x="914400" y="1920240"/>
            <a:ext cx="4663440" cy="548640"/>
          </a:xfrm>
          <a:prstGeom prst="rect">
            <a:avLst/>
          </a:prstGeom>
          <a:noFill/>
          <a:ln/>
        </p:spPr>
        <p:txBody>
          <a:bodyPr wrap="square" lIns="0" tIns="0" rIns="0" bIns="0" rtlCol="0" anchor="ctr"/>
          <a:lstStyle/>
          <a:p>
            <a:pPr indent="0" marL="0">
              <a:buNone/>
            </a:pPr>
            <a:r>
              <a:rPr lang="en-US" sz="2200" b="1" dirty="0">
                <a:solidFill>
                  <a:srgbClr val="8FD3C7"/>
                </a:solidFill>
                <a:latin typeface="Calibri" pitchFamily="34" charset="0"/>
                <a:ea typeface="Calibri" pitchFamily="34" charset="-122"/>
                <a:cs typeface="Calibri" pitchFamily="34" charset="-120"/>
              </a:rPr>
              <a:t>CTOs &amp; CEOs</a:t>
            </a:r>
            <a:endParaRPr lang="en-US" sz="2200" dirty="0"/>
          </a:p>
        </p:txBody>
      </p:sp>
      <p:sp>
        <p:nvSpPr>
          <p:cNvPr id="5" name="Text 3"/>
          <p:cNvSpPr/>
          <p:nvPr/>
        </p:nvSpPr>
        <p:spPr>
          <a:xfrm>
            <a:off x="914400" y="2560320"/>
            <a:ext cx="4663440" cy="2743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Evaluating whether your database can actually support the AI product you're trying to ship — and what it'll take to get there.</a:t>
            </a:r>
            <a:endParaRPr lang="en-US" sz="1600" dirty="0"/>
          </a:p>
        </p:txBody>
      </p:sp>
      <p:sp>
        <p:nvSpPr>
          <p:cNvPr id="6" name="Shape 4"/>
          <p:cNvSpPr/>
          <p:nvPr/>
        </p:nvSpPr>
        <p:spPr>
          <a:xfrm>
            <a:off x="6263640" y="1645920"/>
            <a:ext cx="5349240" cy="4023360"/>
          </a:xfrm>
          <a:prstGeom prst="roundRect">
            <a:avLst>
              <a:gd name="adj" fmla="val 2727"/>
            </a:avLst>
          </a:prstGeom>
          <a:solidFill>
            <a:srgbClr val="F4F7F9"/>
          </a:solidFill>
          <a:ln/>
        </p:spPr>
      </p:sp>
      <p:sp>
        <p:nvSpPr>
          <p:cNvPr id="7" name="Text 5"/>
          <p:cNvSpPr/>
          <p:nvPr/>
        </p:nvSpPr>
        <p:spPr>
          <a:xfrm>
            <a:off x="6629400" y="1920240"/>
            <a:ext cx="4663440" cy="548640"/>
          </a:xfrm>
          <a:prstGeom prst="rect">
            <a:avLst/>
          </a:prstGeom>
          <a:noFill/>
          <a:ln/>
        </p:spPr>
        <p:txBody>
          <a:bodyPr wrap="square" lIns="0" tIns="0" rIns="0" bIns="0" rtlCol="0" anchor="ctr"/>
          <a:lstStyle/>
          <a:p>
            <a:pPr indent="0" marL="0">
              <a:buNone/>
            </a:pPr>
            <a:r>
              <a:rPr lang="en-US" sz="2200" b="1" dirty="0">
                <a:solidFill>
                  <a:srgbClr val="0F2540"/>
                </a:solidFill>
                <a:latin typeface="Calibri" pitchFamily="34" charset="0"/>
                <a:ea typeface="Calibri" pitchFamily="34" charset="-122"/>
                <a:cs typeface="Calibri" pitchFamily="34" charset="-120"/>
              </a:rPr>
              <a:t>Database Developers</a:t>
            </a:r>
            <a:endParaRPr lang="en-US" sz="2200" dirty="0"/>
          </a:p>
        </p:txBody>
      </p:sp>
      <p:sp>
        <p:nvSpPr>
          <p:cNvPr id="8" name="Text 6"/>
          <p:cNvSpPr/>
          <p:nvPr/>
        </p:nvSpPr>
        <p:spPr>
          <a:xfrm>
            <a:off x="6629400" y="2560320"/>
            <a:ext cx="4663440" cy="2743200"/>
          </a:xfrm>
          <a:prstGeom prst="rect">
            <a:avLst/>
          </a:prstGeom>
          <a:noFill/>
          <a:ln/>
        </p:spPr>
        <p:txBody>
          <a:bodyPr wrap="square" lIns="0" tIns="0" rIns="0" bIns="0" rtlCol="0" anchor="ctr"/>
          <a:lstStyle/>
          <a:p>
            <a:pPr indent="0" marL="0">
              <a:buNone/>
            </a:pPr>
            <a:r>
              <a:rPr lang="en-US" sz="1600" dirty="0">
                <a:solidFill>
                  <a:srgbClr val="3A4A5A"/>
                </a:solidFill>
                <a:latin typeface="Calibri" pitchFamily="34" charset="0"/>
                <a:ea typeface="Calibri" pitchFamily="34" charset="-122"/>
                <a:cs typeface="Calibri" pitchFamily="34" charset="-120"/>
              </a:rPr>
              <a:t>Hitting the same problems constantly — slow queries, deadlocks, bad plans — and want the fix plus how AI changes that work.</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64240" cy="640080"/>
          </a:xfrm>
          <a:prstGeom prst="rect">
            <a:avLst/>
          </a:prstGeom>
          <a:noFill/>
          <a:ln/>
        </p:spPr>
        <p:txBody>
          <a:bodyPr wrap="square" lIns="0" tIns="0" rIns="0" bIns="0" rtlCol="0" anchor="ctr"/>
          <a:lstStyle/>
          <a:p>
            <a:pPr indent="0" marL="0">
              <a:buNone/>
            </a:pPr>
            <a:r>
              <a:rPr lang="en-US" sz="3200" b="1" dirty="0">
                <a:solidFill>
                  <a:srgbClr val="0F2540"/>
                </a:solidFill>
                <a:latin typeface="Cambria" pitchFamily="34" charset="0"/>
                <a:ea typeface="Cambria" pitchFamily="34" charset="-122"/>
                <a:cs typeface="Cambria" pitchFamily="34" charset="-120"/>
              </a:rPr>
              <a:t>Key Takeaways</a:t>
            </a:r>
            <a:endParaRPr lang="en-US" sz="3200" dirty="0"/>
          </a:p>
        </p:txBody>
      </p:sp>
      <p:sp>
        <p:nvSpPr>
          <p:cNvPr id="3" name="Shape 1"/>
          <p:cNvSpPr/>
          <p:nvPr/>
        </p:nvSpPr>
        <p:spPr>
          <a:xfrm>
            <a:off x="548640" y="1828800"/>
            <a:ext cx="11064240" cy="1188720"/>
          </a:xfrm>
          <a:prstGeom prst="roundRect">
            <a:avLst>
              <a:gd name="adj" fmla="val 7692"/>
            </a:avLst>
          </a:prstGeom>
          <a:solidFill>
            <a:srgbClr val="F4F7F9"/>
          </a:solidFill>
          <a:ln/>
        </p:spPr>
      </p:sp>
      <p:sp>
        <p:nvSpPr>
          <p:cNvPr id="4" name="Shape 2"/>
          <p:cNvSpPr/>
          <p:nvPr/>
        </p:nvSpPr>
        <p:spPr>
          <a:xfrm>
            <a:off x="868680" y="2194560"/>
            <a:ext cx="457200" cy="457200"/>
          </a:xfrm>
          <a:prstGeom prst="ellipse">
            <a:avLst/>
          </a:prstGeom>
          <a:solidFill>
            <a:srgbClr val="8FD3C7"/>
          </a:solidFill>
          <a:ln/>
        </p:spPr>
      </p:sp>
      <p:sp>
        <p:nvSpPr>
          <p:cNvPr id="5" name="Text 3"/>
          <p:cNvSpPr/>
          <p:nvPr/>
        </p:nvSpPr>
        <p:spPr>
          <a:xfrm>
            <a:off x="868680" y="219456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600200" y="1828800"/>
            <a:ext cx="9784080" cy="1188720"/>
          </a:xfrm>
          <a:prstGeom prst="rect">
            <a:avLst/>
          </a:prstGeom>
          <a:noFill/>
          <a:ln/>
        </p:spPr>
        <p:txBody>
          <a:bodyPr wrap="square" lIns="0" tIns="0" rIns="0" bIns="0" rtlCol="0" anchor="ctr"/>
          <a:lstStyle/>
          <a:p>
            <a:pPr indent="0" marL="0">
              <a:buNone/>
            </a:pPr>
            <a:r>
              <a:rPr lang="en-US" sz="1700" dirty="0">
                <a:solidFill>
                  <a:srgbClr val="0F2540"/>
                </a:solidFill>
                <a:latin typeface="Calibri" pitchFamily="34" charset="0"/>
                <a:ea typeface="Calibri" pitchFamily="34" charset="-122"/>
                <a:cs typeface="Calibri" pitchFamily="34" charset="-120"/>
              </a:rPr>
              <a:t>AI initiatives usually stall at the database layer, not the model layer.</a:t>
            </a:r>
            <a:endParaRPr lang="en-US" sz="1700" dirty="0"/>
          </a:p>
        </p:txBody>
      </p:sp>
      <p:sp>
        <p:nvSpPr>
          <p:cNvPr id="7" name="Shape 5"/>
          <p:cNvSpPr/>
          <p:nvPr/>
        </p:nvSpPr>
        <p:spPr>
          <a:xfrm>
            <a:off x="548640" y="3200400"/>
            <a:ext cx="11064240" cy="1188720"/>
          </a:xfrm>
          <a:prstGeom prst="roundRect">
            <a:avLst>
              <a:gd name="adj" fmla="val 7692"/>
            </a:avLst>
          </a:prstGeom>
          <a:solidFill>
            <a:srgbClr val="FFFFFF"/>
          </a:solidFill>
          <a:ln/>
        </p:spPr>
      </p:sp>
      <p:sp>
        <p:nvSpPr>
          <p:cNvPr id="8" name="Shape 6"/>
          <p:cNvSpPr/>
          <p:nvPr/>
        </p:nvSpPr>
        <p:spPr>
          <a:xfrm>
            <a:off x="868680" y="3566160"/>
            <a:ext cx="457200" cy="457200"/>
          </a:xfrm>
          <a:prstGeom prst="ellipse">
            <a:avLst/>
          </a:prstGeom>
          <a:solidFill>
            <a:srgbClr val="8FD3C7"/>
          </a:solidFill>
          <a:ln/>
        </p:spPr>
      </p:sp>
      <p:sp>
        <p:nvSpPr>
          <p:cNvPr id="9" name="Text 7"/>
          <p:cNvSpPr/>
          <p:nvPr/>
        </p:nvSpPr>
        <p:spPr>
          <a:xfrm>
            <a:off x="868680" y="356616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2</a:t>
            </a:r>
            <a:endParaRPr lang="en-US" sz="1800" dirty="0"/>
          </a:p>
        </p:txBody>
      </p:sp>
      <p:sp>
        <p:nvSpPr>
          <p:cNvPr id="10" name="Text 8"/>
          <p:cNvSpPr/>
          <p:nvPr/>
        </p:nvSpPr>
        <p:spPr>
          <a:xfrm>
            <a:off x="1600200" y="3200400"/>
            <a:ext cx="9784080" cy="1188720"/>
          </a:xfrm>
          <a:prstGeom prst="rect">
            <a:avLst/>
          </a:prstGeom>
          <a:noFill/>
          <a:ln/>
        </p:spPr>
        <p:txBody>
          <a:bodyPr wrap="square" lIns="0" tIns="0" rIns="0" bIns="0" rtlCol="0" anchor="ctr"/>
          <a:lstStyle/>
          <a:p>
            <a:pPr indent="0" marL="0">
              <a:buNone/>
            </a:pPr>
            <a:r>
              <a:rPr lang="en-US" sz="1700" dirty="0">
                <a:solidFill>
                  <a:srgbClr val="0F2540"/>
                </a:solidFill>
                <a:latin typeface="Calibri" pitchFamily="34" charset="0"/>
                <a:ea typeface="Calibri" pitchFamily="34" charset="-122"/>
                <a:cs typeface="Calibri" pitchFamily="34" charset="-120"/>
              </a:rPr>
              <a:t>New posts publish daily — alternating practical insight and hands-on tutorials.</a:t>
            </a:r>
            <a:endParaRPr lang="en-US" sz="1700" dirty="0"/>
          </a:p>
        </p:txBody>
      </p:sp>
      <p:sp>
        <p:nvSpPr>
          <p:cNvPr id="11" name="Shape 9"/>
          <p:cNvSpPr/>
          <p:nvPr/>
        </p:nvSpPr>
        <p:spPr>
          <a:xfrm>
            <a:off x="548640" y="4572000"/>
            <a:ext cx="11064240" cy="1188720"/>
          </a:xfrm>
          <a:prstGeom prst="roundRect">
            <a:avLst>
              <a:gd name="adj" fmla="val 7692"/>
            </a:avLst>
          </a:prstGeom>
          <a:solidFill>
            <a:srgbClr val="F4F7F9"/>
          </a:solidFill>
          <a:ln/>
        </p:spPr>
      </p:sp>
      <p:sp>
        <p:nvSpPr>
          <p:cNvPr id="12" name="Shape 10"/>
          <p:cNvSpPr/>
          <p:nvPr/>
        </p:nvSpPr>
        <p:spPr>
          <a:xfrm>
            <a:off x="868680" y="4937760"/>
            <a:ext cx="457200" cy="457200"/>
          </a:xfrm>
          <a:prstGeom prst="ellipse">
            <a:avLst/>
          </a:prstGeom>
          <a:solidFill>
            <a:srgbClr val="8FD3C7"/>
          </a:solidFill>
          <a:ln/>
        </p:spPr>
      </p:sp>
      <p:sp>
        <p:nvSpPr>
          <p:cNvPr id="13" name="Text 11"/>
          <p:cNvSpPr/>
          <p:nvPr/>
        </p:nvSpPr>
        <p:spPr>
          <a:xfrm>
            <a:off x="868680" y="4937760"/>
            <a:ext cx="457200" cy="457200"/>
          </a:xfrm>
          <a:prstGeom prst="rect">
            <a:avLst/>
          </a:prstGeom>
          <a:noFill/>
          <a:ln/>
        </p:spPr>
        <p:txBody>
          <a:bodyPr wrap="square" rtlCol="0" anchor="ctr"/>
          <a:lstStyle/>
          <a:p>
            <a:pPr algn="ctr" indent="0" marL="0">
              <a:buNone/>
            </a:pPr>
            <a:r>
              <a:rPr lang="en-US" sz="1800" b="1" dirty="0">
                <a:solidFill>
                  <a:srgbClr val="0F2540"/>
                </a:solidFill>
                <a:latin typeface="Calibri" pitchFamily="34" charset="0"/>
                <a:ea typeface="Calibri" pitchFamily="34" charset="-122"/>
                <a:cs typeface="Calibri" pitchFamily="34" charset="-120"/>
              </a:rPr>
              <a:t>3</a:t>
            </a:r>
            <a:endParaRPr lang="en-US" sz="1800" dirty="0"/>
          </a:p>
        </p:txBody>
      </p:sp>
      <p:sp>
        <p:nvSpPr>
          <p:cNvPr id="14" name="Text 12"/>
          <p:cNvSpPr/>
          <p:nvPr/>
        </p:nvSpPr>
        <p:spPr>
          <a:xfrm>
            <a:off x="1600200" y="4572000"/>
            <a:ext cx="9784080" cy="1188720"/>
          </a:xfrm>
          <a:prstGeom prst="rect">
            <a:avLst/>
          </a:prstGeom>
          <a:noFill/>
          <a:ln/>
        </p:spPr>
        <p:txBody>
          <a:bodyPr wrap="square" lIns="0" tIns="0" rIns="0" bIns="0" rtlCol="0" anchor="ctr"/>
          <a:lstStyle/>
          <a:p>
            <a:pPr indent="0" marL="0">
              <a:buNone/>
            </a:pPr>
            <a:r>
              <a:rPr lang="en-US" sz="1700" dirty="0">
                <a:solidFill>
                  <a:srgbClr val="0F2540"/>
                </a:solidFill>
                <a:latin typeface="Calibri" pitchFamily="34" charset="0"/>
                <a:ea typeface="Calibri" pitchFamily="34" charset="-122"/>
                <a:cs typeface="Calibri" pitchFamily="34" charset="-120"/>
              </a:rPr>
              <a:t>Every tutorial ships with real, runnable code on GitHub.</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731520" y="210312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Let's Talk About Your Database</a:t>
            </a:r>
            <a:endParaRPr lang="en-US" sz="3400" dirty="0"/>
          </a:p>
        </p:txBody>
      </p:sp>
      <p:sp>
        <p:nvSpPr>
          <p:cNvPr id="3" name="Text 1"/>
          <p:cNvSpPr/>
          <p:nvPr/>
        </p:nvSpPr>
        <p:spPr>
          <a:xfrm>
            <a:off x="731520" y="3017520"/>
            <a:ext cx="10698480" cy="457200"/>
          </a:xfrm>
          <a:prstGeom prst="rect">
            <a:avLst/>
          </a:prstGeom>
          <a:noFill/>
          <a:ln/>
        </p:spPr>
        <p:txBody>
          <a:bodyPr wrap="square" lIns="0" tIns="0" rIns="0" bIns="0" rtlCol="0" anchor="ctr"/>
          <a:lstStyle/>
          <a:p>
            <a:pPr indent="0" marL="0">
              <a:buNone/>
            </a:pPr>
            <a:r>
              <a:rPr lang="en-US" sz="1800" dirty="0">
                <a:solidFill>
                  <a:srgbClr val="8FD3C7"/>
                </a:solidFill>
                <a:latin typeface="Calibri" pitchFamily="34" charset="0"/>
                <a:ea typeface="Calibri" pitchFamily="34" charset="-122"/>
                <a:cs typeface="Calibri" pitchFamily="34" charset="-120"/>
              </a:rPr>
              <a:t>mrivanlima.github.io/DbModernizer</a:t>
            </a:r>
            <a:endParaRPr lang="en-US" sz="1800" dirty="0"/>
          </a:p>
        </p:txBody>
      </p:sp>
      <p:sp>
        <p:nvSpPr>
          <p:cNvPr id="4" name="Text 2"/>
          <p:cNvSpPr/>
          <p:nvPr/>
        </p:nvSpPr>
        <p:spPr>
          <a:xfrm>
            <a:off x="731520" y="3566160"/>
            <a:ext cx="10698480" cy="457200"/>
          </a:xfrm>
          <a:prstGeom prst="rect">
            <a:avLst/>
          </a:prstGeom>
          <a:noFill/>
          <a:ln/>
        </p:spPr>
        <p:txBody>
          <a:bodyPr wrap="square" lIns="0" tIns="0" rIns="0" bIns="0" rtlCol="0" anchor="ctr"/>
          <a:lstStyle/>
          <a:p>
            <a:pPr indent="0" marL="0">
              <a:buNone/>
            </a:pPr>
            <a:r>
              <a:rPr lang="en-US" sz="1400" dirty="0">
                <a:solidFill>
                  <a:srgbClr val="C9D9E3"/>
                </a:solidFill>
                <a:latin typeface="Calibri" pitchFamily="34" charset="0"/>
                <a:ea typeface="Calibri" pitchFamily="34" charset="-122"/>
                <a:cs typeface="Calibri" pitchFamily="34" charset="-120"/>
              </a:rPr>
              <a:t>mrivanlima@gmail.com   ·   linkedin.com/in/mrivanlima   ·   @DatabaseModernizer on YouTube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2026-08-12T17:49:16Z</dcterms:created>
  <dcterms:modified xsi:type="dcterms:W3CDTF">2026-08-12T17:49:16Z</dcterms:modified>
</cp:coreProperties>
</file>