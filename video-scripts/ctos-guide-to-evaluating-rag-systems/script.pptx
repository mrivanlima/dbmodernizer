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Hey, I'm Ivan Lima with Data Platform Advisory. If you're a CTO thinking about shipping a RAG system, this one's for you -- a practical guide to evaluating it before it goes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problem: most RAG demos get judged by a human reading a handful of answers and nodding along. That's not an evaluation. And the stakes are real -- Gartner says half of GenAI projects get abandoned after the pilot stage, and MIT found ninety-five percent of orgs see zero financial return. A lot of that traces straight back to RAG systems that were never properly evaluated.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instead of one big yes-or-no question, break it into four. First, retrieval quality -- did the system even find the right documents. Second, faithfulness -- does the answer actually stick to what it retrieved. Third, hallucination rate -- did it make something up that's nowhere in your source material. And fourth, production drift -- does it stay accurate weeks after launch, not just on demo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this throws an error. A RAG system that passed every test on launch day can quietly get worse over time -- embeddings drift, indexes go stale, real users ask questions differently than your test set, and if you're ingesting outside content, bad documents can sneak into the corpus and get treated as fact. The only way to catch this is to keep running your evaluations on a schedule, not just once before 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the short version. Evaluate retrieval and generation as two separate problems. Track recall, precision, and NDCG before you even look at the generated text. Treat faithfulness and hallucination as two different numbers on your dashboard. Keep re-running your evaluations after launch, not just before it. And remember -- RAG quality traces back to your data platform, not your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 team is trying to figure out whether your database and data platform are actually ready to support RAG and other AI workloads, that's exactly what we help with at Data Platform Advisory. Head to dataplatformadvisory.com to get in touch. Thanks for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540"/>
        </a:solidFill>
      </p:bgPr>
    </p:bg>
    <p:spTree>
      <p:nvGrpSpPr>
        <p:cNvPr id="1" name=""/>
        <p:cNvGrpSpPr/>
        <p:nvPr/>
      </p:nvGrpSpPr>
      <p:grpSpPr>
        <a:xfrm>
          <a:off x="0" y="0"/>
          <a:ext cx="0" cy="0"/>
          <a:chOff x="0" y="0"/>
          <a:chExt cx="0" cy="0"/>
        </a:xfrm>
      </p:grpSpPr>
      <p:sp>
        <p:nvSpPr>
          <p:cNvPr id="2" name="Text 0"/>
          <p:cNvSpPr txBox="1"/>
          <p:nvPr/>
        </p:nvSpPr>
        <p:spPr>
          <a:xfrm>
            <a:off x="731520" y="1463040"/>
            <a:ext cx="1069848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 CTO's Guide to</a:t>
            </a:r>
            <a:endParaRPr lang="en-US" sz="3200" dirty="0"/>
          </a:p>
        </p:txBody>
      </p:sp>
      <p:sp>
        <p:nvSpPr>
          <p:cNvPr id="3" name="Text 1"/>
          <p:cNvSpPr txBox="1"/>
          <p:nvPr/>
        </p:nvSpPr>
        <p:spPr>
          <a:xfrm>
            <a:off x="731520" y="2103120"/>
            <a:ext cx="10698480" cy="1097280"/>
          </a:xfrm>
          <a:prstGeom prst="rect">
            <a:avLst/>
          </a:prstGeom>
          <a:noFill/>
          <a:ln/>
        </p:spPr>
        <p:txBody>
          <a:bodyPr wrap="square" lIns="0" tIns="0" rIns="0" bIns="0" rtlCol="0" anchor="ctr"/>
          <a:lstStyle/>
          <a:p>
            <a:pPr indent="0" marL="0">
              <a:buNone/>
            </a:pPr>
            <a:r>
              <a:rPr lang="en-US" sz="4000" b="1" dirty="0">
                <a:solidFill>
                  <a:srgbClr val="8FD3C7"/>
                </a:solidFill>
                <a:latin typeface="Cambria" pitchFamily="34" charset="0"/>
                <a:ea typeface="Cambria" pitchFamily="34" charset="-122"/>
                <a:cs typeface="Cambria" pitchFamily="34" charset="-120"/>
              </a:rPr>
              <a:t>Evaluating RAG Systems Before You Ship</a:t>
            </a:r>
            <a:endParaRPr lang="en-US" sz="4000" dirty="0"/>
          </a:p>
        </p:txBody>
      </p:sp>
      <p:sp>
        <p:nvSpPr>
          <p:cNvPr id="4" name="Shape 2"/>
          <p:cNvSpPr/>
          <p:nvPr/>
        </p:nvSpPr>
        <p:spPr>
          <a:xfrm>
            <a:off x="731520" y="3566160"/>
            <a:ext cx="109728" cy="109728"/>
          </a:xfrm>
          <a:prstGeom prst="ellipse">
            <a:avLst/>
          </a:prstGeom>
          <a:solidFill>
            <a:srgbClr val="8FD3C7"/>
          </a:solidFill>
          <a:ln/>
        </p:spPr>
      </p:sp>
      <p:sp>
        <p:nvSpPr>
          <p:cNvPr id="5" name="Text 3"/>
          <p:cNvSpPr txBox="1"/>
          <p:nvPr/>
        </p:nvSpPr>
        <p:spPr>
          <a:xfrm>
            <a:off x="960120" y="3429000"/>
            <a:ext cx="7315200" cy="457200"/>
          </a:xfrm>
          <a:prstGeom prst="rect">
            <a:avLst/>
          </a:prstGeom>
          <a:noFill/>
          <a:ln/>
        </p:spPr>
        <p:txBody>
          <a:bodyPr wrap="square" lIns="0" tIns="0" rIns="0" bIns="0" rtlCol="0" anchor="ctr"/>
          <a:lstStyle/>
          <a:p>
            <a:pPr indent="0" marL="0">
              <a:buNone/>
            </a:pPr>
            <a:r>
              <a:rPr lang="en-US" sz="1800" dirty="0">
                <a:solidFill>
                  <a:srgbClr val="C9D9E3"/>
                </a:solidFill>
                <a:latin typeface="Calibri" pitchFamily="34" charset="0"/>
                <a:ea typeface="Calibri" pitchFamily="34" charset="-122"/>
                <a:cs typeface="Calibri" pitchFamily="34" charset="-120"/>
              </a:rPr>
              <a:t>Ivan Lima  ·  Data Platform Advisory</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548640"/>
            <a:ext cx="7315200" cy="640080"/>
          </a:xfrm>
          <a:prstGeom prst="rect">
            <a:avLst/>
          </a:prstGeom>
          <a:noFill/>
          <a:ln/>
        </p:spPr>
        <p:txBody>
          <a:bodyPr wrap="square" lIns="0" tIns="0" rIns="0" bIns="0" rtlCol="0" anchor="ctr"/>
          <a:lstStyle/>
          <a:p>
            <a:pPr indent="0" marL="0">
              <a:buNone/>
            </a:pPr>
            <a:r>
              <a:rPr lang="en-US" sz="3000" b="1" dirty="0">
                <a:solidFill>
                  <a:srgbClr val="0F2540"/>
                </a:solidFill>
                <a:latin typeface="Cambria" pitchFamily="34" charset="0"/>
                <a:ea typeface="Cambria" pitchFamily="34" charset="-122"/>
                <a:cs typeface="Cambria" pitchFamily="34" charset="-120"/>
              </a:rPr>
              <a:t>The Problem</a:t>
            </a:r>
            <a:endParaRPr lang="en-US" sz="3000" dirty="0"/>
          </a:p>
        </p:txBody>
      </p:sp>
      <p:sp>
        <p:nvSpPr>
          <p:cNvPr id="3" name="Shape 1"/>
          <p:cNvSpPr/>
          <p:nvPr/>
        </p:nvSpPr>
        <p:spPr>
          <a:xfrm>
            <a:off x="731520" y="1463040"/>
            <a:ext cx="10698480" cy="1920240"/>
          </a:xfrm>
          <a:prstGeom prst="roundRect">
            <a:avLst>
              <a:gd name="adj" fmla="val 5714"/>
            </a:avLst>
          </a:prstGeom>
          <a:solidFill>
            <a:srgbClr val="F4F7F8"/>
          </a:solidFill>
          <a:ln w="12700">
            <a:solidFill>
              <a:srgbClr val="C9D9E3"/>
            </a:solidFill>
            <a:prstDash val="solid"/>
          </a:ln>
        </p:spPr>
      </p:sp>
      <p:sp>
        <p:nvSpPr>
          <p:cNvPr id="4" name="Text 2"/>
          <p:cNvSpPr txBox="1"/>
          <p:nvPr/>
        </p:nvSpPr>
        <p:spPr>
          <a:xfrm>
            <a:off x="1097280" y="1691640"/>
            <a:ext cx="10058400" cy="457200"/>
          </a:xfrm>
          <a:prstGeom prst="rect">
            <a:avLst/>
          </a:prstGeom>
          <a:noFill/>
          <a:ln/>
        </p:spPr>
        <p:txBody>
          <a:bodyPr wrap="square" lIns="0" tIns="0" rIns="0" bIns="0" rtlCol="0" anchor="ctr"/>
          <a:lstStyle/>
          <a:p>
            <a:pPr indent="0" marL="0">
              <a:buNone/>
            </a:pPr>
            <a:r>
              <a:rPr lang="en-US" sz="1800" dirty="0">
                <a:solidFill>
                  <a:srgbClr val="3A4A5A"/>
                </a:solidFill>
                <a:latin typeface="Calibri" pitchFamily="34" charset="0"/>
                <a:ea typeface="Calibri" pitchFamily="34" charset="-122"/>
                <a:cs typeface="Calibri" pitchFamily="34" charset="-120"/>
              </a:rPr>
              <a:t>Most teams evaluate a RAG system by reading a few answers and asking:</a:t>
            </a:r>
            <a:endParaRPr lang="en-US" sz="1800" dirty="0"/>
          </a:p>
        </p:txBody>
      </p:sp>
      <p:sp>
        <p:nvSpPr>
          <p:cNvPr id="5" name="Text 3"/>
          <p:cNvSpPr txBox="1"/>
          <p:nvPr/>
        </p:nvSpPr>
        <p:spPr>
          <a:xfrm>
            <a:off x="1097280" y="2148840"/>
            <a:ext cx="10058400" cy="731520"/>
          </a:xfrm>
          <a:prstGeom prst="rect">
            <a:avLst/>
          </a:prstGeom>
          <a:noFill/>
          <a:ln/>
        </p:spPr>
        <p:txBody>
          <a:bodyPr wrap="square" lIns="0" tIns="0" rIns="0" bIns="0" rtlCol="0" anchor="ctr"/>
          <a:lstStyle/>
          <a:p>
            <a:pPr indent="0" marL="0">
              <a:buNone/>
            </a:pPr>
            <a:r>
              <a:rPr lang="en-US" sz="3000" b="1" i="1" dirty="0">
                <a:solidFill>
                  <a:srgbClr val="0F2540"/>
                </a:solidFill>
                <a:latin typeface="Cambria" pitchFamily="34" charset="0"/>
                <a:ea typeface="Cambria" pitchFamily="34" charset="-122"/>
                <a:cs typeface="Cambria" pitchFamily="34" charset="-120"/>
              </a:rPr>
              <a:t>"Does this sound right?"</a:t>
            </a:r>
            <a:endParaRPr lang="en-US" sz="3000" dirty="0"/>
          </a:p>
        </p:txBody>
      </p:sp>
      <p:sp>
        <p:nvSpPr>
          <p:cNvPr id="6" name="Text 4"/>
          <p:cNvSpPr txBox="1"/>
          <p:nvPr/>
        </p:nvSpPr>
        <p:spPr>
          <a:xfrm>
            <a:off x="1097280" y="2834640"/>
            <a:ext cx="10058400" cy="457200"/>
          </a:xfrm>
          <a:prstGeom prst="rect">
            <a:avLst/>
          </a:prstGeom>
          <a:noFill/>
          <a:ln/>
        </p:spPr>
        <p:txBody>
          <a:bodyPr wrap="square" lIns="0" tIns="0" rIns="0" bIns="0" rtlCol="0" anchor="ctr"/>
          <a:lstStyle/>
          <a:p>
            <a:pPr indent="0" marL="0">
              <a:buNone/>
            </a:pPr>
            <a:r>
              <a:rPr lang="en-US" sz="1600" dirty="0">
                <a:solidFill>
                  <a:srgbClr val="3A4A5A"/>
                </a:solidFill>
                <a:latin typeface="Calibri" pitchFamily="34" charset="0"/>
                <a:ea typeface="Calibri" pitchFamily="34" charset="-122"/>
                <a:cs typeface="Calibri" pitchFamily="34" charset="-120"/>
              </a:rPr>
              <a:t>That's a spot-check, not an evaluation -- and it misses exactly where RAG breaks.</a:t>
            </a:r>
            <a:endParaRPr lang="en-US" sz="1600" dirty="0"/>
          </a:p>
        </p:txBody>
      </p:sp>
      <p:sp>
        <p:nvSpPr>
          <p:cNvPr id="7" name="Shape 5"/>
          <p:cNvSpPr/>
          <p:nvPr/>
        </p:nvSpPr>
        <p:spPr>
          <a:xfrm>
            <a:off x="731520" y="3749040"/>
            <a:ext cx="5120640" cy="1371600"/>
          </a:xfrm>
          <a:prstGeom prst="roundRect">
            <a:avLst>
              <a:gd name="adj" fmla="val 6667"/>
            </a:avLst>
          </a:prstGeom>
          <a:solidFill>
            <a:srgbClr val="0F2540"/>
          </a:solidFill>
          <a:ln/>
        </p:spPr>
      </p:sp>
      <p:sp>
        <p:nvSpPr>
          <p:cNvPr id="8" name="Text 6"/>
          <p:cNvSpPr txBox="1"/>
          <p:nvPr/>
        </p:nvSpPr>
        <p:spPr>
          <a:xfrm>
            <a:off x="1005840" y="3886200"/>
            <a:ext cx="1828800" cy="822960"/>
          </a:xfrm>
          <a:prstGeom prst="rect">
            <a:avLst/>
          </a:prstGeom>
          <a:noFill/>
          <a:ln/>
        </p:spPr>
        <p:txBody>
          <a:bodyPr wrap="square" lIns="0" tIns="0" rIns="0" bIns="0" rtlCol="0" anchor="ctr"/>
          <a:lstStyle/>
          <a:p>
            <a:pPr indent="0" marL="0">
              <a:buNone/>
            </a:pPr>
            <a:r>
              <a:rPr lang="en-US" sz="4400" b="1" dirty="0">
                <a:solidFill>
                  <a:srgbClr val="8FD3C7"/>
                </a:solidFill>
                <a:latin typeface="Cambria" pitchFamily="34" charset="0"/>
                <a:ea typeface="Cambria" pitchFamily="34" charset="-122"/>
                <a:cs typeface="Cambria" pitchFamily="34" charset="-120"/>
              </a:rPr>
              <a:t>50%</a:t>
            </a:r>
            <a:endParaRPr lang="en-US" sz="4400" dirty="0"/>
          </a:p>
        </p:txBody>
      </p:sp>
      <p:sp>
        <p:nvSpPr>
          <p:cNvPr id="9" name="Text 7"/>
          <p:cNvSpPr txBox="1"/>
          <p:nvPr/>
        </p:nvSpPr>
        <p:spPr>
          <a:xfrm>
            <a:off x="2651760" y="3977640"/>
            <a:ext cx="3017520" cy="9144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of GenAI projects abandoned</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after proof-of-concept (Gartner)</a:t>
            </a:r>
            <a:endParaRPr lang="en-US" sz="1200" dirty="0"/>
          </a:p>
        </p:txBody>
      </p:sp>
      <p:sp>
        <p:nvSpPr>
          <p:cNvPr id="10" name="Shape 8"/>
          <p:cNvSpPr/>
          <p:nvPr/>
        </p:nvSpPr>
        <p:spPr>
          <a:xfrm>
            <a:off x="6309360" y="3749040"/>
            <a:ext cx="5120640" cy="1371600"/>
          </a:xfrm>
          <a:prstGeom prst="roundRect">
            <a:avLst>
              <a:gd name="adj" fmla="val 6667"/>
            </a:avLst>
          </a:prstGeom>
          <a:solidFill>
            <a:srgbClr val="0F2540"/>
          </a:solidFill>
          <a:ln/>
        </p:spPr>
      </p:sp>
      <p:sp>
        <p:nvSpPr>
          <p:cNvPr id="11" name="Text 9"/>
          <p:cNvSpPr txBox="1"/>
          <p:nvPr/>
        </p:nvSpPr>
        <p:spPr>
          <a:xfrm>
            <a:off x="6583680" y="3886200"/>
            <a:ext cx="1828800" cy="822960"/>
          </a:xfrm>
          <a:prstGeom prst="rect">
            <a:avLst/>
          </a:prstGeom>
          <a:noFill/>
          <a:ln/>
        </p:spPr>
        <p:txBody>
          <a:bodyPr wrap="square" lIns="0" tIns="0" rIns="0" bIns="0" rtlCol="0" anchor="ctr"/>
          <a:lstStyle/>
          <a:p>
            <a:pPr indent="0" marL="0">
              <a:buNone/>
            </a:pPr>
            <a:r>
              <a:rPr lang="en-US" sz="4400" b="1" dirty="0">
                <a:solidFill>
                  <a:srgbClr val="8FD3C7"/>
                </a:solidFill>
                <a:latin typeface="Cambria" pitchFamily="34" charset="0"/>
                <a:ea typeface="Cambria" pitchFamily="34" charset="-122"/>
                <a:cs typeface="Cambria" pitchFamily="34" charset="-120"/>
              </a:rPr>
              <a:t>95%</a:t>
            </a:r>
            <a:endParaRPr lang="en-US" sz="4400" dirty="0"/>
          </a:p>
        </p:txBody>
      </p:sp>
      <p:sp>
        <p:nvSpPr>
          <p:cNvPr id="12" name="Text 10"/>
          <p:cNvSpPr txBox="1"/>
          <p:nvPr/>
        </p:nvSpPr>
        <p:spPr>
          <a:xfrm>
            <a:off x="8229600" y="3977640"/>
            <a:ext cx="3017520" cy="9144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of orgs saw no P&amp;L return</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on GenAI pilots (MIT NANDA)</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57200"/>
            <a:ext cx="10058400" cy="640080"/>
          </a:xfrm>
          <a:prstGeom prst="rect">
            <a:avLst/>
          </a:prstGeom>
          <a:noFill/>
          <a:ln/>
        </p:spPr>
        <p:txBody>
          <a:bodyPr wrap="square" lIns="0" tIns="0" rIns="0" bIns="0" rtlCol="0" anchor="ctr"/>
          <a:lstStyle/>
          <a:p>
            <a:pPr indent="0" marL="0">
              <a:buNone/>
            </a:pPr>
            <a:r>
              <a:rPr lang="en-US" sz="2800" b="1" dirty="0">
                <a:solidFill>
                  <a:srgbClr val="0F2540"/>
                </a:solidFill>
                <a:latin typeface="Cambria" pitchFamily="34" charset="0"/>
                <a:ea typeface="Cambria" pitchFamily="34" charset="-122"/>
                <a:cs typeface="Cambria" pitchFamily="34" charset="-120"/>
              </a:rPr>
              <a:t>Four Checkpoints, Not One</a:t>
            </a:r>
            <a:endParaRPr lang="en-US" sz="2800" dirty="0"/>
          </a:p>
        </p:txBody>
      </p:sp>
      <p:sp>
        <p:nvSpPr>
          <p:cNvPr id="3" name="Shape 1"/>
          <p:cNvSpPr/>
          <p:nvPr/>
        </p:nvSpPr>
        <p:spPr>
          <a:xfrm>
            <a:off x="731520" y="1371600"/>
            <a:ext cx="640080" cy="640080"/>
          </a:xfrm>
          <a:prstGeom prst="ellipse">
            <a:avLst/>
          </a:prstGeom>
          <a:solidFill>
            <a:srgbClr val="0F2540"/>
          </a:solidFill>
          <a:ln/>
        </p:spPr>
      </p:sp>
      <p:sp>
        <p:nvSpPr>
          <p:cNvPr id="4" name="Text 2"/>
          <p:cNvSpPr txBox="1"/>
          <p:nvPr/>
        </p:nvSpPr>
        <p:spPr>
          <a:xfrm>
            <a:off x="731520" y="1371600"/>
            <a:ext cx="640080" cy="640080"/>
          </a:xfrm>
          <a:prstGeom prst="rect">
            <a:avLst/>
          </a:prstGeom>
          <a:noFill/>
          <a:ln/>
        </p:spPr>
        <p:txBody>
          <a:bodyPr wrap="square" lIns="0" tIns="0" rIns="0" bIns="0" rtlCol="0" anchor="ctr"/>
          <a:lstStyle/>
          <a:p>
            <a:pPr algn="ctr" indent="0" marL="0">
              <a:buNone/>
            </a:pPr>
            <a:r>
              <a:rPr lang="en-US" sz="2400" b="1" dirty="0">
                <a:solidFill>
                  <a:srgbClr val="8FD3C7"/>
                </a:solidFill>
                <a:latin typeface="Cambria" pitchFamily="34" charset="0"/>
                <a:ea typeface="Cambria" pitchFamily="34" charset="-122"/>
                <a:cs typeface="Cambria" pitchFamily="34" charset="-120"/>
              </a:rPr>
              <a:t>1</a:t>
            </a:r>
            <a:endParaRPr lang="en-US" sz="2400" dirty="0"/>
          </a:p>
        </p:txBody>
      </p:sp>
      <p:sp>
        <p:nvSpPr>
          <p:cNvPr id="5" name="Text 3"/>
          <p:cNvSpPr txBox="1"/>
          <p:nvPr/>
        </p:nvSpPr>
        <p:spPr>
          <a:xfrm>
            <a:off x="1645920" y="1325880"/>
            <a:ext cx="3657600" cy="457200"/>
          </a:xfrm>
          <a:prstGeom prst="rect">
            <a:avLst/>
          </a:prstGeom>
          <a:noFill/>
          <a:ln/>
        </p:spPr>
        <p:txBody>
          <a:bodyPr wrap="square" lIns="0" tIns="0" rIns="0" bIns="0" rtlCol="0" anchor="ctr"/>
          <a:lstStyle/>
          <a:p>
            <a:pPr indent="0" marL="0">
              <a:buNone/>
            </a:pPr>
            <a:r>
              <a:rPr lang="en-US" sz="1800" b="1" dirty="0">
                <a:solidFill>
                  <a:srgbClr val="0F2540"/>
                </a:solidFill>
                <a:latin typeface="Calibri" pitchFamily="34" charset="0"/>
                <a:ea typeface="Calibri" pitchFamily="34" charset="-122"/>
                <a:cs typeface="Calibri" pitchFamily="34" charset="-120"/>
              </a:rPr>
              <a:t>Retrieval Quality</a:t>
            </a:r>
            <a:endParaRPr lang="en-US" sz="1800" dirty="0"/>
          </a:p>
        </p:txBody>
      </p:sp>
      <p:sp>
        <p:nvSpPr>
          <p:cNvPr id="6" name="Text 4"/>
          <p:cNvSpPr txBox="1"/>
          <p:nvPr/>
        </p:nvSpPr>
        <p:spPr>
          <a:xfrm>
            <a:off x="1645920" y="1737360"/>
            <a:ext cx="9326880" cy="457200"/>
          </a:xfrm>
          <a:prstGeom prst="rect">
            <a:avLst/>
          </a:prstGeom>
          <a:noFill/>
          <a:ln/>
        </p:spPr>
        <p:txBody>
          <a:bodyPr wrap="square" lIns="0" tIns="0" rIns="0" bIns="0" rtlCol="0" anchor="ctr"/>
          <a:lstStyle/>
          <a:p>
            <a:pPr indent="0" marL="0">
              <a:buNone/>
            </a:pPr>
            <a:r>
              <a:rPr lang="en-US" sz="1300" dirty="0">
                <a:solidFill>
                  <a:srgbClr val="3A4A5A"/>
                </a:solidFill>
                <a:latin typeface="Calibri" pitchFamily="34" charset="0"/>
                <a:ea typeface="Calibri" pitchFamily="34" charset="-122"/>
                <a:cs typeface="Calibri" pitchFamily="34" charset="-120"/>
              </a:rPr>
              <a:t>Recall@k, precision@k, NDCG -- did it find the right documents at all?</a:t>
            </a:r>
            <a:endParaRPr lang="en-US" sz="1300" dirty="0"/>
          </a:p>
        </p:txBody>
      </p:sp>
      <p:sp>
        <p:nvSpPr>
          <p:cNvPr id="7" name="Shape 5"/>
          <p:cNvSpPr/>
          <p:nvPr/>
        </p:nvSpPr>
        <p:spPr>
          <a:xfrm>
            <a:off x="731520" y="2423160"/>
            <a:ext cx="640080" cy="640080"/>
          </a:xfrm>
          <a:prstGeom prst="ellipse">
            <a:avLst/>
          </a:prstGeom>
          <a:solidFill>
            <a:srgbClr val="0F2540"/>
          </a:solidFill>
          <a:ln/>
        </p:spPr>
      </p:sp>
      <p:sp>
        <p:nvSpPr>
          <p:cNvPr id="8" name="Text 6"/>
          <p:cNvSpPr txBox="1"/>
          <p:nvPr/>
        </p:nvSpPr>
        <p:spPr>
          <a:xfrm>
            <a:off x="731520" y="2423160"/>
            <a:ext cx="640080" cy="640080"/>
          </a:xfrm>
          <a:prstGeom prst="rect">
            <a:avLst/>
          </a:prstGeom>
          <a:noFill/>
          <a:ln/>
        </p:spPr>
        <p:txBody>
          <a:bodyPr wrap="square" lIns="0" tIns="0" rIns="0" bIns="0" rtlCol="0" anchor="ctr"/>
          <a:lstStyle/>
          <a:p>
            <a:pPr algn="ctr" indent="0" marL="0">
              <a:buNone/>
            </a:pPr>
            <a:r>
              <a:rPr lang="en-US" sz="2400" b="1" dirty="0">
                <a:solidFill>
                  <a:srgbClr val="8FD3C7"/>
                </a:solidFill>
                <a:latin typeface="Cambria" pitchFamily="34" charset="0"/>
                <a:ea typeface="Cambria" pitchFamily="34" charset="-122"/>
                <a:cs typeface="Cambria" pitchFamily="34" charset="-120"/>
              </a:rPr>
              <a:t>2</a:t>
            </a:r>
            <a:endParaRPr lang="en-US" sz="2400" dirty="0"/>
          </a:p>
        </p:txBody>
      </p:sp>
      <p:sp>
        <p:nvSpPr>
          <p:cNvPr id="9" name="Text 7"/>
          <p:cNvSpPr txBox="1"/>
          <p:nvPr/>
        </p:nvSpPr>
        <p:spPr>
          <a:xfrm>
            <a:off x="1645920" y="2377440"/>
            <a:ext cx="3657600" cy="457200"/>
          </a:xfrm>
          <a:prstGeom prst="rect">
            <a:avLst/>
          </a:prstGeom>
          <a:noFill/>
          <a:ln/>
        </p:spPr>
        <p:txBody>
          <a:bodyPr wrap="square" lIns="0" tIns="0" rIns="0" bIns="0" rtlCol="0" anchor="ctr"/>
          <a:lstStyle/>
          <a:p>
            <a:pPr indent="0" marL="0">
              <a:buNone/>
            </a:pPr>
            <a:r>
              <a:rPr lang="en-US" sz="1800" b="1" dirty="0">
                <a:solidFill>
                  <a:srgbClr val="0F2540"/>
                </a:solidFill>
                <a:latin typeface="Calibri" pitchFamily="34" charset="0"/>
                <a:ea typeface="Calibri" pitchFamily="34" charset="-122"/>
                <a:cs typeface="Calibri" pitchFamily="34" charset="-120"/>
              </a:rPr>
              <a:t>Faithfulness</a:t>
            </a:r>
            <a:endParaRPr lang="en-US" sz="1800" dirty="0"/>
          </a:p>
        </p:txBody>
      </p:sp>
      <p:sp>
        <p:nvSpPr>
          <p:cNvPr id="10" name="Text 8"/>
          <p:cNvSpPr txBox="1"/>
          <p:nvPr/>
        </p:nvSpPr>
        <p:spPr>
          <a:xfrm>
            <a:off x="1645920" y="2788920"/>
            <a:ext cx="9326880" cy="457200"/>
          </a:xfrm>
          <a:prstGeom prst="rect">
            <a:avLst/>
          </a:prstGeom>
          <a:noFill/>
          <a:ln/>
        </p:spPr>
        <p:txBody>
          <a:bodyPr wrap="square" lIns="0" tIns="0" rIns="0" bIns="0" rtlCol="0" anchor="ctr"/>
          <a:lstStyle/>
          <a:p>
            <a:pPr indent="0" marL="0">
              <a:buNone/>
            </a:pPr>
            <a:r>
              <a:rPr lang="en-US" sz="1300" dirty="0">
                <a:solidFill>
                  <a:srgbClr val="3A4A5A"/>
                </a:solidFill>
                <a:latin typeface="Calibri" pitchFamily="34" charset="0"/>
                <a:ea typeface="Calibri" pitchFamily="34" charset="-122"/>
                <a:cs typeface="Calibri" pitchFamily="34" charset="-120"/>
              </a:rPr>
              <a:t>Is every claim in the answer traceable back to the retrieved context?</a:t>
            </a:r>
            <a:endParaRPr lang="en-US" sz="1300" dirty="0"/>
          </a:p>
        </p:txBody>
      </p:sp>
      <p:sp>
        <p:nvSpPr>
          <p:cNvPr id="11" name="Shape 9"/>
          <p:cNvSpPr/>
          <p:nvPr/>
        </p:nvSpPr>
        <p:spPr>
          <a:xfrm>
            <a:off x="731520" y="3474720"/>
            <a:ext cx="640080" cy="640080"/>
          </a:xfrm>
          <a:prstGeom prst="ellipse">
            <a:avLst/>
          </a:prstGeom>
          <a:solidFill>
            <a:srgbClr val="0F2540"/>
          </a:solidFill>
          <a:ln/>
        </p:spPr>
      </p:sp>
      <p:sp>
        <p:nvSpPr>
          <p:cNvPr id="12" name="Text 10"/>
          <p:cNvSpPr txBox="1"/>
          <p:nvPr/>
        </p:nvSpPr>
        <p:spPr>
          <a:xfrm>
            <a:off x="731520" y="3474720"/>
            <a:ext cx="640080" cy="640080"/>
          </a:xfrm>
          <a:prstGeom prst="rect">
            <a:avLst/>
          </a:prstGeom>
          <a:noFill/>
          <a:ln/>
        </p:spPr>
        <p:txBody>
          <a:bodyPr wrap="square" lIns="0" tIns="0" rIns="0" bIns="0" rtlCol="0" anchor="ctr"/>
          <a:lstStyle/>
          <a:p>
            <a:pPr algn="ctr" indent="0" marL="0">
              <a:buNone/>
            </a:pPr>
            <a:r>
              <a:rPr lang="en-US" sz="2400" b="1" dirty="0">
                <a:solidFill>
                  <a:srgbClr val="8FD3C7"/>
                </a:solidFill>
                <a:latin typeface="Cambria" pitchFamily="34" charset="0"/>
                <a:ea typeface="Cambria" pitchFamily="34" charset="-122"/>
                <a:cs typeface="Cambria" pitchFamily="34" charset="-120"/>
              </a:rPr>
              <a:t>3</a:t>
            </a:r>
            <a:endParaRPr lang="en-US" sz="2400" dirty="0"/>
          </a:p>
        </p:txBody>
      </p:sp>
      <p:sp>
        <p:nvSpPr>
          <p:cNvPr id="13" name="Text 11"/>
          <p:cNvSpPr txBox="1"/>
          <p:nvPr/>
        </p:nvSpPr>
        <p:spPr>
          <a:xfrm>
            <a:off x="1645920" y="3429000"/>
            <a:ext cx="3657600" cy="457200"/>
          </a:xfrm>
          <a:prstGeom prst="rect">
            <a:avLst/>
          </a:prstGeom>
          <a:noFill/>
          <a:ln/>
        </p:spPr>
        <p:txBody>
          <a:bodyPr wrap="square" lIns="0" tIns="0" rIns="0" bIns="0" rtlCol="0" anchor="ctr"/>
          <a:lstStyle/>
          <a:p>
            <a:pPr indent="0" marL="0">
              <a:buNone/>
            </a:pPr>
            <a:r>
              <a:rPr lang="en-US" sz="1800" b="1" dirty="0">
                <a:solidFill>
                  <a:srgbClr val="0F2540"/>
                </a:solidFill>
                <a:latin typeface="Calibri" pitchFamily="34" charset="0"/>
                <a:ea typeface="Calibri" pitchFamily="34" charset="-122"/>
                <a:cs typeface="Calibri" pitchFamily="34" charset="-120"/>
              </a:rPr>
              <a:t>Hallucination Rate</a:t>
            </a:r>
            <a:endParaRPr lang="en-US" sz="1800" dirty="0"/>
          </a:p>
        </p:txBody>
      </p:sp>
      <p:sp>
        <p:nvSpPr>
          <p:cNvPr id="14" name="Text 12"/>
          <p:cNvSpPr txBox="1"/>
          <p:nvPr/>
        </p:nvSpPr>
        <p:spPr>
          <a:xfrm>
            <a:off x="1645920" y="3840480"/>
            <a:ext cx="9326880" cy="457200"/>
          </a:xfrm>
          <a:prstGeom prst="rect">
            <a:avLst/>
          </a:prstGeom>
          <a:noFill/>
          <a:ln/>
        </p:spPr>
        <p:txBody>
          <a:bodyPr wrap="square" lIns="0" tIns="0" rIns="0" bIns="0" rtlCol="0" anchor="ctr"/>
          <a:lstStyle/>
          <a:p>
            <a:pPr indent="0" marL="0">
              <a:buNone/>
            </a:pPr>
            <a:r>
              <a:rPr lang="en-US" sz="1300" dirty="0">
                <a:solidFill>
                  <a:srgbClr val="3A4A5A"/>
                </a:solidFill>
                <a:latin typeface="Calibri" pitchFamily="34" charset="0"/>
                <a:ea typeface="Calibri" pitchFamily="34" charset="-122"/>
                <a:cs typeface="Calibri" pitchFamily="34" charset="-120"/>
              </a:rPr>
              <a:t>Did it invent a fact, name, or number that appears nowhere in the source?</a:t>
            </a:r>
            <a:endParaRPr lang="en-US" sz="1300" dirty="0"/>
          </a:p>
        </p:txBody>
      </p:sp>
      <p:sp>
        <p:nvSpPr>
          <p:cNvPr id="15" name="Shape 13"/>
          <p:cNvSpPr/>
          <p:nvPr/>
        </p:nvSpPr>
        <p:spPr>
          <a:xfrm>
            <a:off x="731520" y="4526280"/>
            <a:ext cx="640080" cy="640080"/>
          </a:xfrm>
          <a:prstGeom prst="ellipse">
            <a:avLst/>
          </a:prstGeom>
          <a:solidFill>
            <a:srgbClr val="0F2540"/>
          </a:solidFill>
          <a:ln/>
        </p:spPr>
      </p:sp>
      <p:sp>
        <p:nvSpPr>
          <p:cNvPr id="16" name="Text 14"/>
          <p:cNvSpPr txBox="1"/>
          <p:nvPr/>
        </p:nvSpPr>
        <p:spPr>
          <a:xfrm>
            <a:off x="731520" y="4526280"/>
            <a:ext cx="640080" cy="640080"/>
          </a:xfrm>
          <a:prstGeom prst="rect">
            <a:avLst/>
          </a:prstGeom>
          <a:noFill/>
          <a:ln/>
        </p:spPr>
        <p:txBody>
          <a:bodyPr wrap="square" lIns="0" tIns="0" rIns="0" bIns="0" rtlCol="0" anchor="ctr"/>
          <a:lstStyle/>
          <a:p>
            <a:pPr algn="ctr" indent="0" marL="0">
              <a:buNone/>
            </a:pPr>
            <a:r>
              <a:rPr lang="en-US" sz="2400" b="1" dirty="0">
                <a:solidFill>
                  <a:srgbClr val="8FD3C7"/>
                </a:solidFill>
                <a:latin typeface="Cambria" pitchFamily="34" charset="0"/>
                <a:ea typeface="Cambria" pitchFamily="34" charset="-122"/>
                <a:cs typeface="Cambria" pitchFamily="34" charset="-120"/>
              </a:rPr>
              <a:t>4</a:t>
            </a:r>
            <a:endParaRPr lang="en-US" sz="2400" dirty="0"/>
          </a:p>
        </p:txBody>
      </p:sp>
      <p:sp>
        <p:nvSpPr>
          <p:cNvPr id="17" name="Text 15"/>
          <p:cNvSpPr txBox="1"/>
          <p:nvPr/>
        </p:nvSpPr>
        <p:spPr>
          <a:xfrm>
            <a:off x="1645920" y="4480560"/>
            <a:ext cx="3657600" cy="457200"/>
          </a:xfrm>
          <a:prstGeom prst="rect">
            <a:avLst/>
          </a:prstGeom>
          <a:noFill/>
          <a:ln/>
        </p:spPr>
        <p:txBody>
          <a:bodyPr wrap="square" lIns="0" tIns="0" rIns="0" bIns="0" rtlCol="0" anchor="ctr"/>
          <a:lstStyle/>
          <a:p>
            <a:pPr indent="0" marL="0">
              <a:buNone/>
            </a:pPr>
            <a:r>
              <a:rPr lang="en-US" sz="1800" b="1" dirty="0">
                <a:solidFill>
                  <a:srgbClr val="0F2540"/>
                </a:solidFill>
                <a:latin typeface="Calibri" pitchFamily="34" charset="0"/>
                <a:ea typeface="Calibri" pitchFamily="34" charset="-122"/>
                <a:cs typeface="Calibri" pitchFamily="34" charset="-120"/>
              </a:rPr>
              <a:t>Production Drift</a:t>
            </a:r>
            <a:endParaRPr lang="en-US" sz="1800" dirty="0"/>
          </a:p>
        </p:txBody>
      </p:sp>
      <p:sp>
        <p:nvSpPr>
          <p:cNvPr id="18" name="Text 16"/>
          <p:cNvSpPr txBox="1"/>
          <p:nvPr/>
        </p:nvSpPr>
        <p:spPr>
          <a:xfrm>
            <a:off x="1645920" y="4892040"/>
            <a:ext cx="9326880" cy="457200"/>
          </a:xfrm>
          <a:prstGeom prst="rect">
            <a:avLst/>
          </a:prstGeom>
          <a:noFill/>
          <a:ln/>
        </p:spPr>
        <p:txBody>
          <a:bodyPr wrap="square" lIns="0" tIns="0" rIns="0" bIns="0" rtlCol="0" anchor="ctr"/>
          <a:lstStyle/>
          <a:p>
            <a:pPr indent="0" marL="0">
              <a:buNone/>
            </a:pPr>
            <a:r>
              <a:rPr lang="en-US" sz="1300" dirty="0">
                <a:solidFill>
                  <a:srgbClr val="3A4A5A"/>
                </a:solidFill>
                <a:latin typeface="Calibri" pitchFamily="34" charset="0"/>
                <a:ea typeface="Calibri" pitchFamily="34" charset="-122"/>
                <a:cs typeface="Calibri" pitchFamily="34" charset="-120"/>
              </a:rPr>
              <a:t>Does quality hold up after launch, as embeddings and queries shift?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2540"/>
        </a:solidFill>
      </p:bgPr>
    </p:bg>
    <p:spTree>
      <p:nvGrpSpPr>
        <p:cNvPr id="1" name=""/>
        <p:cNvGrpSpPr/>
        <p:nvPr/>
      </p:nvGrpSpPr>
      <p:grpSpPr>
        <a:xfrm>
          <a:off x="0" y="0"/>
          <a:ext cx="0" cy="0"/>
          <a:chOff x="0" y="0"/>
          <a:chExt cx="0" cy="0"/>
        </a:xfrm>
      </p:grpSpPr>
      <p:sp>
        <p:nvSpPr>
          <p:cNvPr id="2" name="Text 0"/>
          <p:cNvSpPr txBox="1"/>
          <p:nvPr/>
        </p:nvSpPr>
        <p:spPr>
          <a:xfrm>
            <a:off x="731520" y="457200"/>
            <a:ext cx="1005840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Why It Degrades After Launch</a:t>
            </a:r>
            <a:endParaRPr lang="en-US" sz="2800" dirty="0"/>
          </a:p>
        </p:txBody>
      </p:sp>
      <p:sp>
        <p:nvSpPr>
          <p:cNvPr id="3" name="Shape 1"/>
          <p:cNvSpPr/>
          <p:nvPr/>
        </p:nvSpPr>
        <p:spPr>
          <a:xfrm>
            <a:off x="731520" y="1554480"/>
            <a:ext cx="5029200" cy="1554480"/>
          </a:xfrm>
          <a:prstGeom prst="roundRect">
            <a:avLst>
              <a:gd name="adj" fmla="val 5882"/>
            </a:avLst>
          </a:prstGeom>
          <a:solidFill>
            <a:srgbClr val="132C4A"/>
          </a:solidFill>
          <a:ln/>
        </p:spPr>
      </p:sp>
      <p:sp>
        <p:nvSpPr>
          <p:cNvPr id="4" name="Text 2"/>
          <p:cNvSpPr txBox="1"/>
          <p:nvPr/>
        </p:nvSpPr>
        <p:spPr>
          <a:xfrm>
            <a:off x="1005840" y="1737360"/>
            <a:ext cx="4572000" cy="457200"/>
          </a:xfrm>
          <a:prstGeom prst="rect">
            <a:avLst/>
          </a:prstGeom>
          <a:noFill/>
          <a:ln/>
        </p:spPr>
        <p:txBody>
          <a:bodyPr wrap="square" lIns="0" tIns="0" rIns="0" bIns="0" rtlCol="0" anchor="ctr"/>
          <a:lstStyle/>
          <a:p>
            <a:pPr indent="0" marL="0">
              <a:buNone/>
            </a:pPr>
            <a:r>
              <a:rPr lang="en-US" sz="1700" b="1" dirty="0">
                <a:solidFill>
                  <a:srgbClr val="8FD3C7"/>
                </a:solidFill>
                <a:latin typeface="Calibri" pitchFamily="34" charset="0"/>
                <a:ea typeface="Calibri" pitchFamily="34" charset="-122"/>
                <a:cs typeface="Calibri" pitchFamily="34" charset="-120"/>
              </a:rPr>
              <a:t>Embedding drift</a:t>
            </a:r>
            <a:endParaRPr lang="en-US" sz="1700" dirty="0"/>
          </a:p>
        </p:txBody>
      </p:sp>
      <p:sp>
        <p:nvSpPr>
          <p:cNvPr id="5" name="Text 3"/>
          <p:cNvSpPr txBox="1"/>
          <p:nvPr/>
        </p:nvSpPr>
        <p:spPr>
          <a:xfrm>
            <a:off x="1005840" y="2194560"/>
            <a:ext cx="4572000" cy="822960"/>
          </a:xfrm>
          <a:prstGeom prst="rect">
            <a:avLst/>
          </a:prstGeom>
          <a:noFill/>
          <a:ln/>
        </p:spPr>
        <p:txBody>
          <a:bodyPr wrap="square" lIns="0" tIns="0" rIns="0" bIns="0" rtlCol="0" anchor="ctr"/>
          <a:lstStyle/>
          <a:p>
            <a:pPr indent="0" marL="0">
              <a:buNone/>
            </a:pPr>
            <a:r>
              <a:rPr lang="en-US" sz="1300" dirty="0">
                <a:solidFill>
                  <a:srgbClr val="C9D9E3"/>
                </a:solidFill>
                <a:latin typeface="Calibri" pitchFamily="34" charset="0"/>
                <a:ea typeface="Calibri" pitchFamily="34" charset="-122"/>
                <a:cs typeface="Calibri" pitchFamily="34" charset="-120"/>
              </a:rPr>
              <a:t>New queries and old documents fall out of a comparable vector space.</a:t>
            </a:r>
            <a:endParaRPr lang="en-US" sz="1300" dirty="0"/>
          </a:p>
        </p:txBody>
      </p:sp>
      <p:sp>
        <p:nvSpPr>
          <p:cNvPr id="6" name="Shape 4"/>
          <p:cNvSpPr/>
          <p:nvPr/>
        </p:nvSpPr>
        <p:spPr>
          <a:xfrm>
            <a:off x="731520" y="3337560"/>
            <a:ext cx="5029200" cy="1554480"/>
          </a:xfrm>
          <a:prstGeom prst="roundRect">
            <a:avLst>
              <a:gd name="adj" fmla="val 5882"/>
            </a:avLst>
          </a:prstGeom>
          <a:solidFill>
            <a:srgbClr val="132C4A"/>
          </a:solidFill>
          <a:ln/>
        </p:spPr>
      </p:sp>
      <p:sp>
        <p:nvSpPr>
          <p:cNvPr id="7" name="Text 5"/>
          <p:cNvSpPr txBox="1"/>
          <p:nvPr/>
        </p:nvSpPr>
        <p:spPr>
          <a:xfrm>
            <a:off x="1005840" y="3520440"/>
            <a:ext cx="4572000" cy="457200"/>
          </a:xfrm>
          <a:prstGeom prst="rect">
            <a:avLst/>
          </a:prstGeom>
          <a:noFill/>
          <a:ln/>
        </p:spPr>
        <p:txBody>
          <a:bodyPr wrap="square" lIns="0" tIns="0" rIns="0" bIns="0" rtlCol="0" anchor="ctr"/>
          <a:lstStyle/>
          <a:p>
            <a:pPr indent="0" marL="0">
              <a:buNone/>
            </a:pPr>
            <a:r>
              <a:rPr lang="en-US" sz="1700" b="1" dirty="0">
                <a:solidFill>
                  <a:srgbClr val="8FD3C7"/>
                </a:solidFill>
                <a:latin typeface="Calibri" pitchFamily="34" charset="0"/>
                <a:ea typeface="Calibri" pitchFamily="34" charset="-122"/>
                <a:cs typeface="Calibri" pitchFamily="34" charset="-120"/>
              </a:rPr>
              <a:t>Index staleness</a:t>
            </a:r>
            <a:endParaRPr lang="en-US" sz="1700" dirty="0"/>
          </a:p>
        </p:txBody>
      </p:sp>
      <p:sp>
        <p:nvSpPr>
          <p:cNvPr id="8" name="Text 6"/>
          <p:cNvSpPr txBox="1"/>
          <p:nvPr/>
        </p:nvSpPr>
        <p:spPr>
          <a:xfrm>
            <a:off x="1005840" y="3977640"/>
            <a:ext cx="4572000" cy="822960"/>
          </a:xfrm>
          <a:prstGeom prst="rect">
            <a:avLst/>
          </a:prstGeom>
          <a:noFill/>
          <a:ln/>
        </p:spPr>
        <p:txBody>
          <a:bodyPr wrap="square" lIns="0" tIns="0" rIns="0" bIns="0" rtlCol="0" anchor="ctr"/>
          <a:lstStyle/>
          <a:p>
            <a:pPr indent="0" marL="0">
              <a:buNone/>
            </a:pPr>
            <a:r>
              <a:rPr lang="en-US" sz="1300" dirty="0">
                <a:solidFill>
                  <a:srgbClr val="C9D9E3"/>
                </a:solidFill>
                <a:latin typeface="Calibri" pitchFamily="34" charset="0"/>
                <a:ea typeface="Calibri" pitchFamily="34" charset="-122"/>
                <a:cs typeface="Calibri" pitchFamily="34" charset="-120"/>
              </a:rPr>
              <a:t>Source docs change; the vector index doesn't get refreshed to match.</a:t>
            </a:r>
            <a:endParaRPr lang="en-US" sz="1300" dirty="0"/>
          </a:p>
        </p:txBody>
      </p:sp>
      <p:sp>
        <p:nvSpPr>
          <p:cNvPr id="9" name="Shape 7"/>
          <p:cNvSpPr/>
          <p:nvPr/>
        </p:nvSpPr>
        <p:spPr>
          <a:xfrm>
            <a:off x="6035040" y="1554480"/>
            <a:ext cx="5029200" cy="1554480"/>
          </a:xfrm>
          <a:prstGeom prst="roundRect">
            <a:avLst>
              <a:gd name="adj" fmla="val 5882"/>
            </a:avLst>
          </a:prstGeom>
          <a:solidFill>
            <a:srgbClr val="132C4A"/>
          </a:solidFill>
          <a:ln/>
        </p:spPr>
      </p:sp>
      <p:sp>
        <p:nvSpPr>
          <p:cNvPr id="10" name="Text 8"/>
          <p:cNvSpPr txBox="1"/>
          <p:nvPr/>
        </p:nvSpPr>
        <p:spPr>
          <a:xfrm>
            <a:off x="6309360" y="1737360"/>
            <a:ext cx="4572000" cy="457200"/>
          </a:xfrm>
          <a:prstGeom prst="rect">
            <a:avLst/>
          </a:prstGeom>
          <a:noFill/>
          <a:ln/>
        </p:spPr>
        <p:txBody>
          <a:bodyPr wrap="square" lIns="0" tIns="0" rIns="0" bIns="0" rtlCol="0" anchor="ctr"/>
          <a:lstStyle/>
          <a:p>
            <a:pPr indent="0" marL="0">
              <a:buNone/>
            </a:pPr>
            <a:r>
              <a:rPr lang="en-US" sz="1700" b="1" dirty="0">
                <a:solidFill>
                  <a:srgbClr val="8FD3C7"/>
                </a:solidFill>
                <a:latin typeface="Calibri" pitchFamily="34" charset="0"/>
                <a:ea typeface="Calibri" pitchFamily="34" charset="-122"/>
                <a:cs typeface="Calibri" pitchFamily="34" charset="-120"/>
              </a:rPr>
              <a:t>Query-distribution shift</a:t>
            </a:r>
            <a:endParaRPr lang="en-US" sz="1700" dirty="0"/>
          </a:p>
        </p:txBody>
      </p:sp>
      <p:sp>
        <p:nvSpPr>
          <p:cNvPr id="11" name="Text 9"/>
          <p:cNvSpPr txBox="1"/>
          <p:nvPr/>
        </p:nvSpPr>
        <p:spPr>
          <a:xfrm>
            <a:off x="6309360" y="2194560"/>
            <a:ext cx="4572000" cy="822960"/>
          </a:xfrm>
          <a:prstGeom prst="rect">
            <a:avLst/>
          </a:prstGeom>
          <a:noFill/>
          <a:ln/>
        </p:spPr>
        <p:txBody>
          <a:bodyPr wrap="square" lIns="0" tIns="0" rIns="0" bIns="0" rtlCol="0" anchor="ctr"/>
          <a:lstStyle/>
          <a:p>
            <a:pPr indent="0" marL="0">
              <a:buNone/>
            </a:pPr>
            <a:r>
              <a:rPr lang="en-US" sz="1300" dirty="0">
                <a:solidFill>
                  <a:srgbClr val="C9D9E3"/>
                </a:solidFill>
                <a:latin typeface="Calibri" pitchFamily="34" charset="0"/>
                <a:ea typeface="Calibri" pitchFamily="34" charset="-122"/>
                <a:cs typeface="Calibri" pitchFamily="34" charset="-120"/>
              </a:rPr>
              <a:t>Real users phrase things differently than your test queries.</a:t>
            </a:r>
            <a:endParaRPr lang="en-US" sz="1300" dirty="0"/>
          </a:p>
        </p:txBody>
      </p:sp>
      <p:sp>
        <p:nvSpPr>
          <p:cNvPr id="12" name="Shape 10"/>
          <p:cNvSpPr/>
          <p:nvPr/>
        </p:nvSpPr>
        <p:spPr>
          <a:xfrm>
            <a:off x="6035040" y="3337560"/>
            <a:ext cx="5029200" cy="1554480"/>
          </a:xfrm>
          <a:prstGeom prst="roundRect">
            <a:avLst>
              <a:gd name="adj" fmla="val 5882"/>
            </a:avLst>
          </a:prstGeom>
          <a:solidFill>
            <a:srgbClr val="132C4A"/>
          </a:solidFill>
          <a:ln/>
        </p:spPr>
      </p:sp>
      <p:sp>
        <p:nvSpPr>
          <p:cNvPr id="13" name="Text 11"/>
          <p:cNvSpPr txBox="1"/>
          <p:nvPr/>
        </p:nvSpPr>
        <p:spPr>
          <a:xfrm>
            <a:off x="6309360" y="3520440"/>
            <a:ext cx="4572000" cy="457200"/>
          </a:xfrm>
          <a:prstGeom prst="rect">
            <a:avLst/>
          </a:prstGeom>
          <a:noFill/>
          <a:ln/>
        </p:spPr>
        <p:txBody>
          <a:bodyPr wrap="square" lIns="0" tIns="0" rIns="0" bIns="0" rtlCol="0" anchor="ctr"/>
          <a:lstStyle/>
          <a:p>
            <a:pPr indent="0" marL="0">
              <a:buNone/>
            </a:pPr>
            <a:r>
              <a:rPr lang="en-US" sz="1700" b="1" dirty="0">
                <a:solidFill>
                  <a:srgbClr val="8FD3C7"/>
                </a:solidFill>
                <a:latin typeface="Calibri" pitchFamily="34" charset="0"/>
                <a:ea typeface="Calibri" pitchFamily="34" charset="-122"/>
                <a:cs typeface="Calibri" pitchFamily="34" charset="-120"/>
              </a:rPr>
              <a:t>Corpus poisoning</a:t>
            </a:r>
            <a:endParaRPr lang="en-US" sz="1700" dirty="0"/>
          </a:p>
        </p:txBody>
      </p:sp>
      <p:sp>
        <p:nvSpPr>
          <p:cNvPr id="14" name="Text 12"/>
          <p:cNvSpPr txBox="1"/>
          <p:nvPr/>
        </p:nvSpPr>
        <p:spPr>
          <a:xfrm>
            <a:off x="6309360" y="3977640"/>
            <a:ext cx="4572000" cy="822960"/>
          </a:xfrm>
          <a:prstGeom prst="rect">
            <a:avLst/>
          </a:prstGeom>
          <a:noFill/>
          <a:ln/>
        </p:spPr>
        <p:txBody>
          <a:bodyPr wrap="square" lIns="0" tIns="0" rIns="0" bIns="0" rtlCol="0" anchor="ctr"/>
          <a:lstStyle/>
          <a:p>
            <a:pPr indent="0" marL="0">
              <a:buNone/>
            </a:pPr>
            <a:r>
              <a:rPr lang="en-US" sz="1300" dirty="0">
                <a:solidFill>
                  <a:srgbClr val="C9D9E3"/>
                </a:solidFill>
                <a:latin typeface="Calibri" pitchFamily="34" charset="0"/>
                <a:ea typeface="Calibri" pitchFamily="34" charset="-122"/>
                <a:cs typeface="Calibri" pitchFamily="34" charset="-120"/>
              </a:rPr>
              <a:t>Unvetted content gets ingested and treated as ground truth.</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57200"/>
            <a:ext cx="10058400" cy="640080"/>
          </a:xfrm>
          <a:prstGeom prst="rect">
            <a:avLst/>
          </a:prstGeom>
          <a:noFill/>
          <a:ln/>
        </p:spPr>
        <p:txBody>
          <a:bodyPr wrap="square" lIns="0" tIns="0" rIns="0" bIns="0" rtlCol="0" anchor="ctr"/>
          <a:lstStyle/>
          <a:p>
            <a:pPr indent="0" marL="0">
              <a:buNone/>
            </a:pPr>
            <a:r>
              <a:rPr lang="en-US" sz="2800" b="1" dirty="0">
                <a:solidFill>
                  <a:srgbClr val="0F2540"/>
                </a:solidFill>
                <a:latin typeface="Cambria" pitchFamily="34" charset="0"/>
                <a:ea typeface="Cambria" pitchFamily="34" charset="-122"/>
                <a:cs typeface="Cambria" pitchFamily="34" charset="-120"/>
              </a:rPr>
              <a:t>Key Takeaways</a:t>
            </a:r>
            <a:endParaRPr lang="en-US" sz="2800" dirty="0"/>
          </a:p>
        </p:txBody>
      </p:sp>
      <p:sp>
        <p:nvSpPr>
          <p:cNvPr id="3" name="Shape 1"/>
          <p:cNvSpPr/>
          <p:nvPr/>
        </p:nvSpPr>
        <p:spPr>
          <a:xfrm>
            <a:off x="731520" y="1371600"/>
            <a:ext cx="10698480" cy="4206240"/>
          </a:xfrm>
          <a:prstGeom prst="roundRect">
            <a:avLst>
              <a:gd name="adj" fmla="val 2609"/>
            </a:avLst>
          </a:prstGeom>
          <a:solidFill>
            <a:srgbClr val="F4F7F8"/>
          </a:solidFill>
          <a:ln w="12700">
            <a:solidFill>
              <a:srgbClr val="C9D9E3"/>
            </a:solidFill>
            <a:prstDash val="solid"/>
          </a:ln>
        </p:spPr>
      </p:sp>
      <p:sp>
        <p:nvSpPr>
          <p:cNvPr id="4" name="Text 2"/>
          <p:cNvSpPr txBox="1"/>
          <p:nvPr/>
        </p:nvSpPr>
        <p:spPr>
          <a:xfrm>
            <a:off x="1188720" y="1691640"/>
            <a:ext cx="9784080" cy="3657600"/>
          </a:xfrm>
          <a:prstGeom prst="rect">
            <a:avLst/>
          </a:prstGeom>
          <a:noFill/>
          <a:ln/>
        </p:spPr>
        <p:txBody>
          <a:bodyPr wrap="square" lIns="0" tIns="0" rIns="0" bIns="0" rtlCol="0" anchor="ctr"/>
          <a:lstStyle/>
          <a:p>
            <a:pPr marL="342900" indent="-342900">
              <a:spcAft>
                <a:spcPts val="1800"/>
              </a:spcAft>
              <a:buSzPct val="100000"/>
              <a:buChar char="•"/>
            </a:pPr>
            <a:r>
              <a:rPr lang="en-US" sz="1800" dirty="0">
                <a:solidFill>
                  <a:srgbClr val="3A4A5A"/>
                </a:solidFill>
                <a:latin typeface="Calibri" pitchFamily="34" charset="0"/>
                <a:ea typeface="Calibri" pitchFamily="34" charset="-122"/>
                <a:cs typeface="Calibri" pitchFamily="34" charset="-120"/>
              </a:rPr>
              <a:t>Evaluate retrieval and generation separately.</a:t>
            </a:r>
            <a:endParaRPr lang="en-US" sz="1800" dirty="0"/>
          </a:p>
          <a:p>
            <a:pPr marL="342900" indent="-342900">
              <a:spcAft>
                <a:spcPts val="1800"/>
              </a:spcAft>
              <a:buSzPct val="100000"/>
              <a:buChar char="•"/>
            </a:pPr>
            <a:r>
              <a:rPr lang="en-US" sz="1800" dirty="0">
                <a:solidFill>
                  <a:srgbClr val="3A4A5A"/>
                </a:solidFill>
                <a:latin typeface="Calibri" pitchFamily="34" charset="0"/>
                <a:ea typeface="Calibri" pitchFamily="34" charset="-122"/>
                <a:cs typeface="Calibri" pitchFamily="34" charset="-120"/>
              </a:rPr>
              <a:t>Track recall@k, precision@k, and NDCG before judging the generated text.</a:t>
            </a:r>
            <a:endParaRPr lang="en-US" sz="1800" dirty="0"/>
          </a:p>
          <a:p>
            <a:pPr marL="342900" indent="-342900">
              <a:spcAft>
                <a:spcPts val="1800"/>
              </a:spcAft>
              <a:buSzPct val="100000"/>
              <a:buChar char="•"/>
            </a:pPr>
            <a:r>
              <a:rPr lang="en-US" sz="1800" dirty="0">
                <a:solidFill>
                  <a:srgbClr val="3A4A5A"/>
                </a:solidFill>
                <a:latin typeface="Calibri" pitchFamily="34" charset="0"/>
                <a:ea typeface="Calibri" pitchFamily="34" charset="-122"/>
                <a:cs typeface="Calibri" pitchFamily="34" charset="-120"/>
              </a:rPr>
              <a:t>Faithfulness and hallucination are different failure modes -- test both.</a:t>
            </a:r>
            <a:endParaRPr lang="en-US" sz="1800" dirty="0"/>
          </a:p>
          <a:p>
            <a:pPr marL="342900" indent="-342900">
              <a:spcAft>
                <a:spcPts val="1800"/>
              </a:spcAft>
              <a:buSzPct val="100000"/>
              <a:buChar char="•"/>
            </a:pPr>
            <a:r>
              <a:rPr lang="en-US" sz="1800" dirty="0">
                <a:solidFill>
                  <a:srgbClr val="3A4A5A"/>
                </a:solidFill>
                <a:latin typeface="Calibri" pitchFamily="34" charset="0"/>
                <a:ea typeface="Calibri" pitchFamily="34" charset="-122"/>
                <a:cs typeface="Calibri" pitchFamily="34" charset="-120"/>
              </a:rPr>
              <a:t>Run evaluations on a recurring schedule, not just once before launch.</a:t>
            </a:r>
            <a:endParaRPr lang="en-US" sz="1800" dirty="0"/>
          </a:p>
          <a:p>
            <a:pPr marL="342900" indent="-342900">
              <a:spcAft>
                <a:spcPts val="1800"/>
              </a:spcAft>
              <a:buSzPct val="100000"/>
              <a:buChar char="•"/>
            </a:pPr>
            <a:r>
              <a:rPr lang="en-US" sz="1800" dirty="0">
                <a:solidFill>
                  <a:srgbClr val="3A4A5A"/>
                </a:solidFill>
                <a:latin typeface="Calibri" pitchFamily="34" charset="0"/>
                <a:ea typeface="Calibri" pitchFamily="34" charset="-122"/>
                <a:cs typeface="Calibri" pitchFamily="34" charset="-120"/>
              </a:rPr>
              <a:t>RAG quality is a data-platform problem, not a prompt-tuning problem.</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2540"/>
        </a:solidFill>
      </p:bgPr>
    </p:bg>
    <p:spTree>
      <p:nvGrpSpPr>
        <p:cNvPr id="1" name=""/>
        <p:cNvGrpSpPr/>
        <p:nvPr/>
      </p:nvGrpSpPr>
      <p:grpSpPr>
        <a:xfrm>
          <a:off x="0" y="0"/>
          <a:ext cx="0" cy="0"/>
          <a:chOff x="0" y="0"/>
          <a:chExt cx="0" cy="0"/>
        </a:xfrm>
      </p:grpSpPr>
      <p:sp>
        <p:nvSpPr>
          <p:cNvPr id="2" name="Text 0"/>
          <p:cNvSpPr txBox="1"/>
          <p:nvPr/>
        </p:nvSpPr>
        <p:spPr>
          <a:xfrm>
            <a:off x="731520" y="1371600"/>
            <a:ext cx="1069848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Is Your Data Platform</a:t>
            </a:r>
            <a:endParaRPr lang="en-US" sz="3200" dirty="0"/>
          </a:p>
        </p:txBody>
      </p:sp>
      <p:sp>
        <p:nvSpPr>
          <p:cNvPr id="3" name="Text 1"/>
          <p:cNvSpPr txBox="1"/>
          <p:nvPr/>
        </p:nvSpPr>
        <p:spPr>
          <a:xfrm>
            <a:off x="731520" y="2011680"/>
            <a:ext cx="10698480" cy="822960"/>
          </a:xfrm>
          <a:prstGeom prst="rect">
            <a:avLst/>
          </a:prstGeom>
          <a:noFill/>
          <a:ln/>
        </p:spPr>
        <p:txBody>
          <a:bodyPr wrap="square" lIns="0" tIns="0" rIns="0" bIns="0" rtlCol="0" anchor="ctr"/>
          <a:lstStyle/>
          <a:p>
            <a:pPr indent="0" marL="0">
              <a:buNone/>
            </a:pPr>
            <a:r>
              <a:rPr lang="en-US" sz="3600" b="1" dirty="0">
                <a:solidFill>
                  <a:srgbClr val="8FD3C7"/>
                </a:solidFill>
                <a:latin typeface="Cambria" pitchFamily="34" charset="0"/>
                <a:ea typeface="Cambria" pitchFamily="34" charset="-122"/>
                <a:cs typeface="Cambria" pitchFamily="34" charset="-120"/>
              </a:rPr>
              <a:t>Ready for RAG?</a:t>
            </a:r>
            <a:endParaRPr lang="en-US" sz="3600" dirty="0"/>
          </a:p>
        </p:txBody>
      </p:sp>
      <p:sp>
        <p:nvSpPr>
          <p:cNvPr id="4" name="Shape 2"/>
          <p:cNvSpPr/>
          <p:nvPr/>
        </p:nvSpPr>
        <p:spPr>
          <a:xfrm>
            <a:off x="731520" y="3108960"/>
            <a:ext cx="4937760" cy="1188720"/>
          </a:xfrm>
          <a:prstGeom prst="roundRect">
            <a:avLst>
              <a:gd name="adj" fmla="val 7692"/>
            </a:avLst>
          </a:prstGeom>
          <a:solidFill>
            <a:srgbClr val="132C4A"/>
          </a:solidFill>
          <a:ln/>
        </p:spPr>
      </p:sp>
      <p:sp>
        <p:nvSpPr>
          <p:cNvPr id="5" name="Text 3"/>
          <p:cNvSpPr txBox="1"/>
          <p:nvPr/>
        </p:nvSpPr>
        <p:spPr>
          <a:xfrm>
            <a:off x="1005840" y="3383280"/>
            <a:ext cx="4572000" cy="640080"/>
          </a:xfrm>
          <a:prstGeom prst="rect">
            <a:avLst/>
          </a:prstGeom>
          <a:noFill/>
          <a:ln/>
        </p:spPr>
        <p:txBody>
          <a:bodyPr wrap="square" lIns="0" tIns="0" rIns="0" bIns="0" rtlCol="0" anchor="ctr"/>
          <a:lstStyle/>
          <a:p>
            <a:pPr indent="0" marL="0">
              <a:buNone/>
            </a:pPr>
            <a:r>
              <a:rPr lang="en-US" sz="1800" b="1" dirty="0">
                <a:solidFill>
                  <a:srgbClr val="8FD3C7"/>
                </a:solidFill>
                <a:latin typeface="Calibri" pitchFamily="34" charset="0"/>
                <a:ea typeface="Calibri" pitchFamily="34" charset="-122"/>
                <a:cs typeface="Calibri" pitchFamily="34" charset="-120"/>
              </a:rPr>
              <a:t>dataplatformadvisory.com</a:t>
            </a:r>
            <a:endParaRPr lang="en-US" sz="1800" dirty="0"/>
          </a:p>
        </p:txBody>
      </p:sp>
      <p:sp>
        <p:nvSpPr>
          <p:cNvPr id="6" name="Text 4"/>
          <p:cNvSpPr txBox="1"/>
          <p:nvPr/>
        </p:nvSpPr>
        <p:spPr>
          <a:xfrm>
            <a:off x="731520" y="4572000"/>
            <a:ext cx="7315200" cy="457200"/>
          </a:xfrm>
          <a:prstGeom prst="rect">
            <a:avLst/>
          </a:prstGeom>
          <a:noFill/>
          <a:ln/>
        </p:spPr>
        <p:txBody>
          <a:bodyPr wrap="square" lIns="0" tIns="0" rIns="0" bIns="0" rtlCol="0" anchor="ctr"/>
          <a:lstStyle/>
          <a:p>
            <a:pPr indent="0" marL="0">
              <a:buNone/>
            </a:pPr>
            <a:r>
              <a:rPr lang="en-US" sz="1600" dirty="0">
                <a:solidFill>
                  <a:srgbClr val="C9D9E3"/>
                </a:solidFill>
                <a:latin typeface="Calibri" pitchFamily="34" charset="0"/>
                <a:ea typeface="Calibri" pitchFamily="34" charset="-122"/>
                <a:cs typeface="Calibri" pitchFamily="34" charset="-120"/>
              </a:rPr>
              <a:t>Ivan Lima  ·  Data Platform Advisory</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2026-09-05T06:09:02Z</dcterms:created>
  <dcterms:modified xsi:type="dcterms:W3CDTF">2026-09-05T06:09:02Z</dcterms:modified>
</cp:coreProperties>
</file>