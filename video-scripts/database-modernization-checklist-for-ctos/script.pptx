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I'm Ivan Lima with Data Platform Advisory. Today I want to walk you through a checklist — five things every CTO should verify at the database layer before greenlighting another AI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tension. 87% of leaders say they've got the AI infrastructure in place. But in that same survey, 43% name data readiness as their number one obstacle. Those aren't contradictory — they're answering two different questions. Having servers and a cloud account isn't the same as having a database an AI system can safely read from, write to, and be governed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minor gap. Gartner projects that 60% of AI projects will be abandoned through 2026 specifically because they lack AI-ready data. Separately, they found 85% of failed AI projects trace back to poor data quality. And RAND's analysis of over 2,400 enterprise AI initiatives puts overall failure above 80%. None of that is a model problem — it's a foundation problem, and the foundation is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are the five things. One: can an LLM actually understand your schema, or is it full of undocumented columns only your senior DBA can decode? Two: does your access control tell the difference between a human and an AI agent? Three: have you actually tested backup and restore under real load, recently? Four: does every schema change have a tested rollback path? And five — who owns data quality, by name? If it's everyone's job, it's no one's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First, that 87 versus 43 percent gap is real — having infrastructure isn't the same as having AI-ready data. Second, governance actually moves the needle: organizations with a formal governance program report 71% high data trust, versus just 50% without one. And third — run this checklist before you scope the AI project, not after it's already stalled in a pilot that never reaches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team is scoping an AI initiative and you're not sure the database underneath it is ready, that's exactly the conversation worth having early. Head to dataplatformadvisory.com and get in touch — I'm Ivan Lima with Data Platform Advisory. Thanks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40"/>
        </a:solidFill>
      </p:bgPr>
    </p:bg>
    <p:spTree>
      <p:nvGrpSpPr>
        <p:cNvPr id="1" name=""/>
        <p:cNvGrpSpPr/>
        <p:nvPr/>
      </p:nvGrpSpPr>
      <p:grpSpPr>
        <a:xfrm>
          <a:off x="0" y="0"/>
          <a:ext cx="0" cy="0"/>
          <a:chOff x="0" y="0"/>
          <a:chExt cx="0" cy="0"/>
        </a:xfrm>
      </p:grpSpPr>
      <p:sp>
        <p:nvSpPr>
          <p:cNvPr id="2" name="Shape 0"/>
          <p:cNvSpPr/>
          <p:nvPr/>
        </p:nvSpPr>
        <p:spPr>
          <a:xfrm>
            <a:off x="9875520" y="-1371600"/>
            <a:ext cx="4572000" cy="4572000"/>
          </a:xfrm>
          <a:prstGeom prst="ellipse">
            <a:avLst/>
          </a:prstGeom>
          <a:solidFill>
            <a:srgbClr val="8FD3C7">
              <a:alpha val="12000"/>
            </a:srgbClr>
          </a:solidFill>
          <a:ln/>
        </p:spPr>
      </p:sp>
      <p:sp>
        <p:nvSpPr>
          <p:cNvPr id="3" name="Text 1"/>
          <p:cNvSpPr/>
          <p:nvPr/>
        </p:nvSpPr>
        <p:spPr>
          <a:xfrm>
            <a:off x="640080" y="1371600"/>
            <a:ext cx="10789920" cy="2743200"/>
          </a:xfrm>
          <a:prstGeom prst="rect">
            <a:avLst/>
          </a:prstGeom>
          <a:noFill/>
          <a:ln/>
        </p:spPr>
        <p:txBody>
          <a:bodyPr wrap="square" lIns="0" tIns="0" rIns="0" bIns="0" rtlCol="0" anchor="ctr"/>
          <a:lstStyle/>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The Database Modernization</a:t>
            </a:r>
            <a:endParaRPr lang="en-US" sz="4000" dirty="0"/>
          </a:p>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Checklist Every CTO Should</a:t>
            </a:r>
            <a:endParaRPr lang="en-US" sz="4000" dirty="0"/>
          </a:p>
          <a:p>
            <a:pPr algn="l" indent="0" marL="0">
              <a:lnSpc>
                <a:spcPct val="105000"/>
              </a:lnSpc>
              <a:buNone/>
            </a:pPr>
            <a:r>
              <a:rPr lang="en-US" sz="4000" b="1" dirty="0">
                <a:solidFill>
                  <a:srgbClr val="FFFFFF"/>
                </a:solidFill>
                <a:latin typeface="Cambria" pitchFamily="34" charset="0"/>
                <a:ea typeface="Cambria" pitchFamily="34" charset="-122"/>
                <a:cs typeface="Cambria" pitchFamily="34" charset="-120"/>
              </a:rPr>
              <a:t>Run Before Scaling AI</a:t>
            </a:r>
            <a:endParaRPr lang="en-US" sz="4000" dirty="0"/>
          </a:p>
        </p:txBody>
      </p:sp>
      <p:sp>
        <p:nvSpPr>
          <p:cNvPr id="4" name="Text 2"/>
          <p:cNvSpPr/>
          <p:nvPr/>
        </p:nvSpPr>
        <p:spPr>
          <a:xfrm>
            <a:off x="640080" y="4160520"/>
            <a:ext cx="9601200" cy="548640"/>
          </a:xfrm>
          <a:prstGeom prst="rect">
            <a:avLst/>
          </a:prstGeom>
          <a:noFill/>
          <a:ln/>
        </p:spPr>
        <p:txBody>
          <a:bodyPr wrap="square" lIns="0" tIns="0" rIns="0" bIns="0" rtlCol="0" anchor="ctr"/>
          <a:lstStyle/>
          <a:p>
            <a:pPr indent="0" marL="0">
              <a:buNone/>
            </a:pPr>
            <a:r>
              <a:rPr lang="en-US" sz="2000" dirty="0">
                <a:solidFill>
                  <a:srgbClr val="8FD3C7"/>
                </a:solidFill>
                <a:latin typeface="Calibri" pitchFamily="34" charset="0"/>
                <a:ea typeface="Calibri" pitchFamily="34" charset="-122"/>
                <a:cs typeface="Calibri" pitchFamily="34" charset="-120"/>
              </a:rPr>
              <a:t>Five database-layer checks before your next AI project starts</a:t>
            </a:r>
            <a:endParaRPr lang="en-US" sz="2000" dirty="0"/>
          </a:p>
        </p:txBody>
      </p:sp>
      <p:sp>
        <p:nvSpPr>
          <p:cNvPr id="5" name="Text 3"/>
          <p:cNvSpPr/>
          <p:nvPr/>
        </p:nvSpPr>
        <p:spPr>
          <a:xfrm>
            <a:off x="640080" y="6035040"/>
            <a:ext cx="7315200" cy="457200"/>
          </a:xfrm>
          <a:prstGeom prst="rect">
            <a:avLst/>
          </a:prstGeom>
          <a:noFill/>
          <a:ln/>
        </p:spPr>
        <p:txBody>
          <a:bodyPr wrap="square" lIns="0" tIns="0" rIns="0" bIns="0" rtlCol="0" anchor="ctr"/>
          <a:lstStyle/>
          <a:p>
            <a:pPr indent="0" marL="0">
              <a:buNone/>
            </a:pPr>
            <a:r>
              <a:rPr lang="en-US" sz="1500" dirty="0">
                <a:solidFill>
                  <a:srgbClr val="C9D9E3"/>
                </a:solidFill>
                <a:latin typeface="Calibri" pitchFamily="34" charset="0"/>
                <a:ea typeface="Calibri" pitchFamily="34" charset="-122"/>
                <a:cs typeface="Calibri" pitchFamily="34" charset="-120"/>
              </a:rPr>
              <a:t>Ivan Lima · Data Platform Advisory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731520"/>
          </a:xfrm>
          <a:prstGeom prst="rect">
            <a:avLst/>
          </a:prstGeom>
          <a:noFill/>
          <a:ln/>
        </p:spPr>
        <p:txBody>
          <a:bodyPr wrap="square" lIns="0" tIns="0" rIns="0" bIns="0" rtlCol="0" anchor="ctr"/>
          <a:lstStyle/>
          <a:p>
            <a:pPr indent="0" marL="0">
              <a:buNone/>
            </a:pPr>
            <a:r>
              <a:rPr lang="en-US" sz="3200" b="1" dirty="0">
                <a:solidFill>
                  <a:srgbClr val="0F2540"/>
                </a:solidFill>
                <a:latin typeface="Cambria" pitchFamily="34" charset="0"/>
                <a:ea typeface="Cambria" pitchFamily="34" charset="-122"/>
                <a:cs typeface="Cambria" pitchFamily="34" charset="-120"/>
              </a:rPr>
              <a:t>The confidence-reality gap</a:t>
            </a:r>
            <a:endParaRPr lang="en-US" sz="3200" dirty="0"/>
          </a:p>
        </p:txBody>
      </p:sp>
      <p:sp>
        <p:nvSpPr>
          <p:cNvPr id="3" name="Shape 1"/>
          <p:cNvSpPr/>
          <p:nvPr/>
        </p:nvSpPr>
        <p:spPr>
          <a:xfrm>
            <a:off x="640080" y="1554480"/>
            <a:ext cx="5120640" cy="4206240"/>
          </a:xfrm>
          <a:prstGeom prst="roundRect">
            <a:avLst>
              <a:gd name="adj" fmla="val 2609"/>
            </a:avLst>
          </a:prstGeom>
          <a:solidFill>
            <a:srgbClr val="0F2540"/>
          </a:solidFill>
          <a:ln/>
        </p:spPr>
      </p:sp>
      <p:sp>
        <p:nvSpPr>
          <p:cNvPr id="4" name="Text 2"/>
          <p:cNvSpPr/>
          <p:nvPr/>
        </p:nvSpPr>
        <p:spPr>
          <a:xfrm>
            <a:off x="640080" y="1920240"/>
            <a:ext cx="5120640" cy="1463040"/>
          </a:xfrm>
          <a:prstGeom prst="rect">
            <a:avLst/>
          </a:prstGeom>
          <a:noFill/>
          <a:ln/>
        </p:spPr>
        <p:txBody>
          <a:bodyPr wrap="square" lIns="0" tIns="0" rIns="0" bIns="0" rtlCol="0" anchor="ctr"/>
          <a:lstStyle/>
          <a:p>
            <a:pPr algn="ctr" indent="0" marL="0">
              <a:buNone/>
            </a:pPr>
            <a:r>
              <a:rPr lang="en-US" sz="7200" b="1" dirty="0">
                <a:solidFill>
                  <a:srgbClr val="8FD3C7"/>
                </a:solidFill>
                <a:latin typeface="Cambria" pitchFamily="34" charset="0"/>
                <a:ea typeface="Cambria" pitchFamily="34" charset="-122"/>
                <a:cs typeface="Cambria" pitchFamily="34" charset="-120"/>
              </a:rPr>
              <a:t>87%</a:t>
            </a:r>
            <a:endParaRPr lang="en-US" sz="7200" dirty="0"/>
          </a:p>
        </p:txBody>
      </p:sp>
      <p:sp>
        <p:nvSpPr>
          <p:cNvPr id="5" name="Text 3"/>
          <p:cNvSpPr/>
          <p:nvPr/>
        </p:nvSpPr>
        <p:spPr>
          <a:xfrm>
            <a:off x="914400" y="3474720"/>
            <a:ext cx="4572000" cy="118872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of leaders say they have</a:t>
            </a:r>
            <a:endParaRPr lang="en-US" sz="1700" dirty="0"/>
          </a:p>
          <a:p>
            <a:pPr algn="ctr" indent="0" marL="0">
              <a:buNone/>
            </a:pPr>
            <a:r>
              <a:rPr lang="en-US" sz="1700" dirty="0">
                <a:solidFill>
                  <a:srgbClr val="FFFFFF"/>
                </a:solidFill>
                <a:latin typeface="Calibri" pitchFamily="34" charset="0"/>
                <a:ea typeface="Calibri" pitchFamily="34" charset="-122"/>
                <a:cs typeface="Calibri" pitchFamily="34" charset="-120"/>
              </a:rPr>
              <a:t>the infrastructure needed for AI</a:t>
            </a:r>
            <a:endParaRPr lang="en-US" sz="1700" dirty="0"/>
          </a:p>
        </p:txBody>
      </p:sp>
      <p:sp>
        <p:nvSpPr>
          <p:cNvPr id="6" name="Text 4"/>
          <p:cNvSpPr/>
          <p:nvPr/>
        </p:nvSpPr>
        <p:spPr>
          <a:xfrm>
            <a:off x="914400" y="5120640"/>
            <a:ext cx="4572000" cy="548640"/>
          </a:xfrm>
          <a:prstGeom prst="rect">
            <a:avLst/>
          </a:prstGeom>
          <a:noFill/>
          <a:ln/>
        </p:spPr>
        <p:txBody>
          <a:bodyPr wrap="square" lIns="0" tIns="0" rIns="0" bIns="0" rtlCol="0" anchor="ctr"/>
          <a:lstStyle/>
          <a:p>
            <a:pPr algn="ctr" indent="0" marL="0">
              <a:buNone/>
            </a:pPr>
            <a:r>
              <a:rPr lang="en-US" sz="1100" i="1" dirty="0">
                <a:solidFill>
                  <a:srgbClr val="C9D9E3"/>
                </a:solidFill>
                <a:latin typeface="Calibri" pitchFamily="34" charset="0"/>
                <a:ea typeface="Calibri" pitchFamily="34" charset="-122"/>
                <a:cs typeface="Calibri" pitchFamily="34" charset="-120"/>
              </a:rPr>
              <a:t>Precisely, 2026 State of Data Integrity</a:t>
            </a:r>
            <a:endParaRPr lang="en-US" sz="1100" dirty="0"/>
          </a:p>
          <a:p>
            <a:pPr algn="ctr" indent="0" marL="0">
              <a:buNone/>
            </a:pPr>
            <a:r>
              <a:rPr lang="en-US" sz="1100" i="1" dirty="0">
                <a:solidFill>
                  <a:srgbClr val="C9D9E3"/>
                </a:solidFill>
                <a:latin typeface="Calibri" pitchFamily="34" charset="0"/>
                <a:ea typeface="Calibri" pitchFamily="34" charset="-122"/>
                <a:cs typeface="Calibri" pitchFamily="34" charset="-120"/>
              </a:rPr>
              <a:t>and AI Readiness</a:t>
            </a:r>
            <a:endParaRPr lang="en-US" sz="1100" dirty="0"/>
          </a:p>
        </p:txBody>
      </p:sp>
      <p:sp>
        <p:nvSpPr>
          <p:cNvPr id="7" name="Shape 5"/>
          <p:cNvSpPr/>
          <p:nvPr/>
        </p:nvSpPr>
        <p:spPr>
          <a:xfrm>
            <a:off x="6035040" y="1554480"/>
            <a:ext cx="5120640" cy="4206240"/>
          </a:xfrm>
          <a:prstGeom prst="roundRect">
            <a:avLst>
              <a:gd name="adj" fmla="val 2609"/>
            </a:avLst>
          </a:prstGeom>
          <a:solidFill>
            <a:srgbClr val="3A4A5A"/>
          </a:solidFill>
          <a:ln/>
        </p:spPr>
      </p:sp>
      <p:sp>
        <p:nvSpPr>
          <p:cNvPr id="8" name="Text 6"/>
          <p:cNvSpPr/>
          <p:nvPr/>
        </p:nvSpPr>
        <p:spPr>
          <a:xfrm>
            <a:off x="6035040" y="1920240"/>
            <a:ext cx="5120640" cy="1463040"/>
          </a:xfrm>
          <a:prstGeom prst="rect">
            <a:avLst/>
          </a:prstGeom>
          <a:noFill/>
          <a:ln/>
        </p:spPr>
        <p:txBody>
          <a:bodyPr wrap="square" lIns="0" tIns="0" rIns="0" bIns="0" rtlCol="0" anchor="ctr"/>
          <a:lstStyle/>
          <a:p>
            <a:pPr algn="ctr" indent="0" marL="0">
              <a:buNone/>
            </a:pPr>
            <a:r>
              <a:rPr lang="en-US" sz="7200" b="1" dirty="0">
                <a:solidFill>
                  <a:srgbClr val="8FD3C7"/>
                </a:solidFill>
                <a:latin typeface="Cambria" pitchFamily="34" charset="0"/>
                <a:ea typeface="Cambria" pitchFamily="34" charset="-122"/>
                <a:cs typeface="Cambria" pitchFamily="34" charset="-120"/>
              </a:rPr>
              <a:t>43%</a:t>
            </a:r>
            <a:endParaRPr lang="en-US" sz="7200" dirty="0"/>
          </a:p>
        </p:txBody>
      </p:sp>
      <p:sp>
        <p:nvSpPr>
          <p:cNvPr id="9" name="Text 7"/>
          <p:cNvSpPr/>
          <p:nvPr/>
        </p:nvSpPr>
        <p:spPr>
          <a:xfrm>
            <a:off x="6309360" y="3474720"/>
            <a:ext cx="4572000" cy="1188720"/>
          </a:xfrm>
          <a:prstGeom prst="rect">
            <a:avLst/>
          </a:prstGeom>
          <a:noFill/>
          <a:ln/>
        </p:spPr>
        <p:txBody>
          <a:bodyPr wrap="square" lIns="0" tIns="0" rIns="0" bIns="0" rtlCol="0" anchor="ctr"/>
          <a:lstStyle/>
          <a:p>
            <a:pPr algn="ctr" indent="0" marL="0">
              <a:buNone/>
            </a:pPr>
            <a:r>
              <a:rPr lang="en-US" sz="1700" dirty="0">
                <a:solidFill>
                  <a:srgbClr val="FFFFFF"/>
                </a:solidFill>
                <a:latin typeface="Calibri" pitchFamily="34" charset="0"/>
                <a:ea typeface="Calibri" pitchFamily="34" charset="-122"/>
                <a:cs typeface="Calibri" pitchFamily="34" charset="-120"/>
              </a:rPr>
              <a:t>call data readiness their</a:t>
            </a:r>
            <a:endParaRPr lang="en-US" sz="1700" dirty="0"/>
          </a:p>
          <a:p>
            <a:pPr algn="ctr" indent="0" marL="0">
              <a:buNone/>
            </a:pPr>
            <a:r>
              <a:rPr lang="en-US" sz="1700" dirty="0">
                <a:solidFill>
                  <a:srgbClr val="FFFFFF"/>
                </a:solidFill>
                <a:latin typeface="Calibri" pitchFamily="34" charset="0"/>
                <a:ea typeface="Calibri" pitchFamily="34" charset="-122"/>
                <a:cs typeface="Calibri" pitchFamily="34" charset="-120"/>
              </a:rPr>
              <a:t>top barrier to AI alignment</a:t>
            </a:r>
            <a:endParaRPr lang="en-US" sz="1700" dirty="0"/>
          </a:p>
        </p:txBody>
      </p:sp>
      <p:sp>
        <p:nvSpPr>
          <p:cNvPr id="10" name="Text 8"/>
          <p:cNvSpPr/>
          <p:nvPr/>
        </p:nvSpPr>
        <p:spPr>
          <a:xfrm>
            <a:off x="6309360" y="5120640"/>
            <a:ext cx="4572000" cy="548640"/>
          </a:xfrm>
          <a:prstGeom prst="rect">
            <a:avLst/>
          </a:prstGeom>
          <a:noFill/>
          <a:ln/>
        </p:spPr>
        <p:txBody>
          <a:bodyPr wrap="square" lIns="0" tIns="0" rIns="0" bIns="0" rtlCol="0" anchor="ctr"/>
          <a:lstStyle/>
          <a:p>
            <a:pPr algn="ctr" indent="0" marL="0">
              <a:buNone/>
            </a:pPr>
            <a:r>
              <a:rPr lang="en-US" sz="1100" i="1" dirty="0">
                <a:solidFill>
                  <a:srgbClr val="C9D9E3"/>
                </a:solidFill>
                <a:latin typeface="Calibri" pitchFamily="34" charset="0"/>
                <a:ea typeface="Calibri" pitchFamily="34" charset="-122"/>
                <a:cs typeface="Calibri" pitchFamily="34" charset="-120"/>
              </a:rPr>
              <a:t>Same survey, same leaders —</a:t>
            </a:r>
            <a:endParaRPr lang="en-US" sz="1100" dirty="0"/>
          </a:p>
          <a:p>
            <a:pPr algn="ctr" indent="0" marL="0">
              <a:buNone/>
            </a:pPr>
            <a:r>
              <a:rPr lang="en-US" sz="1100" i="1" dirty="0">
                <a:solidFill>
                  <a:srgbClr val="C9D9E3"/>
                </a:solidFill>
                <a:latin typeface="Calibri" pitchFamily="34" charset="0"/>
                <a:ea typeface="Calibri" pitchFamily="34" charset="-122"/>
                <a:cs typeface="Calibri" pitchFamily="34" charset="-120"/>
              </a:rPr>
              <a:t>two different questions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548640" y="45720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cost of skipping this step</a:t>
            </a:r>
            <a:endParaRPr lang="en-US" sz="3200" dirty="0"/>
          </a:p>
        </p:txBody>
      </p:sp>
      <p:sp>
        <p:nvSpPr>
          <p:cNvPr id="3" name="Shape 1"/>
          <p:cNvSpPr/>
          <p:nvPr/>
        </p:nvSpPr>
        <p:spPr>
          <a:xfrm>
            <a:off x="731520" y="1737360"/>
            <a:ext cx="1371600" cy="1371600"/>
          </a:xfrm>
          <a:prstGeom prst="ellipse">
            <a:avLst/>
          </a:prstGeom>
          <a:solidFill>
            <a:srgbClr val="8FD3C7">
              <a:alpha val="90000"/>
            </a:srgbClr>
          </a:solidFill>
          <a:ln/>
        </p:spPr>
      </p:sp>
      <p:sp>
        <p:nvSpPr>
          <p:cNvPr id="4" name="Text 2"/>
          <p:cNvSpPr/>
          <p:nvPr/>
        </p:nvSpPr>
        <p:spPr>
          <a:xfrm>
            <a:off x="731520" y="1737360"/>
            <a:ext cx="1371600" cy="1371600"/>
          </a:xfrm>
          <a:prstGeom prst="rect">
            <a:avLst/>
          </a:prstGeom>
          <a:noFill/>
          <a:ln/>
        </p:spPr>
        <p:txBody>
          <a:bodyPr wrap="square" lIns="0" tIns="0" rIns="0" bIns="0" rtlCol="0" anchor="ctr"/>
          <a:lstStyle/>
          <a:p>
            <a:pPr algn="ctr" indent="0" marL="0">
              <a:buNone/>
            </a:pPr>
            <a:r>
              <a:rPr lang="en-US" sz="2600" b="1" dirty="0">
                <a:solidFill>
                  <a:srgbClr val="0F2540"/>
                </a:solidFill>
                <a:latin typeface="Cambria" pitchFamily="34" charset="0"/>
                <a:ea typeface="Cambria" pitchFamily="34" charset="-122"/>
                <a:cs typeface="Cambria" pitchFamily="34" charset="-120"/>
              </a:rPr>
              <a:t>60%</a:t>
            </a:r>
            <a:endParaRPr lang="en-US" sz="2600" dirty="0"/>
          </a:p>
        </p:txBody>
      </p:sp>
      <p:sp>
        <p:nvSpPr>
          <p:cNvPr id="5" name="Text 3"/>
          <p:cNvSpPr/>
          <p:nvPr/>
        </p:nvSpPr>
        <p:spPr>
          <a:xfrm>
            <a:off x="2377440" y="1783080"/>
            <a:ext cx="7589520" cy="8229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of AI projects abandoned through 2026 for lack of AI-ready data</a:t>
            </a:r>
            <a:endParaRPr lang="en-US" sz="1800" dirty="0"/>
          </a:p>
        </p:txBody>
      </p:sp>
      <p:sp>
        <p:nvSpPr>
          <p:cNvPr id="6" name="Text 4"/>
          <p:cNvSpPr/>
          <p:nvPr/>
        </p:nvSpPr>
        <p:spPr>
          <a:xfrm>
            <a:off x="2377440" y="2606040"/>
            <a:ext cx="7589520" cy="365760"/>
          </a:xfrm>
          <a:prstGeom prst="rect">
            <a:avLst/>
          </a:prstGeom>
          <a:noFill/>
          <a:ln/>
        </p:spPr>
        <p:txBody>
          <a:bodyPr wrap="square" lIns="0" tIns="0" rIns="0" bIns="0" rtlCol="0" anchor="ctr"/>
          <a:lstStyle/>
          <a:p>
            <a:pPr indent="0" marL="0">
              <a:buNone/>
            </a:pPr>
            <a:r>
              <a:rPr lang="en-US" sz="1200" i="1" dirty="0">
                <a:solidFill>
                  <a:srgbClr val="8FD3C7"/>
                </a:solidFill>
                <a:latin typeface="Calibri" pitchFamily="34" charset="0"/>
                <a:ea typeface="Calibri" pitchFamily="34" charset="-122"/>
                <a:cs typeface="Calibri" pitchFamily="34" charset="-120"/>
              </a:rPr>
              <a:t>Gartner</a:t>
            </a:r>
            <a:endParaRPr lang="en-US" sz="1200" dirty="0"/>
          </a:p>
        </p:txBody>
      </p:sp>
      <p:sp>
        <p:nvSpPr>
          <p:cNvPr id="7" name="Shape 5"/>
          <p:cNvSpPr/>
          <p:nvPr/>
        </p:nvSpPr>
        <p:spPr>
          <a:xfrm>
            <a:off x="731520" y="3291840"/>
            <a:ext cx="1371600" cy="1371600"/>
          </a:xfrm>
          <a:prstGeom prst="ellipse">
            <a:avLst/>
          </a:prstGeom>
          <a:solidFill>
            <a:srgbClr val="8FD3C7">
              <a:alpha val="90000"/>
            </a:srgbClr>
          </a:solidFill>
          <a:ln/>
        </p:spPr>
      </p:sp>
      <p:sp>
        <p:nvSpPr>
          <p:cNvPr id="8" name="Text 6"/>
          <p:cNvSpPr/>
          <p:nvPr/>
        </p:nvSpPr>
        <p:spPr>
          <a:xfrm>
            <a:off x="731520" y="3291840"/>
            <a:ext cx="1371600" cy="1371600"/>
          </a:xfrm>
          <a:prstGeom prst="rect">
            <a:avLst/>
          </a:prstGeom>
          <a:noFill/>
          <a:ln/>
        </p:spPr>
        <p:txBody>
          <a:bodyPr wrap="square" lIns="0" tIns="0" rIns="0" bIns="0" rtlCol="0" anchor="ctr"/>
          <a:lstStyle/>
          <a:p>
            <a:pPr algn="ctr" indent="0" marL="0">
              <a:buNone/>
            </a:pPr>
            <a:r>
              <a:rPr lang="en-US" sz="2600" b="1" dirty="0">
                <a:solidFill>
                  <a:srgbClr val="0F2540"/>
                </a:solidFill>
                <a:latin typeface="Cambria" pitchFamily="34" charset="0"/>
                <a:ea typeface="Cambria" pitchFamily="34" charset="-122"/>
                <a:cs typeface="Cambria" pitchFamily="34" charset="-120"/>
              </a:rPr>
              <a:t>85%</a:t>
            </a:r>
            <a:endParaRPr lang="en-US" sz="2600" dirty="0"/>
          </a:p>
        </p:txBody>
      </p:sp>
      <p:sp>
        <p:nvSpPr>
          <p:cNvPr id="9" name="Text 7"/>
          <p:cNvSpPr/>
          <p:nvPr/>
        </p:nvSpPr>
        <p:spPr>
          <a:xfrm>
            <a:off x="2377440" y="3337560"/>
            <a:ext cx="7589520" cy="8229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of failed AI projects trace back to poor data quality</a:t>
            </a:r>
            <a:endParaRPr lang="en-US" sz="1800" dirty="0"/>
          </a:p>
        </p:txBody>
      </p:sp>
      <p:sp>
        <p:nvSpPr>
          <p:cNvPr id="10" name="Text 8"/>
          <p:cNvSpPr/>
          <p:nvPr/>
        </p:nvSpPr>
        <p:spPr>
          <a:xfrm>
            <a:off x="2377440" y="4160520"/>
            <a:ext cx="7589520" cy="365760"/>
          </a:xfrm>
          <a:prstGeom prst="rect">
            <a:avLst/>
          </a:prstGeom>
          <a:noFill/>
          <a:ln/>
        </p:spPr>
        <p:txBody>
          <a:bodyPr wrap="square" lIns="0" tIns="0" rIns="0" bIns="0" rtlCol="0" anchor="ctr"/>
          <a:lstStyle/>
          <a:p>
            <a:pPr indent="0" marL="0">
              <a:buNone/>
            </a:pPr>
            <a:r>
              <a:rPr lang="en-US" sz="1200" i="1" dirty="0">
                <a:solidFill>
                  <a:srgbClr val="8FD3C7"/>
                </a:solidFill>
                <a:latin typeface="Calibri" pitchFamily="34" charset="0"/>
                <a:ea typeface="Calibri" pitchFamily="34" charset="-122"/>
                <a:cs typeface="Calibri" pitchFamily="34" charset="-120"/>
              </a:rPr>
              <a:t>Gartner, 2025</a:t>
            </a:r>
            <a:endParaRPr lang="en-US" sz="1200" dirty="0"/>
          </a:p>
        </p:txBody>
      </p:sp>
      <p:sp>
        <p:nvSpPr>
          <p:cNvPr id="11" name="Shape 9"/>
          <p:cNvSpPr/>
          <p:nvPr/>
        </p:nvSpPr>
        <p:spPr>
          <a:xfrm>
            <a:off x="731520" y="4846320"/>
            <a:ext cx="1371600" cy="1371600"/>
          </a:xfrm>
          <a:prstGeom prst="ellipse">
            <a:avLst/>
          </a:prstGeom>
          <a:solidFill>
            <a:srgbClr val="8FD3C7">
              <a:alpha val="90000"/>
            </a:srgbClr>
          </a:solidFill>
          <a:ln/>
        </p:spPr>
      </p:sp>
      <p:sp>
        <p:nvSpPr>
          <p:cNvPr id="12" name="Text 10"/>
          <p:cNvSpPr/>
          <p:nvPr/>
        </p:nvSpPr>
        <p:spPr>
          <a:xfrm>
            <a:off x="731520" y="4846320"/>
            <a:ext cx="1371600" cy="1371600"/>
          </a:xfrm>
          <a:prstGeom prst="rect">
            <a:avLst/>
          </a:prstGeom>
          <a:noFill/>
          <a:ln/>
        </p:spPr>
        <p:txBody>
          <a:bodyPr wrap="square" lIns="0" tIns="0" rIns="0" bIns="0" rtlCol="0" anchor="ctr"/>
          <a:lstStyle/>
          <a:p>
            <a:pPr algn="ctr" indent="0" marL="0">
              <a:buNone/>
            </a:pPr>
            <a:r>
              <a:rPr lang="en-US" sz="2600" b="1" dirty="0">
                <a:solidFill>
                  <a:srgbClr val="0F2540"/>
                </a:solidFill>
                <a:latin typeface="Cambria" pitchFamily="34" charset="0"/>
                <a:ea typeface="Cambria" pitchFamily="34" charset="-122"/>
                <a:cs typeface="Cambria" pitchFamily="34" charset="-120"/>
              </a:rPr>
              <a:t>80%</a:t>
            </a:r>
            <a:endParaRPr lang="en-US" sz="2600" dirty="0"/>
          </a:p>
        </p:txBody>
      </p:sp>
      <p:sp>
        <p:nvSpPr>
          <p:cNvPr id="13" name="Text 11"/>
          <p:cNvSpPr/>
          <p:nvPr/>
        </p:nvSpPr>
        <p:spPr>
          <a:xfrm>
            <a:off x="2377440" y="4892040"/>
            <a:ext cx="7589520" cy="8229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overall AI project failure rate across 2,400+ enterprise initiatives</a:t>
            </a:r>
            <a:endParaRPr lang="en-US" sz="1800" dirty="0"/>
          </a:p>
        </p:txBody>
      </p:sp>
      <p:sp>
        <p:nvSpPr>
          <p:cNvPr id="14" name="Text 12"/>
          <p:cNvSpPr/>
          <p:nvPr/>
        </p:nvSpPr>
        <p:spPr>
          <a:xfrm>
            <a:off x="2377440" y="5715000"/>
            <a:ext cx="7589520" cy="365760"/>
          </a:xfrm>
          <a:prstGeom prst="rect">
            <a:avLst/>
          </a:prstGeom>
          <a:noFill/>
          <a:ln/>
        </p:spPr>
        <p:txBody>
          <a:bodyPr wrap="square" lIns="0" tIns="0" rIns="0" bIns="0" rtlCol="0" anchor="ctr"/>
          <a:lstStyle/>
          <a:p>
            <a:pPr indent="0" marL="0">
              <a:buNone/>
            </a:pPr>
            <a:r>
              <a:rPr lang="en-US" sz="1200" i="1" dirty="0">
                <a:solidFill>
                  <a:srgbClr val="8FD3C7"/>
                </a:solidFill>
                <a:latin typeface="Calibri" pitchFamily="34" charset="0"/>
                <a:ea typeface="Calibri" pitchFamily="34" charset="-122"/>
                <a:cs typeface="Calibri" pitchFamily="34" charset="-120"/>
              </a:rPr>
              <a:t>RAND Corporation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640080"/>
          </a:xfrm>
          <a:prstGeom prst="rect">
            <a:avLst/>
          </a:prstGeom>
          <a:noFill/>
          <a:ln/>
        </p:spPr>
        <p:txBody>
          <a:bodyPr wrap="square" lIns="0" tIns="0" rIns="0" bIns="0" rtlCol="0" anchor="ctr"/>
          <a:lstStyle/>
          <a:p>
            <a:pPr indent="0" marL="0">
              <a:buNone/>
            </a:pPr>
            <a:r>
              <a:rPr lang="en-US" sz="3000" b="1" dirty="0">
                <a:solidFill>
                  <a:srgbClr val="0F2540"/>
                </a:solidFill>
                <a:latin typeface="Cambria" pitchFamily="34" charset="0"/>
                <a:ea typeface="Cambria" pitchFamily="34" charset="-122"/>
                <a:cs typeface="Cambria" pitchFamily="34" charset="-120"/>
              </a:rPr>
              <a:t>Five things to check first</a:t>
            </a:r>
            <a:endParaRPr lang="en-US" sz="3000" dirty="0"/>
          </a:p>
        </p:txBody>
      </p:sp>
      <p:sp>
        <p:nvSpPr>
          <p:cNvPr id="3" name="Shape 1"/>
          <p:cNvSpPr/>
          <p:nvPr/>
        </p:nvSpPr>
        <p:spPr>
          <a:xfrm>
            <a:off x="640080" y="1280160"/>
            <a:ext cx="457200" cy="457200"/>
          </a:xfrm>
          <a:prstGeom prst="roundRect">
            <a:avLst>
              <a:gd name="adj" fmla="val 16000"/>
            </a:avLst>
          </a:prstGeom>
          <a:solidFill>
            <a:srgbClr val="0F2540"/>
          </a:solidFill>
          <a:ln/>
        </p:spPr>
      </p:sp>
      <p:sp>
        <p:nvSpPr>
          <p:cNvPr id="4" name="Text 2"/>
          <p:cNvSpPr/>
          <p:nvPr/>
        </p:nvSpPr>
        <p:spPr>
          <a:xfrm>
            <a:off x="640080" y="1280160"/>
            <a:ext cx="457200" cy="457200"/>
          </a:xfrm>
          <a:prstGeom prst="rect">
            <a:avLst/>
          </a:prstGeom>
          <a:noFill/>
          <a:ln/>
        </p:spPr>
        <p:txBody>
          <a:bodyPr wrap="square" lIns="0" tIns="0" rIns="0" bIns="0" rtlCol="0" anchor="ctr"/>
          <a:lstStyle/>
          <a:p>
            <a:pPr algn="ctr" indent="0" marL="0">
              <a:buNone/>
            </a:pPr>
            <a:r>
              <a:rPr lang="en-US" sz="2000" b="1" dirty="0">
                <a:solidFill>
                  <a:srgbClr val="8FD3C7"/>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1280160" y="1261872"/>
            <a:ext cx="9601200" cy="548640"/>
          </a:xfrm>
          <a:prstGeom prst="rect">
            <a:avLst/>
          </a:prstGeom>
          <a:noFill/>
          <a:ln/>
        </p:spPr>
        <p:txBody>
          <a:bodyPr wrap="square" lIns="0" tIns="0" rIns="0" bIns="0" rtlCol="0" anchor="ctr"/>
          <a:lstStyle/>
          <a:p>
            <a:pPr indent="0" marL="0">
              <a:buNone/>
            </a:pPr>
            <a:r>
              <a:rPr lang="en-US" sz="1900" dirty="0">
                <a:solidFill>
                  <a:srgbClr val="3A4A5A"/>
                </a:solidFill>
                <a:latin typeface="Calibri" pitchFamily="34" charset="0"/>
                <a:ea typeface="Calibri" pitchFamily="34" charset="-122"/>
                <a:cs typeface="Calibri" pitchFamily="34" charset="-120"/>
              </a:rPr>
              <a:t>Can an LLM actually understand your schema?</a:t>
            </a:r>
            <a:endParaRPr lang="en-US" sz="1900" dirty="0"/>
          </a:p>
        </p:txBody>
      </p:sp>
      <p:sp>
        <p:nvSpPr>
          <p:cNvPr id="6" name="Shape 4"/>
          <p:cNvSpPr/>
          <p:nvPr/>
        </p:nvSpPr>
        <p:spPr>
          <a:xfrm>
            <a:off x="640080" y="2240280"/>
            <a:ext cx="457200" cy="457200"/>
          </a:xfrm>
          <a:prstGeom prst="roundRect">
            <a:avLst>
              <a:gd name="adj" fmla="val 16000"/>
            </a:avLst>
          </a:prstGeom>
          <a:solidFill>
            <a:srgbClr val="0F2540"/>
          </a:solidFill>
          <a:ln/>
        </p:spPr>
      </p:sp>
      <p:sp>
        <p:nvSpPr>
          <p:cNvPr id="7" name="Text 5"/>
          <p:cNvSpPr/>
          <p:nvPr/>
        </p:nvSpPr>
        <p:spPr>
          <a:xfrm>
            <a:off x="640080" y="2240280"/>
            <a:ext cx="457200" cy="457200"/>
          </a:xfrm>
          <a:prstGeom prst="rect">
            <a:avLst/>
          </a:prstGeom>
          <a:noFill/>
          <a:ln/>
        </p:spPr>
        <p:txBody>
          <a:bodyPr wrap="square" lIns="0" tIns="0" rIns="0" bIns="0" rtlCol="0" anchor="ctr"/>
          <a:lstStyle/>
          <a:p>
            <a:pPr algn="ctr" indent="0" marL="0">
              <a:buNone/>
            </a:pPr>
            <a:r>
              <a:rPr lang="en-US" sz="2000" b="1" dirty="0">
                <a:solidFill>
                  <a:srgbClr val="8FD3C7"/>
                </a:solidFill>
                <a:latin typeface="Cambria" pitchFamily="34" charset="0"/>
                <a:ea typeface="Cambria" pitchFamily="34" charset="-122"/>
                <a:cs typeface="Cambria" pitchFamily="34" charset="-120"/>
              </a:rPr>
              <a:t>2</a:t>
            </a:r>
            <a:endParaRPr lang="en-US" sz="2000" dirty="0"/>
          </a:p>
        </p:txBody>
      </p:sp>
      <p:sp>
        <p:nvSpPr>
          <p:cNvPr id="8" name="Text 6"/>
          <p:cNvSpPr/>
          <p:nvPr/>
        </p:nvSpPr>
        <p:spPr>
          <a:xfrm>
            <a:off x="1280160" y="2221992"/>
            <a:ext cx="9601200" cy="548640"/>
          </a:xfrm>
          <a:prstGeom prst="rect">
            <a:avLst/>
          </a:prstGeom>
          <a:noFill/>
          <a:ln/>
        </p:spPr>
        <p:txBody>
          <a:bodyPr wrap="square" lIns="0" tIns="0" rIns="0" bIns="0" rtlCol="0" anchor="ctr"/>
          <a:lstStyle/>
          <a:p>
            <a:pPr indent="0" marL="0">
              <a:buNone/>
            </a:pPr>
            <a:r>
              <a:rPr lang="en-US" sz="1900" dirty="0">
                <a:solidFill>
                  <a:srgbClr val="3A4A5A"/>
                </a:solidFill>
                <a:latin typeface="Calibri" pitchFamily="34" charset="0"/>
                <a:ea typeface="Calibri" pitchFamily="34" charset="-122"/>
                <a:cs typeface="Calibri" pitchFamily="34" charset="-120"/>
              </a:rPr>
              <a:t>Does access control know a person from an agent?</a:t>
            </a:r>
            <a:endParaRPr lang="en-US" sz="1900" dirty="0"/>
          </a:p>
        </p:txBody>
      </p:sp>
      <p:sp>
        <p:nvSpPr>
          <p:cNvPr id="9" name="Shape 7"/>
          <p:cNvSpPr/>
          <p:nvPr/>
        </p:nvSpPr>
        <p:spPr>
          <a:xfrm>
            <a:off x="640080" y="3200400"/>
            <a:ext cx="457200" cy="457200"/>
          </a:xfrm>
          <a:prstGeom prst="roundRect">
            <a:avLst>
              <a:gd name="adj" fmla="val 16000"/>
            </a:avLst>
          </a:prstGeom>
          <a:solidFill>
            <a:srgbClr val="0F2540"/>
          </a:solidFill>
          <a:ln/>
        </p:spPr>
      </p:sp>
      <p:sp>
        <p:nvSpPr>
          <p:cNvPr id="10" name="Text 8"/>
          <p:cNvSpPr/>
          <p:nvPr/>
        </p:nvSpPr>
        <p:spPr>
          <a:xfrm>
            <a:off x="640080" y="3200400"/>
            <a:ext cx="457200" cy="457200"/>
          </a:xfrm>
          <a:prstGeom prst="rect">
            <a:avLst/>
          </a:prstGeom>
          <a:noFill/>
          <a:ln/>
        </p:spPr>
        <p:txBody>
          <a:bodyPr wrap="square" lIns="0" tIns="0" rIns="0" bIns="0" rtlCol="0" anchor="ctr"/>
          <a:lstStyle/>
          <a:p>
            <a:pPr algn="ctr" indent="0" marL="0">
              <a:buNone/>
            </a:pPr>
            <a:r>
              <a:rPr lang="en-US" sz="2000" b="1" dirty="0">
                <a:solidFill>
                  <a:srgbClr val="8FD3C7"/>
                </a:solidFill>
                <a:latin typeface="Cambria" pitchFamily="34" charset="0"/>
                <a:ea typeface="Cambria" pitchFamily="34" charset="-122"/>
                <a:cs typeface="Cambria" pitchFamily="34" charset="-120"/>
              </a:rPr>
              <a:t>3</a:t>
            </a:r>
            <a:endParaRPr lang="en-US" sz="2000" dirty="0"/>
          </a:p>
        </p:txBody>
      </p:sp>
      <p:sp>
        <p:nvSpPr>
          <p:cNvPr id="11" name="Text 9"/>
          <p:cNvSpPr/>
          <p:nvPr/>
        </p:nvSpPr>
        <p:spPr>
          <a:xfrm>
            <a:off x="1280160" y="3182112"/>
            <a:ext cx="9601200" cy="548640"/>
          </a:xfrm>
          <a:prstGeom prst="rect">
            <a:avLst/>
          </a:prstGeom>
          <a:noFill/>
          <a:ln/>
        </p:spPr>
        <p:txBody>
          <a:bodyPr wrap="square" lIns="0" tIns="0" rIns="0" bIns="0" rtlCol="0" anchor="ctr"/>
          <a:lstStyle/>
          <a:p>
            <a:pPr indent="0" marL="0">
              <a:buNone/>
            </a:pPr>
            <a:r>
              <a:rPr lang="en-US" sz="1900" dirty="0">
                <a:solidFill>
                  <a:srgbClr val="3A4A5A"/>
                </a:solidFill>
                <a:latin typeface="Calibri" pitchFamily="34" charset="0"/>
                <a:ea typeface="Calibri" pitchFamily="34" charset="-122"/>
                <a:cs typeface="Calibri" pitchFamily="34" charset="-120"/>
              </a:rPr>
              <a:t>Has backup/restore been tested under real load?</a:t>
            </a:r>
            <a:endParaRPr lang="en-US" sz="1900" dirty="0"/>
          </a:p>
        </p:txBody>
      </p:sp>
      <p:sp>
        <p:nvSpPr>
          <p:cNvPr id="12" name="Shape 10"/>
          <p:cNvSpPr/>
          <p:nvPr/>
        </p:nvSpPr>
        <p:spPr>
          <a:xfrm>
            <a:off x="640080" y="4160520"/>
            <a:ext cx="457200" cy="457200"/>
          </a:xfrm>
          <a:prstGeom prst="roundRect">
            <a:avLst>
              <a:gd name="adj" fmla="val 16000"/>
            </a:avLst>
          </a:prstGeom>
          <a:solidFill>
            <a:srgbClr val="0F2540"/>
          </a:solidFill>
          <a:ln/>
        </p:spPr>
      </p:sp>
      <p:sp>
        <p:nvSpPr>
          <p:cNvPr id="13" name="Text 11"/>
          <p:cNvSpPr/>
          <p:nvPr/>
        </p:nvSpPr>
        <p:spPr>
          <a:xfrm>
            <a:off x="640080" y="4160520"/>
            <a:ext cx="457200" cy="457200"/>
          </a:xfrm>
          <a:prstGeom prst="rect">
            <a:avLst/>
          </a:prstGeom>
          <a:noFill/>
          <a:ln/>
        </p:spPr>
        <p:txBody>
          <a:bodyPr wrap="square" lIns="0" tIns="0" rIns="0" bIns="0" rtlCol="0" anchor="ctr"/>
          <a:lstStyle/>
          <a:p>
            <a:pPr algn="ctr" indent="0" marL="0">
              <a:buNone/>
            </a:pPr>
            <a:r>
              <a:rPr lang="en-US" sz="2000" b="1" dirty="0">
                <a:solidFill>
                  <a:srgbClr val="8FD3C7"/>
                </a:solidFill>
                <a:latin typeface="Cambria" pitchFamily="34" charset="0"/>
                <a:ea typeface="Cambria" pitchFamily="34" charset="-122"/>
                <a:cs typeface="Cambria" pitchFamily="34" charset="-120"/>
              </a:rPr>
              <a:t>4</a:t>
            </a:r>
            <a:endParaRPr lang="en-US" sz="2000" dirty="0"/>
          </a:p>
        </p:txBody>
      </p:sp>
      <p:sp>
        <p:nvSpPr>
          <p:cNvPr id="14" name="Text 12"/>
          <p:cNvSpPr/>
          <p:nvPr/>
        </p:nvSpPr>
        <p:spPr>
          <a:xfrm>
            <a:off x="1280160" y="4142232"/>
            <a:ext cx="9601200" cy="548640"/>
          </a:xfrm>
          <a:prstGeom prst="rect">
            <a:avLst/>
          </a:prstGeom>
          <a:noFill/>
          <a:ln/>
        </p:spPr>
        <p:txBody>
          <a:bodyPr wrap="square" lIns="0" tIns="0" rIns="0" bIns="0" rtlCol="0" anchor="ctr"/>
          <a:lstStyle/>
          <a:p>
            <a:pPr indent="0" marL="0">
              <a:buNone/>
            </a:pPr>
            <a:r>
              <a:rPr lang="en-US" sz="1900" dirty="0">
                <a:solidFill>
                  <a:srgbClr val="3A4A5A"/>
                </a:solidFill>
                <a:latin typeface="Calibri" pitchFamily="34" charset="0"/>
                <a:ea typeface="Calibri" pitchFamily="34" charset="-122"/>
                <a:cs typeface="Calibri" pitchFamily="34" charset="-120"/>
              </a:rPr>
              <a:t>Does every schema change have a rollback path?</a:t>
            </a:r>
            <a:endParaRPr lang="en-US" sz="1900" dirty="0"/>
          </a:p>
        </p:txBody>
      </p:sp>
      <p:sp>
        <p:nvSpPr>
          <p:cNvPr id="15" name="Shape 13"/>
          <p:cNvSpPr/>
          <p:nvPr/>
        </p:nvSpPr>
        <p:spPr>
          <a:xfrm>
            <a:off x="640080" y="5120640"/>
            <a:ext cx="457200" cy="457200"/>
          </a:xfrm>
          <a:prstGeom prst="roundRect">
            <a:avLst>
              <a:gd name="adj" fmla="val 16000"/>
            </a:avLst>
          </a:prstGeom>
          <a:solidFill>
            <a:srgbClr val="0F2540"/>
          </a:solidFill>
          <a:ln/>
        </p:spPr>
      </p:sp>
      <p:sp>
        <p:nvSpPr>
          <p:cNvPr id="16" name="Text 14"/>
          <p:cNvSpPr/>
          <p:nvPr/>
        </p:nvSpPr>
        <p:spPr>
          <a:xfrm>
            <a:off x="640080" y="5120640"/>
            <a:ext cx="457200" cy="457200"/>
          </a:xfrm>
          <a:prstGeom prst="rect">
            <a:avLst/>
          </a:prstGeom>
          <a:noFill/>
          <a:ln/>
        </p:spPr>
        <p:txBody>
          <a:bodyPr wrap="square" lIns="0" tIns="0" rIns="0" bIns="0" rtlCol="0" anchor="ctr"/>
          <a:lstStyle/>
          <a:p>
            <a:pPr algn="ctr" indent="0" marL="0">
              <a:buNone/>
            </a:pPr>
            <a:r>
              <a:rPr lang="en-US" sz="2000" b="1" dirty="0">
                <a:solidFill>
                  <a:srgbClr val="8FD3C7"/>
                </a:solidFill>
                <a:latin typeface="Cambria" pitchFamily="34" charset="0"/>
                <a:ea typeface="Cambria" pitchFamily="34" charset="-122"/>
                <a:cs typeface="Cambria" pitchFamily="34" charset="-120"/>
              </a:rPr>
              <a:t>5</a:t>
            </a:r>
            <a:endParaRPr lang="en-US" sz="2000" dirty="0"/>
          </a:p>
        </p:txBody>
      </p:sp>
      <p:sp>
        <p:nvSpPr>
          <p:cNvPr id="17" name="Text 15"/>
          <p:cNvSpPr/>
          <p:nvPr/>
        </p:nvSpPr>
        <p:spPr>
          <a:xfrm>
            <a:off x="1280160" y="5102352"/>
            <a:ext cx="9601200" cy="548640"/>
          </a:xfrm>
          <a:prstGeom prst="rect">
            <a:avLst/>
          </a:prstGeom>
          <a:noFill/>
          <a:ln/>
        </p:spPr>
        <p:txBody>
          <a:bodyPr wrap="square" lIns="0" tIns="0" rIns="0" bIns="0" rtlCol="0" anchor="ctr"/>
          <a:lstStyle/>
          <a:p>
            <a:pPr indent="0" marL="0">
              <a:buNone/>
            </a:pPr>
            <a:r>
              <a:rPr lang="en-US" sz="1900" dirty="0">
                <a:solidFill>
                  <a:srgbClr val="3A4A5A"/>
                </a:solidFill>
                <a:latin typeface="Calibri" pitchFamily="34" charset="0"/>
                <a:ea typeface="Calibri" pitchFamily="34" charset="-122"/>
                <a:cs typeface="Calibri" pitchFamily="34" charset="-120"/>
              </a:rPr>
              <a:t>Who owns data quality — by name?</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540"/>
        </a:solidFill>
      </p:bgPr>
    </p:bg>
    <p:spTree>
      <p:nvGrpSpPr>
        <p:cNvPr id="1" name=""/>
        <p:cNvGrpSpPr/>
        <p:nvPr/>
      </p:nvGrpSpPr>
      <p:grpSpPr>
        <a:xfrm>
          <a:off x="0" y="0"/>
          <a:ext cx="0" cy="0"/>
          <a:chOff x="0" y="0"/>
          <a:chExt cx="0" cy="0"/>
        </a:xfrm>
      </p:grpSpPr>
      <p:sp>
        <p:nvSpPr>
          <p:cNvPr id="2" name="Text 0"/>
          <p:cNvSpPr/>
          <p:nvPr/>
        </p:nvSpPr>
        <p:spPr>
          <a:xfrm>
            <a:off x="548640" y="45720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3" name="Shape 1"/>
          <p:cNvSpPr/>
          <p:nvPr/>
        </p:nvSpPr>
        <p:spPr>
          <a:xfrm>
            <a:off x="731520" y="1847088"/>
            <a:ext cx="164592" cy="164592"/>
          </a:xfrm>
          <a:prstGeom prst="rect">
            <a:avLst/>
          </a:prstGeom>
          <a:solidFill>
            <a:srgbClr val="8FD3C7"/>
          </a:solidFill>
          <a:ln/>
        </p:spPr>
      </p:sp>
      <p:sp>
        <p:nvSpPr>
          <p:cNvPr id="4" name="Text 2"/>
          <p:cNvSpPr/>
          <p:nvPr/>
        </p:nvSpPr>
        <p:spPr>
          <a:xfrm>
            <a:off x="1143000" y="1737360"/>
            <a:ext cx="9875520" cy="822960"/>
          </a:xfrm>
          <a:prstGeom prst="rect">
            <a:avLst/>
          </a:prstGeom>
          <a:noFill/>
          <a:ln/>
        </p:spPr>
        <p:txBody>
          <a:bodyPr wrap="square" lIns="0" tIns="0" rIns="0" bIns="0" rtlCol="0" anchor="t"/>
          <a:lstStyle/>
          <a:p>
            <a:pPr indent="0" marL="0">
              <a:buNone/>
            </a:pPr>
            <a:r>
              <a:rPr lang="en-US" sz="1900" dirty="0">
                <a:solidFill>
                  <a:srgbClr val="C9D9E3"/>
                </a:solidFill>
                <a:latin typeface="Calibri" pitchFamily="34" charset="0"/>
                <a:ea typeface="Calibri" pitchFamily="34" charset="-122"/>
                <a:cs typeface="Calibri" pitchFamily="34" charset="-120"/>
              </a:rPr>
              <a:t>The 87%-vs-43% gap is real — infrastructure isn't the same as data readiness.</a:t>
            </a:r>
            <a:endParaRPr lang="en-US" sz="1900" dirty="0"/>
          </a:p>
        </p:txBody>
      </p:sp>
      <p:sp>
        <p:nvSpPr>
          <p:cNvPr id="5" name="Shape 3"/>
          <p:cNvSpPr/>
          <p:nvPr/>
        </p:nvSpPr>
        <p:spPr>
          <a:xfrm>
            <a:off x="731520" y="2990088"/>
            <a:ext cx="164592" cy="164592"/>
          </a:xfrm>
          <a:prstGeom prst="rect">
            <a:avLst/>
          </a:prstGeom>
          <a:solidFill>
            <a:srgbClr val="8FD3C7"/>
          </a:solidFill>
          <a:ln/>
        </p:spPr>
      </p:sp>
      <p:sp>
        <p:nvSpPr>
          <p:cNvPr id="6" name="Text 4"/>
          <p:cNvSpPr/>
          <p:nvPr/>
        </p:nvSpPr>
        <p:spPr>
          <a:xfrm>
            <a:off x="1143000" y="2880360"/>
            <a:ext cx="9875520" cy="822960"/>
          </a:xfrm>
          <a:prstGeom prst="rect">
            <a:avLst/>
          </a:prstGeom>
          <a:noFill/>
          <a:ln/>
        </p:spPr>
        <p:txBody>
          <a:bodyPr wrap="square" lIns="0" tIns="0" rIns="0" bIns="0" rtlCol="0" anchor="t"/>
          <a:lstStyle/>
          <a:p>
            <a:pPr indent="0" marL="0">
              <a:buNone/>
            </a:pPr>
            <a:r>
              <a:rPr lang="en-US" sz="1900" dirty="0">
                <a:solidFill>
                  <a:srgbClr val="C9D9E3"/>
                </a:solidFill>
                <a:latin typeface="Calibri" pitchFamily="34" charset="0"/>
                <a:ea typeface="Calibri" pitchFamily="34" charset="-122"/>
                <a:cs typeface="Calibri" pitchFamily="34" charset="-120"/>
              </a:rPr>
              <a:t>Governance programs report 71% high data trust, vs. 50% without one.</a:t>
            </a:r>
            <a:endParaRPr lang="en-US" sz="1900" dirty="0"/>
          </a:p>
        </p:txBody>
      </p:sp>
      <p:sp>
        <p:nvSpPr>
          <p:cNvPr id="7" name="Shape 5"/>
          <p:cNvSpPr/>
          <p:nvPr/>
        </p:nvSpPr>
        <p:spPr>
          <a:xfrm>
            <a:off x="731520" y="4133088"/>
            <a:ext cx="164592" cy="164592"/>
          </a:xfrm>
          <a:prstGeom prst="rect">
            <a:avLst/>
          </a:prstGeom>
          <a:solidFill>
            <a:srgbClr val="8FD3C7"/>
          </a:solidFill>
          <a:ln/>
        </p:spPr>
      </p:sp>
      <p:sp>
        <p:nvSpPr>
          <p:cNvPr id="8" name="Text 6"/>
          <p:cNvSpPr/>
          <p:nvPr/>
        </p:nvSpPr>
        <p:spPr>
          <a:xfrm>
            <a:off x="1143000" y="4023360"/>
            <a:ext cx="9875520" cy="822960"/>
          </a:xfrm>
          <a:prstGeom prst="rect">
            <a:avLst/>
          </a:prstGeom>
          <a:noFill/>
          <a:ln/>
        </p:spPr>
        <p:txBody>
          <a:bodyPr wrap="square" lIns="0" tIns="0" rIns="0" bIns="0" rtlCol="0" anchor="t"/>
          <a:lstStyle/>
          <a:p>
            <a:pPr indent="0" marL="0">
              <a:buNone/>
            </a:pPr>
            <a:r>
              <a:rPr lang="en-US" sz="1900" dirty="0">
                <a:solidFill>
                  <a:srgbClr val="C9D9E3"/>
                </a:solidFill>
                <a:latin typeface="Calibri" pitchFamily="34" charset="0"/>
                <a:ea typeface="Calibri" pitchFamily="34" charset="-122"/>
                <a:cs typeface="Calibri" pitchFamily="34" charset="-120"/>
              </a:rPr>
              <a:t>Run the checklist before you scope the AI project, not after it stalls.</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188720"/>
            <a:ext cx="10881360" cy="4206240"/>
          </a:xfrm>
          <a:prstGeom prst="roundRect">
            <a:avLst>
              <a:gd name="adj" fmla="val 3261"/>
            </a:avLst>
          </a:prstGeom>
          <a:solidFill>
            <a:srgbClr val="0F2540"/>
          </a:solidFill>
          <a:ln/>
        </p:spPr>
      </p:sp>
      <p:sp>
        <p:nvSpPr>
          <p:cNvPr id="3" name="Text 1"/>
          <p:cNvSpPr/>
          <p:nvPr/>
        </p:nvSpPr>
        <p:spPr>
          <a:xfrm>
            <a:off x="1188720" y="1828800"/>
            <a:ext cx="9784080"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Not sure your database can</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support what's coming next?</a:t>
            </a:r>
            <a:endParaRPr lang="en-US" sz="3000" dirty="0"/>
          </a:p>
        </p:txBody>
      </p:sp>
      <p:sp>
        <p:nvSpPr>
          <p:cNvPr id="4" name="Text 2"/>
          <p:cNvSpPr/>
          <p:nvPr/>
        </p:nvSpPr>
        <p:spPr>
          <a:xfrm>
            <a:off x="1188720" y="3200400"/>
            <a:ext cx="9784080" cy="548640"/>
          </a:xfrm>
          <a:prstGeom prst="rect">
            <a:avLst/>
          </a:prstGeom>
          <a:noFill/>
          <a:ln/>
        </p:spPr>
        <p:txBody>
          <a:bodyPr wrap="square" lIns="0" tIns="0" rIns="0" bIns="0" rtlCol="0" anchor="ctr"/>
          <a:lstStyle/>
          <a:p>
            <a:pPr indent="0" marL="0">
              <a:buNone/>
            </a:pPr>
            <a:r>
              <a:rPr lang="en-US" sz="1800" dirty="0">
                <a:solidFill>
                  <a:srgbClr val="C9D9E3"/>
                </a:solidFill>
                <a:latin typeface="Calibri" pitchFamily="34" charset="0"/>
                <a:ea typeface="Calibri" pitchFamily="34" charset="-122"/>
                <a:cs typeface="Calibri" pitchFamily="34" charset="-120"/>
              </a:rPr>
              <a:t>A short readiness review is a lot cheaper than a stalled AI project.</a:t>
            </a:r>
            <a:endParaRPr lang="en-US" sz="1800" dirty="0"/>
          </a:p>
        </p:txBody>
      </p:sp>
      <p:sp>
        <p:nvSpPr>
          <p:cNvPr id="5" name="Text 3"/>
          <p:cNvSpPr/>
          <p:nvPr/>
        </p:nvSpPr>
        <p:spPr>
          <a:xfrm>
            <a:off x="1188720" y="4206240"/>
            <a:ext cx="7315200" cy="548640"/>
          </a:xfrm>
          <a:prstGeom prst="rect">
            <a:avLst/>
          </a:prstGeom>
          <a:noFill/>
          <a:ln/>
        </p:spPr>
        <p:txBody>
          <a:bodyPr wrap="square" lIns="0" tIns="0" rIns="0" bIns="0" rtlCol="0" anchor="ctr"/>
          <a:lstStyle/>
          <a:p>
            <a:pPr indent="0" marL="0">
              <a:buNone/>
            </a:pPr>
            <a:r>
              <a:rPr lang="en-US" sz="2000" b="1" dirty="0">
                <a:solidFill>
                  <a:srgbClr val="8FD3C7"/>
                </a:solidFill>
                <a:latin typeface="Calibri" pitchFamily="34" charset="0"/>
                <a:ea typeface="Calibri" pitchFamily="34" charset="-122"/>
                <a:cs typeface="Calibri" pitchFamily="34" charset="-120"/>
              </a:rPr>
              <a:t>dataplatformadvisory.com</a:t>
            </a:r>
            <a:endParaRPr lang="en-US" sz="2000" dirty="0"/>
          </a:p>
        </p:txBody>
      </p:sp>
      <p:sp>
        <p:nvSpPr>
          <p:cNvPr id="6" name="Text 4"/>
          <p:cNvSpPr/>
          <p:nvPr/>
        </p:nvSpPr>
        <p:spPr>
          <a:xfrm>
            <a:off x="1188720" y="4754880"/>
            <a:ext cx="7315200" cy="457200"/>
          </a:xfrm>
          <a:prstGeom prst="rect">
            <a:avLst/>
          </a:prstGeom>
          <a:noFill/>
          <a:ln/>
        </p:spPr>
        <p:txBody>
          <a:bodyPr wrap="square" lIns="0" tIns="0" rIns="0" bIns="0" rtlCol="0" anchor="ctr"/>
          <a:lstStyle/>
          <a:p>
            <a:pPr indent="0" marL="0">
              <a:buNone/>
            </a:pPr>
            <a:r>
              <a:rPr lang="en-US" sz="1400" dirty="0">
                <a:solidFill>
                  <a:srgbClr val="C9D9E3"/>
                </a:solidFill>
                <a:latin typeface="Calibri" pitchFamily="34" charset="0"/>
                <a:ea typeface="Calibri" pitchFamily="34" charset="-122"/>
                <a:cs typeface="Calibri" pitchFamily="34" charset="-120"/>
              </a:rPr>
              <a:t>Ivan Lima · Data Platform Advisory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2026-08-26T06:06:27Z</dcterms:created>
  <dcterms:modified xsi:type="dcterms:W3CDTF">2026-08-26T06:06:27Z</dcterms:modified>
</cp:coreProperties>
</file>