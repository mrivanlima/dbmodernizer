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I'm Ivan Lima with Data Platform Advisory. Today I want to talk about something that trips up a lot of teams building retrieval-augmented generation systems: performance tuning for hybrid search, specifically what happens when vector search and keyword search start competing for the same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problem. Hybrid search combines vector similarity search with keyword search, usually BM25, to get better accuracy. Vector search traverses a graph structure called HNSW, and it wants to live in memory. Keyword search scans an inverted index and leans more on disk I/O and parallel workers. They look independent, but they're running on the same instance, fighting over the same CPU cores, the same buffer cache, and the same connection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explain why teams adopt hybrid search in the first place. Dense vector-only retrieval gets you about 78% recall at 10. Keyword-only BM25 gets you about 65%. But combine them with hybrid search, and recall jumps to 91%. That's a big jump in accuracy. But it means every single request is now running two expensive retrieval operations at once, not one -- and that's where the resource contention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fusion itself is cheap, where does the latency actually go? Reciprocal rank fusion, or RRF, just merges two already-ranked lists by position. It's basically addition. It's never the bottleneck. The real cost is the two retrieval queries feeding it. And here's the trap: if you benchmark them separately, an 8-millisecond vector query and a 12-millisecond keyword query both look totally fine. But run 200 of each at the same time against the same instance, and both numbers move, often in ways that aren't linear, because now they're fighting for the same CPU and memory. Always load test both retrievers running together, not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up the key points. Hybrid search's accuracy gain isn't free -- it costs two resource-hungry queries per request. Vector and keyword search have different resource profiles, so tune them separately. Contention only shows up when you test both retrievers under real concurrency, not in isolated benchmarks. RRF itself is cheap; the retrieval feeding it is where your latency budget actually goes. And finally, cap your connection pools and parallel workers per retriever instead of sharing one unbounded pool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retrieval pipeline is still growing, this kind of contention compounds over time. It's invisible in a small proof of concept, and very visible once you're at real production scale with concurrent users. If you want a second set of eyes on where this is likely to hit your architecture, head to dataplatformadvisory.com and get in touch.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40"/>
        </a:solidFill>
      </p:bgPr>
    </p:bg>
    <p:spTree>
      <p:nvGrpSpPr>
        <p:cNvPr id="1" name=""/>
        <p:cNvGrpSpPr/>
        <p:nvPr/>
      </p:nvGrpSpPr>
      <p:grpSpPr>
        <a:xfrm>
          <a:off x="0" y="0"/>
          <a:ext cx="0" cy="0"/>
          <a:chOff x="0" y="0"/>
          <a:chExt cx="0" cy="0"/>
        </a:xfrm>
      </p:grpSpPr>
      <p:sp>
        <p:nvSpPr>
          <p:cNvPr id="2" name="Text 0"/>
          <p:cNvSpPr txBox="1"/>
          <p:nvPr/>
        </p:nvSpPr>
        <p:spPr>
          <a:xfrm>
            <a:off x="731520" y="2103120"/>
            <a:ext cx="10698480" cy="12801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Performance Tuning for Hybrid Search</a:t>
            </a:r>
            <a:endParaRPr lang="en-US" sz="4000" dirty="0"/>
          </a:p>
        </p:txBody>
      </p:sp>
      <p:sp>
        <p:nvSpPr>
          <p:cNvPr id="3" name="Text 1"/>
          <p:cNvSpPr txBox="1"/>
          <p:nvPr/>
        </p:nvSpPr>
        <p:spPr>
          <a:xfrm>
            <a:off x="731520" y="3291840"/>
            <a:ext cx="10698480" cy="640080"/>
          </a:xfrm>
          <a:prstGeom prst="rect">
            <a:avLst/>
          </a:prstGeom>
          <a:noFill/>
          <a:ln/>
        </p:spPr>
        <p:txBody>
          <a:bodyPr wrap="square" lIns="0" tIns="0" rIns="0" bIns="0" rtlCol="0" anchor="ctr"/>
          <a:lstStyle/>
          <a:p>
            <a:pPr algn="l" indent="0" marL="0">
              <a:buNone/>
            </a:pPr>
            <a:r>
              <a:rPr lang="en-US" sz="2000" dirty="0">
                <a:solidFill>
                  <a:srgbClr val="8FD3C7"/>
                </a:solidFill>
                <a:latin typeface="Calibri" pitchFamily="34" charset="0"/>
                <a:ea typeface="Calibri" pitchFamily="34" charset="-122"/>
                <a:cs typeface="Calibri" pitchFamily="34" charset="-120"/>
              </a:rPr>
              <a:t>When Vector and Keyword Search Compete for Resources</a:t>
            </a:r>
            <a:endParaRPr lang="en-US" sz="2000" dirty="0"/>
          </a:p>
        </p:txBody>
      </p:sp>
      <p:sp>
        <p:nvSpPr>
          <p:cNvPr id="4" name="Text 2"/>
          <p:cNvSpPr txBox="1"/>
          <p:nvPr/>
        </p:nvSpPr>
        <p:spPr>
          <a:xfrm>
            <a:off x="731520" y="5943600"/>
            <a:ext cx="7315200" cy="457200"/>
          </a:xfrm>
          <a:prstGeom prst="rect">
            <a:avLst/>
          </a:prstGeom>
          <a:noFill/>
          <a:ln/>
        </p:spPr>
        <p:txBody>
          <a:bodyPr wrap="square" lIns="0" tIns="0" rIns="0" bIns="0" rtlCol="0" anchor="ctr"/>
          <a:lstStyle/>
          <a:p>
            <a:pPr algn="l" indent="0" marL="0">
              <a:buNone/>
            </a:pPr>
            <a:r>
              <a:rPr lang="en-US" sz="1500" dirty="0">
                <a:solidFill>
                  <a:srgbClr val="C9D9E3"/>
                </a:solidFill>
                <a:latin typeface="Calibri" pitchFamily="34" charset="0"/>
                <a:ea typeface="Calibri" pitchFamily="34" charset="-122"/>
                <a:cs typeface="Calibri" pitchFamily="34" charset="-120"/>
              </a:rPr>
              <a:t>Ivan Lima  ·  Data Platform Advisory</a:t>
            </a:r>
            <a:endParaRPr lang="en-US" sz="1500" dirty="0"/>
          </a:p>
        </p:txBody>
      </p:sp>
      <p:sp>
        <p:nvSpPr>
          <p:cNvPr id="5" name="Shape 3"/>
          <p:cNvSpPr/>
          <p:nvPr/>
        </p:nvSpPr>
        <p:spPr>
          <a:xfrm>
            <a:off x="9692640" y="548640"/>
            <a:ext cx="2011680" cy="2011680"/>
          </a:xfrm>
          <a:prstGeom prst="ellipse">
            <a:avLst/>
          </a:prstGeom>
          <a:solidFill>
            <a:srgbClr val="8FD3C7">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57200"/>
            <a:ext cx="7315200" cy="731520"/>
          </a:xfrm>
          <a:prstGeom prst="rect">
            <a:avLst/>
          </a:prstGeom>
          <a:noFill/>
          <a:ln/>
        </p:spPr>
        <p:txBody>
          <a:bodyPr wrap="square" lIns="0" tIns="0" rIns="0" bIns="0" rtlCol="0" anchor="ctr"/>
          <a:lstStyle/>
          <a:p>
            <a:pPr indent="0" marL="0">
              <a:buNone/>
            </a:pPr>
            <a:r>
              <a:rPr lang="en-US" sz="3200" b="1" dirty="0">
                <a:solidFill>
                  <a:srgbClr val="0F2540"/>
                </a:solidFill>
                <a:latin typeface="Cambria" pitchFamily="34" charset="0"/>
                <a:ea typeface="Cambria" pitchFamily="34" charset="-122"/>
                <a:cs typeface="Cambria" pitchFamily="34" charset="-120"/>
              </a:rPr>
              <a:t>The Problem</a:t>
            </a:r>
            <a:endParaRPr lang="en-US" sz="3200" dirty="0"/>
          </a:p>
        </p:txBody>
      </p:sp>
      <p:sp>
        <p:nvSpPr>
          <p:cNvPr id="3" name="Text 1"/>
          <p:cNvSpPr txBox="1"/>
          <p:nvPr/>
        </p:nvSpPr>
        <p:spPr>
          <a:xfrm>
            <a:off x="731520" y="1280160"/>
            <a:ext cx="10515600" cy="548640"/>
          </a:xfrm>
          <a:prstGeom prst="rect">
            <a:avLst/>
          </a:prstGeom>
          <a:noFill/>
          <a:ln/>
        </p:spPr>
        <p:txBody>
          <a:bodyPr wrap="square" lIns="0" tIns="0" rIns="0" bIns="0" rtlCol="0" anchor="ctr"/>
          <a:lstStyle/>
          <a:p>
            <a:pPr indent="0" marL="0">
              <a:buNone/>
            </a:pPr>
            <a:r>
              <a:rPr lang="en-US" sz="1800" dirty="0">
                <a:solidFill>
                  <a:srgbClr val="3A4A5A"/>
                </a:solidFill>
                <a:latin typeface="Calibri" pitchFamily="34" charset="0"/>
                <a:ea typeface="Calibri" pitchFamily="34" charset="-122"/>
                <a:cs typeface="Calibri" pitchFamily="34" charset="-120"/>
              </a:rPr>
              <a:t>Hybrid search runs two expensive queries per request — not one.</a:t>
            </a:r>
            <a:endParaRPr lang="en-US" sz="1800" dirty="0"/>
          </a:p>
        </p:txBody>
      </p:sp>
      <p:sp>
        <p:nvSpPr>
          <p:cNvPr id="4" name="Shape 2"/>
          <p:cNvSpPr/>
          <p:nvPr/>
        </p:nvSpPr>
        <p:spPr>
          <a:xfrm>
            <a:off x="731520" y="2194560"/>
            <a:ext cx="5029200" cy="3291840"/>
          </a:xfrm>
          <a:prstGeom prst="roundRect">
            <a:avLst>
              <a:gd name="adj" fmla="val 3333"/>
            </a:avLst>
          </a:prstGeom>
          <a:solidFill>
            <a:srgbClr val="0F2540"/>
          </a:solidFill>
          <a:ln/>
        </p:spPr>
      </p:sp>
      <p:sp>
        <p:nvSpPr>
          <p:cNvPr id="5" name="Text 3"/>
          <p:cNvSpPr txBox="1"/>
          <p:nvPr/>
        </p:nvSpPr>
        <p:spPr>
          <a:xfrm>
            <a:off x="1005840" y="2423160"/>
            <a:ext cx="4572000" cy="457200"/>
          </a:xfrm>
          <a:prstGeom prst="rect">
            <a:avLst/>
          </a:prstGeom>
          <a:noFill/>
          <a:ln/>
        </p:spPr>
        <p:txBody>
          <a:bodyPr wrap="square" lIns="0" tIns="0" rIns="0" bIns="0" rtlCol="0" anchor="ctr"/>
          <a:lstStyle/>
          <a:p>
            <a:pPr indent="0" marL="0">
              <a:buNone/>
            </a:pPr>
            <a:r>
              <a:rPr lang="en-US" sz="1800" b="1" dirty="0">
                <a:solidFill>
                  <a:srgbClr val="8FD3C7"/>
                </a:solidFill>
                <a:latin typeface="Cambria" pitchFamily="34" charset="0"/>
                <a:ea typeface="Cambria" pitchFamily="34" charset="-122"/>
                <a:cs typeface="Cambria" pitchFamily="34" charset="-120"/>
              </a:rPr>
              <a:t>Vector Search (HNSW)</a:t>
            </a:r>
            <a:endParaRPr lang="en-US" sz="1800" dirty="0"/>
          </a:p>
        </p:txBody>
      </p:sp>
      <p:sp>
        <p:nvSpPr>
          <p:cNvPr id="6" name="Text 4"/>
          <p:cNvSpPr txBox="1"/>
          <p:nvPr/>
        </p:nvSpPr>
        <p:spPr>
          <a:xfrm>
            <a:off x="1005840" y="3017520"/>
            <a:ext cx="4480560" cy="219456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C9D9E3"/>
                </a:solidFill>
                <a:latin typeface="Calibri" pitchFamily="34" charset="0"/>
                <a:ea typeface="Calibri" pitchFamily="34" charset="-122"/>
                <a:cs typeface="Calibri" pitchFamily="34" charset="-120"/>
              </a:rPr>
              <a:t>Graph traversal, RAM-resident</a:t>
            </a:r>
            <a:endParaRPr lang="en-US" sz="1400" dirty="0"/>
          </a:p>
          <a:p>
            <a:pPr marL="342900" indent="-342900">
              <a:spcAft>
                <a:spcPts val="1000"/>
              </a:spcAft>
              <a:buSzPct val="100000"/>
              <a:buChar char="•"/>
            </a:pPr>
            <a:r>
              <a:rPr lang="en-US" sz="1400" dirty="0">
                <a:solidFill>
                  <a:srgbClr val="C9D9E3"/>
                </a:solidFill>
                <a:latin typeface="Calibri" pitchFamily="34" charset="0"/>
                <a:ea typeface="Calibri" pitchFamily="34" charset="-122"/>
                <a:cs typeface="Calibri" pitchFamily="34" charset="-120"/>
              </a:rPr>
              <a:t>Memory- and CPU-bound</a:t>
            </a:r>
            <a:endParaRPr lang="en-US" sz="1400" dirty="0"/>
          </a:p>
          <a:p>
            <a:pPr marL="342900" indent="-342900">
              <a:spcAft>
                <a:spcPts val="1000"/>
              </a:spcAft>
              <a:buSzPct val="100000"/>
              <a:buChar char="•"/>
            </a:pPr>
            <a:r>
              <a:rPr lang="en-US" sz="1400" dirty="0">
                <a:solidFill>
                  <a:srgbClr val="C9D9E3"/>
                </a:solidFill>
                <a:latin typeface="Calibri" pitchFamily="34" charset="0"/>
                <a:ea typeface="Calibri" pitchFamily="34" charset="-122"/>
                <a:cs typeface="Calibri" pitchFamily="34" charset="-120"/>
              </a:rPr>
              <a:t>Competes for buffer cache</a:t>
            </a:r>
            <a:endParaRPr lang="en-US" sz="1400" dirty="0"/>
          </a:p>
        </p:txBody>
      </p:sp>
      <p:sp>
        <p:nvSpPr>
          <p:cNvPr id="7" name="Shape 5"/>
          <p:cNvSpPr/>
          <p:nvPr/>
        </p:nvSpPr>
        <p:spPr>
          <a:xfrm>
            <a:off x="6309360" y="2194560"/>
            <a:ext cx="5120640" cy="3291840"/>
          </a:xfrm>
          <a:prstGeom prst="roundRect">
            <a:avLst>
              <a:gd name="adj" fmla="val 3333"/>
            </a:avLst>
          </a:prstGeom>
          <a:solidFill>
            <a:srgbClr val="3A4A5A"/>
          </a:solidFill>
          <a:ln/>
        </p:spPr>
      </p:sp>
      <p:sp>
        <p:nvSpPr>
          <p:cNvPr id="8" name="Text 6"/>
          <p:cNvSpPr txBox="1"/>
          <p:nvPr/>
        </p:nvSpPr>
        <p:spPr>
          <a:xfrm>
            <a:off x="6583680" y="2423160"/>
            <a:ext cx="4572000" cy="457200"/>
          </a:xfrm>
          <a:prstGeom prst="rect">
            <a:avLst/>
          </a:prstGeom>
          <a:noFill/>
          <a:ln/>
        </p:spPr>
        <p:txBody>
          <a:bodyPr wrap="square" lIns="0" tIns="0" rIns="0" bIns="0" rtlCol="0" anchor="ctr"/>
          <a:lstStyle/>
          <a:p>
            <a:pPr indent="0" marL="0">
              <a:buNone/>
            </a:pPr>
            <a:r>
              <a:rPr lang="en-US" sz="1800" b="1" dirty="0">
                <a:solidFill>
                  <a:srgbClr val="8FD3C7"/>
                </a:solidFill>
                <a:latin typeface="Cambria" pitchFamily="34" charset="0"/>
                <a:ea typeface="Cambria" pitchFamily="34" charset="-122"/>
                <a:cs typeface="Cambria" pitchFamily="34" charset="-120"/>
              </a:rPr>
              <a:t>Keyword Search (BM25)</a:t>
            </a:r>
            <a:endParaRPr lang="en-US" sz="1800" dirty="0"/>
          </a:p>
        </p:txBody>
      </p:sp>
      <p:sp>
        <p:nvSpPr>
          <p:cNvPr id="9" name="Text 7"/>
          <p:cNvSpPr txBox="1"/>
          <p:nvPr/>
        </p:nvSpPr>
        <p:spPr>
          <a:xfrm>
            <a:off x="6583680" y="3017520"/>
            <a:ext cx="4663440" cy="219456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C9D9E3"/>
                </a:solidFill>
                <a:latin typeface="Calibri" pitchFamily="34" charset="0"/>
                <a:ea typeface="Calibri" pitchFamily="34" charset="-122"/>
                <a:cs typeface="Calibri" pitchFamily="34" charset="-120"/>
              </a:rPr>
              <a:t>Inverted index scan</a:t>
            </a:r>
            <a:endParaRPr lang="en-US" sz="1400" dirty="0"/>
          </a:p>
          <a:p>
            <a:pPr marL="342900" indent="-342900">
              <a:spcAft>
                <a:spcPts val="1000"/>
              </a:spcAft>
              <a:buSzPct val="100000"/>
              <a:buChar char="•"/>
            </a:pPr>
            <a:r>
              <a:rPr lang="en-US" sz="1400" dirty="0">
                <a:solidFill>
                  <a:srgbClr val="C9D9E3"/>
                </a:solidFill>
                <a:latin typeface="Calibri" pitchFamily="34" charset="0"/>
                <a:ea typeface="Calibri" pitchFamily="34" charset="-122"/>
                <a:cs typeface="Calibri" pitchFamily="34" charset="-120"/>
              </a:rPr>
              <a:t>I/O- and worker-bound</a:t>
            </a:r>
            <a:endParaRPr lang="en-US" sz="1400" dirty="0"/>
          </a:p>
          <a:p>
            <a:pPr marL="342900" indent="-342900">
              <a:spcAft>
                <a:spcPts val="1000"/>
              </a:spcAft>
              <a:buSzPct val="100000"/>
              <a:buChar char="•"/>
            </a:pPr>
            <a:r>
              <a:rPr lang="en-US" sz="1400" dirty="0">
                <a:solidFill>
                  <a:srgbClr val="C9D9E3"/>
                </a:solidFill>
                <a:latin typeface="Calibri" pitchFamily="34" charset="0"/>
                <a:ea typeface="Calibri" pitchFamily="34" charset="-122"/>
                <a:cs typeface="Calibri" pitchFamily="34" charset="-120"/>
              </a:rPr>
              <a:t>Competes for parallel workers</a:t>
            </a:r>
            <a:endParaRPr lang="en-US" sz="1400" dirty="0"/>
          </a:p>
        </p:txBody>
      </p:sp>
      <p:sp>
        <p:nvSpPr>
          <p:cNvPr id="10" name="Text 8"/>
          <p:cNvSpPr txBox="1"/>
          <p:nvPr/>
        </p:nvSpPr>
        <p:spPr>
          <a:xfrm>
            <a:off x="731520" y="5760720"/>
            <a:ext cx="10515600" cy="548640"/>
          </a:xfrm>
          <a:prstGeom prst="rect">
            <a:avLst/>
          </a:prstGeom>
          <a:noFill/>
          <a:ln/>
        </p:spPr>
        <p:txBody>
          <a:bodyPr wrap="square" lIns="0" tIns="0" rIns="0" bIns="0" rtlCol="0" anchor="ctr"/>
          <a:lstStyle/>
          <a:p>
            <a:pPr indent="0" marL="0">
              <a:buNone/>
            </a:pPr>
            <a:r>
              <a:rPr lang="en-US" sz="1500" i="1" dirty="0">
                <a:solidFill>
                  <a:srgbClr val="0F2540"/>
                </a:solidFill>
                <a:latin typeface="Calibri" pitchFamily="34" charset="0"/>
                <a:ea typeface="Calibri" pitchFamily="34" charset="-122"/>
                <a:cs typeface="Calibri" pitchFamily="34" charset="-120"/>
              </a:rPr>
              <a:t>Both share the same CPU, buffer cache, and connection pool.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540"/>
        </a:solidFill>
      </p:bgPr>
    </p:bg>
    <p:spTree>
      <p:nvGrpSpPr>
        <p:cNvPr id="1" name=""/>
        <p:cNvGrpSpPr/>
        <p:nvPr/>
      </p:nvGrpSpPr>
      <p:grpSpPr>
        <a:xfrm>
          <a:off x="0" y="0"/>
          <a:ext cx="0" cy="0"/>
          <a:chOff x="0" y="0"/>
          <a:chExt cx="0" cy="0"/>
        </a:xfrm>
      </p:grpSpPr>
      <p:sp>
        <p:nvSpPr>
          <p:cNvPr id="2" name="Text 0"/>
          <p:cNvSpPr txBox="1"/>
          <p:nvPr/>
        </p:nvSpPr>
        <p:spPr>
          <a:xfrm>
            <a:off x="731520" y="457200"/>
            <a:ext cx="100584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Accuracy Payoff Isn't Free</a:t>
            </a:r>
            <a:endParaRPr lang="en-US" sz="3000" dirty="0"/>
          </a:p>
        </p:txBody>
      </p:sp>
      <p:sp>
        <p:nvSpPr>
          <p:cNvPr id="3" name="Shape 1"/>
          <p:cNvSpPr/>
          <p:nvPr/>
        </p:nvSpPr>
        <p:spPr>
          <a:xfrm>
            <a:off x="731520" y="2011680"/>
            <a:ext cx="3383280" cy="2926080"/>
          </a:xfrm>
          <a:prstGeom prst="roundRect">
            <a:avLst>
              <a:gd name="adj" fmla="val 3750"/>
            </a:avLst>
          </a:prstGeom>
          <a:solidFill>
            <a:srgbClr val="1B3A5C"/>
          </a:solidFill>
          <a:ln/>
        </p:spPr>
      </p:sp>
      <p:sp>
        <p:nvSpPr>
          <p:cNvPr id="4" name="Text 2"/>
          <p:cNvSpPr txBox="1"/>
          <p:nvPr/>
        </p:nvSpPr>
        <p:spPr>
          <a:xfrm>
            <a:off x="731520" y="2377440"/>
            <a:ext cx="3383280" cy="1097280"/>
          </a:xfrm>
          <a:prstGeom prst="rect">
            <a:avLst/>
          </a:prstGeom>
          <a:noFill/>
          <a:ln/>
        </p:spPr>
        <p:txBody>
          <a:bodyPr wrap="square" lIns="0" tIns="0" rIns="0" bIns="0" rtlCol="0" anchor="ctr"/>
          <a:lstStyle/>
          <a:p>
            <a:pPr algn="ctr" indent="0" marL="0">
              <a:buNone/>
            </a:pPr>
            <a:r>
              <a:rPr lang="en-US" sz="4600" b="1" dirty="0">
                <a:solidFill>
                  <a:srgbClr val="8FD3C7"/>
                </a:solidFill>
                <a:latin typeface="Cambria" pitchFamily="34" charset="0"/>
                <a:ea typeface="Cambria" pitchFamily="34" charset="-122"/>
                <a:cs typeface="Cambria" pitchFamily="34" charset="-120"/>
              </a:rPr>
              <a:t>78%</a:t>
            </a:r>
            <a:endParaRPr lang="en-US" sz="4600" dirty="0"/>
          </a:p>
        </p:txBody>
      </p:sp>
      <p:sp>
        <p:nvSpPr>
          <p:cNvPr id="5" name="Text 3"/>
          <p:cNvSpPr txBox="1"/>
          <p:nvPr/>
        </p:nvSpPr>
        <p:spPr>
          <a:xfrm>
            <a:off x="914400" y="3657600"/>
            <a:ext cx="3017520" cy="914400"/>
          </a:xfrm>
          <a:prstGeom prst="rect">
            <a:avLst/>
          </a:prstGeom>
          <a:noFill/>
          <a:ln/>
        </p:spPr>
        <p:txBody>
          <a:bodyPr wrap="square" lIns="0" tIns="0" rIns="0" bIns="0" rtlCol="0" anchor="ctr"/>
          <a:lstStyle/>
          <a:p>
            <a:pPr algn="ctr" indent="0" marL="0">
              <a:buNone/>
            </a:pPr>
            <a:r>
              <a:rPr lang="en-US" sz="1400" dirty="0">
                <a:solidFill>
                  <a:srgbClr val="C9D9E3"/>
                </a:solidFill>
                <a:latin typeface="Calibri" pitchFamily="34" charset="0"/>
                <a:ea typeface="Calibri" pitchFamily="34" charset="-122"/>
                <a:cs typeface="Calibri" pitchFamily="34" charset="-120"/>
              </a:rPr>
              <a:t>Dense-only recall@10</a:t>
            </a:r>
            <a:endParaRPr lang="en-US" sz="1400" dirty="0"/>
          </a:p>
        </p:txBody>
      </p:sp>
      <p:sp>
        <p:nvSpPr>
          <p:cNvPr id="6" name="Shape 4"/>
          <p:cNvSpPr/>
          <p:nvPr/>
        </p:nvSpPr>
        <p:spPr>
          <a:xfrm>
            <a:off x="4389120" y="2011680"/>
            <a:ext cx="3383280" cy="2926080"/>
          </a:xfrm>
          <a:prstGeom prst="roundRect">
            <a:avLst>
              <a:gd name="adj" fmla="val 3750"/>
            </a:avLst>
          </a:prstGeom>
          <a:solidFill>
            <a:srgbClr val="1B3A5C"/>
          </a:solidFill>
          <a:ln/>
        </p:spPr>
      </p:sp>
      <p:sp>
        <p:nvSpPr>
          <p:cNvPr id="7" name="Text 5"/>
          <p:cNvSpPr txBox="1"/>
          <p:nvPr/>
        </p:nvSpPr>
        <p:spPr>
          <a:xfrm>
            <a:off x="4389120" y="2377440"/>
            <a:ext cx="3383280" cy="1097280"/>
          </a:xfrm>
          <a:prstGeom prst="rect">
            <a:avLst/>
          </a:prstGeom>
          <a:noFill/>
          <a:ln/>
        </p:spPr>
        <p:txBody>
          <a:bodyPr wrap="square" lIns="0" tIns="0" rIns="0" bIns="0" rtlCol="0" anchor="ctr"/>
          <a:lstStyle/>
          <a:p>
            <a:pPr algn="ctr" indent="0" marL="0">
              <a:buNone/>
            </a:pPr>
            <a:r>
              <a:rPr lang="en-US" sz="4600" b="1" dirty="0">
                <a:solidFill>
                  <a:srgbClr val="8FD3C7"/>
                </a:solidFill>
                <a:latin typeface="Cambria" pitchFamily="34" charset="0"/>
                <a:ea typeface="Cambria" pitchFamily="34" charset="-122"/>
                <a:cs typeface="Cambria" pitchFamily="34" charset="-120"/>
              </a:rPr>
              <a:t>65%</a:t>
            </a:r>
            <a:endParaRPr lang="en-US" sz="4600" dirty="0"/>
          </a:p>
        </p:txBody>
      </p:sp>
      <p:sp>
        <p:nvSpPr>
          <p:cNvPr id="8" name="Text 6"/>
          <p:cNvSpPr txBox="1"/>
          <p:nvPr/>
        </p:nvSpPr>
        <p:spPr>
          <a:xfrm>
            <a:off x="4572000" y="3657600"/>
            <a:ext cx="3017520" cy="914400"/>
          </a:xfrm>
          <a:prstGeom prst="rect">
            <a:avLst/>
          </a:prstGeom>
          <a:noFill/>
          <a:ln/>
        </p:spPr>
        <p:txBody>
          <a:bodyPr wrap="square" lIns="0" tIns="0" rIns="0" bIns="0" rtlCol="0" anchor="ctr"/>
          <a:lstStyle/>
          <a:p>
            <a:pPr algn="ctr" indent="0" marL="0">
              <a:buNone/>
            </a:pPr>
            <a:r>
              <a:rPr lang="en-US" sz="1400" dirty="0">
                <a:solidFill>
                  <a:srgbClr val="C9D9E3"/>
                </a:solidFill>
                <a:latin typeface="Calibri" pitchFamily="34" charset="0"/>
                <a:ea typeface="Calibri" pitchFamily="34" charset="-122"/>
                <a:cs typeface="Calibri" pitchFamily="34" charset="-120"/>
              </a:rPr>
              <a:t>Sparse-only (BM25) recall@10</a:t>
            </a:r>
            <a:endParaRPr lang="en-US" sz="1400" dirty="0"/>
          </a:p>
        </p:txBody>
      </p:sp>
      <p:sp>
        <p:nvSpPr>
          <p:cNvPr id="9" name="Shape 7"/>
          <p:cNvSpPr/>
          <p:nvPr/>
        </p:nvSpPr>
        <p:spPr>
          <a:xfrm>
            <a:off x="8046720" y="2011680"/>
            <a:ext cx="3383280" cy="2926080"/>
          </a:xfrm>
          <a:prstGeom prst="roundRect">
            <a:avLst>
              <a:gd name="adj" fmla="val 3750"/>
            </a:avLst>
          </a:prstGeom>
          <a:solidFill>
            <a:srgbClr val="8FD3C7"/>
          </a:solidFill>
          <a:ln/>
        </p:spPr>
      </p:sp>
      <p:sp>
        <p:nvSpPr>
          <p:cNvPr id="10" name="Text 8"/>
          <p:cNvSpPr txBox="1"/>
          <p:nvPr/>
        </p:nvSpPr>
        <p:spPr>
          <a:xfrm>
            <a:off x="8046720" y="2377440"/>
            <a:ext cx="3383280" cy="1097280"/>
          </a:xfrm>
          <a:prstGeom prst="rect">
            <a:avLst/>
          </a:prstGeom>
          <a:noFill/>
          <a:ln/>
        </p:spPr>
        <p:txBody>
          <a:bodyPr wrap="square" lIns="0" tIns="0" rIns="0" bIns="0" rtlCol="0" anchor="ctr"/>
          <a:lstStyle/>
          <a:p>
            <a:pPr algn="ctr" indent="0" marL="0">
              <a:buNone/>
            </a:pPr>
            <a:r>
              <a:rPr lang="en-US" sz="4600" b="1" dirty="0">
                <a:solidFill>
                  <a:srgbClr val="0F2540"/>
                </a:solidFill>
                <a:latin typeface="Cambria" pitchFamily="34" charset="0"/>
                <a:ea typeface="Cambria" pitchFamily="34" charset="-122"/>
                <a:cs typeface="Cambria" pitchFamily="34" charset="-120"/>
              </a:rPr>
              <a:t>91%</a:t>
            </a:r>
            <a:endParaRPr lang="en-US" sz="4600" dirty="0"/>
          </a:p>
        </p:txBody>
      </p:sp>
      <p:sp>
        <p:nvSpPr>
          <p:cNvPr id="11" name="Text 9"/>
          <p:cNvSpPr txBox="1"/>
          <p:nvPr/>
        </p:nvSpPr>
        <p:spPr>
          <a:xfrm>
            <a:off x="8229600" y="3657600"/>
            <a:ext cx="3017520" cy="914400"/>
          </a:xfrm>
          <a:prstGeom prst="rect">
            <a:avLst/>
          </a:prstGeom>
          <a:noFill/>
          <a:ln/>
        </p:spPr>
        <p:txBody>
          <a:bodyPr wrap="square" lIns="0" tIns="0" rIns="0" bIns="0" rtlCol="0" anchor="ctr"/>
          <a:lstStyle/>
          <a:p>
            <a:pPr algn="ctr" indent="0" marL="0">
              <a:buNone/>
            </a:pPr>
            <a:r>
              <a:rPr lang="en-US" sz="1400" dirty="0">
                <a:solidFill>
                  <a:srgbClr val="0F2540"/>
                </a:solidFill>
                <a:latin typeface="Calibri" pitchFamily="34" charset="0"/>
                <a:ea typeface="Calibri" pitchFamily="34" charset="-122"/>
                <a:cs typeface="Calibri" pitchFamily="34" charset="-120"/>
              </a:rPr>
              <a:t>Hybrid search recall@10</a:t>
            </a:r>
            <a:endParaRPr lang="en-US" sz="1400" dirty="0"/>
          </a:p>
        </p:txBody>
      </p:sp>
      <p:sp>
        <p:nvSpPr>
          <p:cNvPr id="12" name="Text 10"/>
          <p:cNvSpPr txBox="1"/>
          <p:nvPr/>
        </p:nvSpPr>
        <p:spPr>
          <a:xfrm>
            <a:off x="731520" y="5303520"/>
            <a:ext cx="10515600" cy="731520"/>
          </a:xfrm>
          <a:prstGeom prst="rect">
            <a:avLst/>
          </a:prstGeom>
          <a:noFill/>
          <a:ln/>
        </p:spPr>
        <p:txBody>
          <a:bodyPr wrap="square" lIns="0" tIns="0" rIns="0" bIns="0" rtlCol="0" anchor="ctr"/>
          <a:lstStyle/>
          <a:p>
            <a:pPr indent="0" marL="0">
              <a:buNone/>
            </a:pPr>
            <a:r>
              <a:rPr lang="en-US" sz="1500" dirty="0">
                <a:solidFill>
                  <a:srgbClr val="C9D9E3"/>
                </a:solidFill>
                <a:latin typeface="Calibri" pitchFamily="34" charset="0"/>
                <a:ea typeface="Calibri" pitchFamily="34" charset="-122"/>
                <a:cs typeface="Calibri" pitchFamily="34" charset="-120"/>
              </a:rPr>
              <a:t>Hybrid search's recall gain requires running two resource-hungry retrievers concurrently, on every request.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57200"/>
            <a:ext cx="10515600" cy="731520"/>
          </a:xfrm>
          <a:prstGeom prst="rect">
            <a:avLst/>
          </a:prstGeom>
          <a:noFill/>
          <a:ln/>
        </p:spPr>
        <p:txBody>
          <a:bodyPr wrap="square" lIns="0" tIns="0" rIns="0" bIns="0" rtlCol="0" anchor="ctr"/>
          <a:lstStyle/>
          <a:p>
            <a:pPr indent="0" marL="0">
              <a:buNone/>
            </a:pPr>
            <a:r>
              <a:rPr lang="en-US" sz="3000" b="1" dirty="0">
                <a:solidFill>
                  <a:srgbClr val="0F2540"/>
                </a:solidFill>
                <a:latin typeface="Cambria" pitchFamily="34" charset="0"/>
                <a:ea typeface="Cambria" pitchFamily="34" charset="-122"/>
                <a:cs typeface="Cambria" pitchFamily="34" charset="-120"/>
              </a:rPr>
              <a:t>Where the Latency Budget Actually Goes</a:t>
            </a:r>
            <a:endParaRPr lang="en-US" sz="3000" dirty="0"/>
          </a:p>
        </p:txBody>
      </p:sp>
      <p:sp>
        <p:nvSpPr>
          <p:cNvPr id="3" name="Shape 1"/>
          <p:cNvSpPr/>
          <p:nvPr/>
        </p:nvSpPr>
        <p:spPr>
          <a:xfrm>
            <a:off x="731520" y="1554480"/>
            <a:ext cx="10607040" cy="1188720"/>
          </a:xfrm>
          <a:prstGeom prst="roundRect">
            <a:avLst>
              <a:gd name="adj" fmla="val 7692"/>
            </a:avLst>
          </a:prstGeom>
          <a:solidFill>
            <a:srgbClr val="8FD3C7"/>
          </a:solidFill>
          <a:ln/>
        </p:spPr>
      </p:sp>
      <p:sp>
        <p:nvSpPr>
          <p:cNvPr id="4" name="Text 2"/>
          <p:cNvSpPr txBox="1"/>
          <p:nvPr/>
        </p:nvSpPr>
        <p:spPr>
          <a:xfrm>
            <a:off x="1005840" y="1783080"/>
            <a:ext cx="10058400" cy="731520"/>
          </a:xfrm>
          <a:prstGeom prst="rect">
            <a:avLst/>
          </a:prstGeom>
          <a:noFill/>
          <a:ln/>
        </p:spPr>
        <p:txBody>
          <a:bodyPr wrap="square" lIns="0" tIns="0" rIns="0" bIns="0" rtlCol="0" anchor="ctr"/>
          <a:lstStyle/>
          <a:p>
            <a:pPr indent="0" marL="0">
              <a:buNone/>
            </a:pPr>
            <a:r>
              <a:rPr lang="en-US" sz="1700" b="1" dirty="0">
                <a:solidFill>
                  <a:srgbClr val="0F2540"/>
                </a:solidFill>
                <a:latin typeface="Calibri" pitchFamily="34" charset="0"/>
                <a:ea typeface="Calibri" pitchFamily="34" charset="-122"/>
                <a:cs typeface="Calibri" pitchFamily="34" charset="-120"/>
              </a:rPr>
              <a:t>Reciprocal Rank Fusion (RRF) is cheap — just addition across ranked candidates</a:t>
            </a:r>
            <a:endParaRPr lang="en-US" sz="1700" dirty="0"/>
          </a:p>
        </p:txBody>
      </p:sp>
      <p:sp>
        <p:nvSpPr>
          <p:cNvPr id="5" name="Text 3"/>
          <p:cNvSpPr txBox="1"/>
          <p:nvPr/>
        </p:nvSpPr>
        <p:spPr>
          <a:xfrm>
            <a:off x="731520" y="3017520"/>
            <a:ext cx="10424160" cy="3291840"/>
          </a:xfrm>
          <a:prstGeom prst="rect">
            <a:avLst/>
          </a:prstGeom>
          <a:noFill/>
          <a:ln/>
        </p:spPr>
        <p:txBody>
          <a:bodyPr wrap="square" lIns="0" tIns="0" rIns="0" bIns="0" rtlCol="0" anchor="ctr"/>
          <a:lstStyle/>
          <a:p>
            <a:pPr marL="342900" indent="-342900">
              <a:spcAft>
                <a:spcPts val="1600"/>
              </a:spcAft>
              <a:buSzPct val="100000"/>
              <a:buChar char="•"/>
            </a:pPr>
            <a:r>
              <a:rPr lang="en-US" sz="1600" dirty="0">
                <a:solidFill>
                  <a:srgbClr val="3A4A5A"/>
                </a:solidFill>
                <a:latin typeface="Calibri" pitchFamily="34" charset="0"/>
                <a:ea typeface="Calibri" pitchFamily="34" charset="-122"/>
                <a:cs typeface="Calibri" pitchFamily="34" charset="-120"/>
              </a:rPr>
              <a:t>The two retrievals feeding RRF are the actual bottleneck</a:t>
            </a:r>
            <a:endParaRPr lang="en-US" sz="1600" dirty="0"/>
          </a:p>
          <a:p>
            <a:pPr marL="342900" indent="-342900">
              <a:spcAft>
                <a:spcPts val="1600"/>
              </a:spcAft>
              <a:buSzPct val="100000"/>
              <a:buChar char="•"/>
            </a:pPr>
            <a:r>
              <a:rPr lang="en-US" sz="1600" dirty="0">
                <a:solidFill>
                  <a:srgbClr val="3A4A5A"/>
                </a:solidFill>
                <a:latin typeface="Calibri" pitchFamily="34" charset="0"/>
                <a:ea typeface="Calibri" pitchFamily="34" charset="-122"/>
                <a:cs typeface="Calibri" pitchFamily="34" charset="-120"/>
              </a:rPr>
              <a:t>Isolated benchmarks mislead: 8ms vector + 12ms keyword look fine measured separately</a:t>
            </a:r>
            <a:endParaRPr lang="en-US" sz="1600" dirty="0"/>
          </a:p>
          <a:p>
            <a:pPr marL="342900" indent="-342900">
              <a:spcAft>
                <a:spcPts val="1600"/>
              </a:spcAft>
              <a:buSzPct val="100000"/>
              <a:buChar char="•"/>
            </a:pPr>
            <a:r>
              <a:rPr lang="en-US" sz="1600" dirty="0">
                <a:solidFill>
                  <a:srgbClr val="3A4A5A"/>
                </a:solidFill>
                <a:latin typeface="Calibri" pitchFamily="34" charset="0"/>
                <a:ea typeface="Calibri" pitchFamily="34" charset="-122"/>
                <a:cs typeface="Calibri" pitchFamily="34" charset="-120"/>
              </a:rPr>
              <a:t>Run 200 of each concurrently — both numbers move, often nonlinearly</a:t>
            </a:r>
            <a:endParaRPr lang="en-US" sz="1600" dirty="0"/>
          </a:p>
          <a:p>
            <a:pPr marL="342900" indent="-342900">
              <a:spcAft>
                <a:spcPts val="1600"/>
              </a:spcAft>
              <a:buSzPct val="100000"/>
              <a:buChar char="•"/>
            </a:pPr>
            <a:r>
              <a:rPr lang="en-US" sz="1600" dirty="0">
                <a:solidFill>
                  <a:srgbClr val="3A4A5A"/>
                </a:solidFill>
                <a:latin typeface="Calibri" pitchFamily="34" charset="0"/>
                <a:ea typeface="Calibri" pitchFamily="34" charset="-122"/>
                <a:cs typeface="Calibri" pitchFamily="34" charset="-120"/>
              </a:rPr>
              <a:t>Load-test both retrievers together, at real QPS, before trusting any single-path benchmark</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540"/>
        </a:solidFill>
      </p:bgPr>
    </p:bg>
    <p:spTree>
      <p:nvGrpSpPr>
        <p:cNvPr id="1" name=""/>
        <p:cNvGrpSpPr/>
        <p:nvPr/>
      </p:nvGrpSpPr>
      <p:grpSpPr>
        <a:xfrm>
          <a:off x="0" y="0"/>
          <a:ext cx="0" cy="0"/>
          <a:chOff x="0" y="0"/>
          <a:chExt cx="0" cy="0"/>
        </a:xfrm>
      </p:grpSpPr>
      <p:sp>
        <p:nvSpPr>
          <p:cNvPr id="2" name="Text 0"/>
          <p:cNvSpPr txBox="1"/>
          <p:nvPr/>
        </p:nvSpPr>
        <p:spPr>
          <a:xfrm>
            <a:off x="731520" y="457200"/>
            <a:ext cx="73152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3" name="Shape 1"/>
          <p:cNvSpPr/>
          <p:nvPr/>
        </p:nvSpPr>
        <p:spPr>
          <a:xfrm>
            <a:off x="731520" y="1554480"/>
            <a:ext cx="457200" cy="457200"/>
          </a:xfrm>
          <a:prstGeom prst="ellipse">
            <a:avLst/>
          </a:prstGeom>
          <a:solidFill>
            <a:srgbClr val="8FD3C7"/>
          </a:solidFill>
          <a:ln/>
        </p:spPr>
      </p:sp>
      <p:sp>
        <p:nvSpPr>
          <p:cNvPr id="4" name="Text 2"/>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600" b="1" dirty="0">
                <a:solidFill>
                  <a:srgbClr val="0F2540"/>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08760"/>
            <a:ext cx="9875520" cy="548640"/>
          </a:xfrm>
          <a:prstGeom prst="rect">
            <a:avLst/>
          </a:prstGeom>
          <a:noFill/>
          <a:ln/>
        </p:spPr>
        <p:txBody>
          <a:bodyPr wrap="square" lIns="0" tIns="0" rIns="0" bIns="0" rtlCol="0" anchor="ctr"/>
          <a:lstStyle/>
          <a:p>
            <a:pPr indent="0" marL="0">
              <a:buNone/>
            </a:pPr>
            <a:r>
              <a:rPr lang="en-US" sz="1600" dirty="0">
                <a:solidFill>
                  <a:srgbClr val="C9D9E3"/>
                </a:solidFill>
                <a:latin typeface="Calibri" pitchFamily="34" charset="0"/>
                <a:ea typeface="Calibri" pitchFamily="34" charset="-122"/>
                <a:cs typeface="Calibri" pitchFamily="34" charset="-120"/>
              </a:rPr>
              <a:t>Hybrid search's accuracy gain costs two resource-hungry queries per request</a:t>
            </a:r>
            <a:endParaRPr lang="en-US" sz="1600" dirty="0"/>
          </a:p>
        </p:txBody>
      </p:sp>
      <p:sp>
        <p:nvSpPr>
          <p:cNvPr id="6" name="Shape 4"/>
          <p:cNvSpPr/>
          <p:nvPr/>
        </p:nvSpPr>
        <p:spPr>
          <a:xfrm>
            <a:off x="731520" y="2468880"/>
            <a:ext cx="457200" cy="457200"/>
          </a:xfrm>
          <a:prstGeom prst="ellipse">
            <a:avLst/>
          </a:prstGeom>
          <a:solidFill>
            <a:srgbClr val="8FD3C7"/>
          </a:solidFill>
          <a:ln/>
        </p:spPr>
      </p:sp>
      <p:sp>
        <p:nvSpPr>
          <p:cNvPr id="7" name="Text 5"/>
          <p:cNvSpPr txBox="1"/>
          <p:nvPr/>
        </p:nvSpPr>
        <p:spPr>
          <a:xfrm>
            <a:off x="731520" y="2468880"/>
            <a:ext cx="457200" cy="457200"/>
          </a:xfrm>
          <a:prstGeom prst="rect">
            <a:avLst/>
          </a:prstGeom>
          <a:noFill/>
          <a:ln/>
        </p:spPr>
        <p:txBody>
          <a:bodyPr wrap="square" lIns="0" tIns="0" rIns="0" bIns="0" rtlCol="0" anchor="ctr"/>
          <a:lstStyle/>
          <a:p>
            <a:pPr algn="ctr" indent="0" marL="0">
              <a:buNone/>
            </a:pPr>
            <a:r>
              <a:rPr lang="en-US" sz="1600" b="1" dirty="0">
                <a:solidFill>
                  <a:srgbClr val="0F2540"/>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371600" y="2423160"/>
            <a:ext cx="9875520" cy="548640"/>
          </a:xfrm>
          <a:prstGeom prst="rect">
            <a:avLst/>
          </a:prstGeom>
          <a:noFill/>
          <a:ln/>
        </p:spPr>
        <p:txBody>
          <a:bodyPr wrap="square" lIns="0" tIns="0" rIns="0" bIns="0" rtlCol="0" anchor="ctr"/>
          <a:lstStyle/>
          <a:p>
            <a:pPr indent="0" marL="0">
              <a:buNone/>
            </a:pPr>
            <a:r>
              <a:rPr lang="en-US" sz="1600" dirty="0">
                <a:solidFill>
                  <a:srgbClr val="C9D9E3"/>
                </a:solidFill>
                <a:latin typeface="Calibri" pitchFamily="34" charset="0"/>
                <a:ea typeface="Calibri" pitchFamily="34" charset="-122"/>
                <a:cs typeface="Calibri" pitchFamily="34" charset="-120"/>
              </a:rPr>
              <a:t>Vector and keyword search have different resource profiles — tune them separately</a:t>
            </a:r>
            <a:endParaRPr lang="en-US" sz="1600" dirty="0"/>
          </a:p>
        </p:txBody>
      </p:sp>
      <p:sp>
        <p:nvSpPr>
          <p:cNvPr id="9" name="Shape 7"/>
          <p:cNvSpPr/>
          <p:nvPr/>
        </p:nvSpPr>
        <p:spPr>
          <a:xfrm>
            <a:off x="731520" y="3383280"/>
            <a:ext cx="457200" cy="457200"/>
          </a:xfrm>
          <a:prstGeom prst="ellipse">
            <a:avLst/>
          </a:prstGeom>
          <a:solidFill>
            <a:srgbClr val="8FD3C7"/>
          </a:solidFill>
          <a:ln/>
        </p:spPr>
      </p:sp>
      <p:sp>
        <p:nvSpPr>
          <p:cNvPr id="10" name="Text 8"/>
          <p:cNvSpPr txBox="1"/>
          <p:nvPr/>
        </p:nvSpPr>
        <p:spPr>
          <a:xfrm>
            <a:off x="731520" y="3383280"/>
            <a:ext cx="457200" cy="457200"/>
          </a:xfrm>
          <a:prstGeom prst="rect">
            <a:avLst/>
          </a:prstGeom>
          <a:noFill/>
          <a:ln/>
        </p:spPr>
        <p:txBody>
          <a:bodyPr wrap="square" lIns="0" tIns="0" rIns="0" bIns="0" rtlCol="0" anchor="ctr"/>
          <a:lstStyle/>
          <a:p>
            <a:pPr algn="ctr" indent="0" marL="0">
              <a:buNone/>
            </a:pPr>
            <a:r>
              <a:rPr lang="en-US" sz="1600" b="1" dirty="0">
                <a:solidFill>
                  <a:srgbClr val="0F2540"/>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371600" y="3337560"/>
            <a:ext cx="9875520" cy="548640"/>
          </a:xfrm>
          <a:prstGeom prst="rect">
            <a:avLst/>
          </a:prstGeom>
          <a:noFill/>
          <a:ln/>
        </p:spPr>
        <p:txBody>
          <a:bodyPr wrap="square" lIns="0" tIns="0" rIns="0" bIns="0" rtlCol="0" anchor="ctr"/>
          <a:lstStyle/>
          <a:p>
            <a:pPr indent="0" marL="0">
              <a:buNone/>
            </a:pPr>
            <a:r>
              <a:rPr lang="en-US" sz="1600" dirty="0">
                <a:solidFill>
                  <a:srgbClr val="C9D9E3"/>
                </a:solidFill>
                <a:latin typeface="Calibri" pitchFamily="34" charset="0"/>
                <a:ea typeface="Calibri" pitchFamily="34" charset="-122"/>
                <a:cs typeface="Calibri" pitchFamily="34" charset="-120"/>
              </a:rPr>
              <a:t>Contention shows up under concurrency, not in isolated single-query benchmarks</a:t>
            </a:r>
            <a:endParaRPr lang="en-US" sz="1600" dirty="0"/>
          </a:p>
        </p:txBody>
      </p:sp>
      <p:sp>
        <p:nvSpPr>
          <p:cNvPr id="12" name="Shape 10"/>
          <p:cNvSpPr/>
          <p:nvPr/>
        </p:nvSpPr>
        <p:spPr>
          <a:xfrm>
            <a:off x="731520" y="4297680"/>
            <a:ext cx="457200" cy="457200"/>
          </a:xfrm>
          <a:prstGeom prst="ellipse">
            <a:avLst/>
          </a:prstGeom>
          <a:solidFill>
            <a:srgbClr val="8FD3C7"/>
          </a:solidFill>
          <a:ln/>
        </p:spPr>
      </p:sp>
      <p:sp>
        <p:nvSpPr>
          <p:cNvPr id="13" name="Text 11"/>
          <p:cNvSpPr txBox="1"/>
          <p:nvPr/>
        </p:nvSpPr>
        <p:spPr>
          <a:xfrm>
            <a:off x="731520" y="4297680"/>
            <a:ext cx="457200" cy="457200"/>
          </a:xfrm>
          <a:prstGeom prst="rect">
            <a:avLst/>
          </a:prstGeom>
          <a:noFill/>
          <a:ln/>
        </p:spPr>
        <p:txBody>
          <a:bodyPr wrap="square" lIns="0" tIns="0" rIns="0" bIns="0" rtlCol="0" anchor="ctr"/>
          <a:lstStyle/>
          <a:p>
            <a:pPr algn="ctr" indent="0" marL="0">
              <a:buNone/>
            </a:pPr>
            <a:r>
              <a:rPr lang="en-US" sz="1600" b="1" dirty="0">
                <a:solidFill>
                  <a:srgbClr val="0F2540"/>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371600" y="4251960"/>
            <a:ext cx="9875520" cy="548640"/>
          </a:xfrm>
          <a:prstGeom prst="rect">
            <a:avLst/>
          </a:prstGeom>
          <a:noFill/>
          <a:ln/>
        </p:spPr>
        <p:txBody>
          <a:bodyPr wrap="square" lIns="0" tIns="0" rIns="0" bIns="0" rtlCol="0" anchor="ctr"/>
          <a:lstStyle/>
          <a:p>
            <a:pPr indent="0" marL="0">
              <a:buNone/>
            </a:pPr>
            <a:r>
              <a:rPr lang="en-US" sz="1600" dirty="0">
                <a:solidFill>
                  <a:srgbClr val="C9D9E3"/>
                </a:solidFill>
                <a:latin typeface="Calibri" pitchFamily="34" charset="0"/>
                <a:ea typeface="Calibri" pitchFamily="34" charset="-122"/>
                <a:cs typeface="Calibri" pitchFamily="34" charset="-120"/>
              </a:rPr>
              <a:t>RRF is cheap; the retrieval feeding it isn't — that's where the budget goes</a:t>
            </a:r>
            <a:endParaRPr lang="en-US" sz="1600" dirty="0"/>
          </a:p>
        </p:txBody>
      </p:sp>
      <p:sp>
        <p:nvSpPr>
          <p:cNvPr id="15" name="Shape 13"/>
          <p:cNvSpPr/>
          <p:nvPr/>
        </p:nvSpPr>
        <p:spPr>
          <a:xfrm>
            <a:off x="731520" y="5212080"/>
            <a:ext cx="457200" cy="457200"/>
          </a:xfrm>
          <a:prstGeom prst="ellipse">
            <a:avLst/>
          </a:prstGeom>
          <a:solidFill>
            <a:srgbClr val="8FD3C7"/>
          </a:solidFill>
          <a:ln/>
        </p:spPr>
      </p:sp>
      <p:sp>
        <p:nvSpPr>
          <p:cNvPr id="16" name="Text 14"/>
          <p:cNvSpPr txBox="1"/>
          <p:nvPr/>
        </p:nvSpPr>
        <p:spPr>
          <a:xfrm>
            <a:off x="731520" y="5212080"/>
            <a:ext cx="457200" cy="457200"/>
          </a:xfrm>
          <a:prstGeom prst="rect">
            <a:avLst/>
          </a:prstGeom>
          <a:noFill/>
          <a:ln/>
        </p:spPr>
        <p:txBody>
          <a:bodyPr wrap="square" lIns="0" tIns="0" rIns="0" bIns="0" rtlCol="0" anchor="ctr"/>
          <a:lstStyle/>
          <a:p>
            <a:pPr algn="ctr" indent="0" marL="0">
              <a:buNone/>
            </a:pPr>
            <a:r>
              <a:rPr lang="en-US" sz="1600" b="1" dirty="0">
                <a:solidFill>
                  <a:srgbClr val="0F2540"/>
                </a:solidFill>
                <a:latin typeface="Cambria" pitchFamily="34" charset="0"/>
                <a:ea typeface="Cambria" pitchFamily="34" charset="-122"/>
                <a:cs typeface="Cambria" pitchFamily="34" charset="-120"/>
              </a:rPr>
              <a:t>5</a:t>
            </a:r>
            <a:endParaRPr lang="en-US" sz="1600" dirty="0"/>
          </a:p>
        </p:txBody>
      </p:sp>
      <p:sp>
        <p:nvSpPr>
          <p:cNvPr id="17" name="Text 15"/>
          <p:cNvSpPr txBox="1"/>
          <p:nvPr/>
        </p:nvSpPr>
        <p:spPr>
          <a:xfrm>
            <a:off x="1371600" y="5166360"/>
            <a:ext cx="9875520" cy="548640"/>
          </a:xfrm>
          <a:prstGeom prst="rect">
            <a:avLst/>
          </a:prstGeom>
          <a:noFill/>
          <a:ln/>
        </p:spPr>
        <p:txBody>
          <a:bodyPr wrap="square" lIns="0" tIns="0" rIns="0" bIns="0" rtlCol="0" anchor="ctr"/>
          <a:lstStyle/>
          <a:p>
            <a:pPr indent="0" marL="0">
              <a:buNone/>
            </a:pPr>
            <a:r>
              <a:rPr lang="en-US" sz="1600" dirty="0">
                <a:solidFill>
                  <a:srgbClr val="C9D9E3"/>
                </a:solidFill>
                <a:latin typeface="Calibri" pitchFamily="34" charset="0"/>
                <a:ea typeface="Calibri" pitchFamily="34" charset="-122"/>
                <a:cs typeface="Calibri" pitchFamily="34" charset="-120"/>
              </a:rPr>
              <a:t>Cap connection pools and parallel workers per retriever, don't share one unbounded pool</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oundRect">
            <a:avLst/>
          </a:prstGeom>
          <a:solidFill>
            <a:srgbClr val="0F2540"/>
          </a:solidFill>
          <a:ln/>
        </p:spPr>
      </p:sp>
      <p:sp>
        <p:nvSpPr>
          <p:cNvPr id="3" name="Text 1"/>
          <p:cNvSpPr txBox="1"/>
          <p:nvPr/>
        </p:nvSpPr>
        <p:spPr>
          <a:xfrm>
            <a:off x="731520" y="2011680"/>
            <a:ext cx="1069848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Building Retrieval Infrastructure?</a:t>
            </a:r>
            <a:endParaRPr lang="en-US" sz="3400" dirty="0"/>
          </a:p>
        </p:txBody>
      </p:sp>
      <p:sp>
        <p:nvSpPr>
          <p:cNvPr id="4" name="Text 2"/>
          <p:cNvSpPr txBox="1"/>
          <p:nvPr/>
        </p:nvSpPr>
        <p:spPr>
          <a:xfrm>
            <a:off x="731520" y="2926080"/>
            <a:ext cx="9601200" cy="731520"/>
          </a:xfrm>
          <a:prstGeom prst="rect">
            <a:avLst/>
          </a:prstGeom>
          <a:noFill/>
          <a:ln/>
        </p:spPr>
        <p:txBody>
          <a:bodyPr wrap="square" lIns="0" tIns="0" rIns="0" bIns="0" rtlCol="0" anchor="ctr"/>
          <a:lstStyle/>
          <a:p>
            <a:pPr indent="0" marL="0">
              <a:buNone/>
            </a:pPr>
            <a:r>
              <a:rPr lang="en-US" sz="1700" dirty="0">
                <a:solidFill>
                  <a:srgbClr val="C9D9E3"/>
                </a:solidFill>
                <a:latin typeface="Calibri" pitchFamily="34" charset="0"/>
                <a:ea typeface="Calibri" pitchFamily="34" charset="-122"/>
                <a:cs typeface="Calibri" pitchFamily="34" charset="-120"/>
              </a:rPr>
              <a:t>Let's find where contention will show up in your architecture — before it shows up in production.</a:t>
            </a:r>
            <a:endParaRPr lang="en-US" sz="1700" dirty="0"/>
          </a:p>
        </p:txBody>
      </p:sp>
      <p:sp>
        <p:nvSpPr>
          <p:cNvPr id="5" name="Shape 3"/>
          <p:cNvSpPr/>
          <p:nvPr/>
        </p:nvSpPr>
        <p:spPr>
          <a:xfrm>
            <a:off x="731520" y="4023360"/>
            <a:ext cx="3108960" cy="640080"/>
          </a:xfrm>
          <a:prstGeom prst="roundRect">
            <a:avLst>
              <a:gd name="adj" fmla="val 14286"/>
            </a:avLst>
          </a:prstGeom>
          <a:solidFill>
            <a:srgbClr val="8FD3C7"/>
          </a:solidFill>
          <a:ln/>
        </p:spPr>
      </p:sp>
      <p:sp>
        <p:nvSpPr>
          <p:cNvPr id="6" name="Text 4"/>
          <p:cNvSpPr txBox="1"/>
          <p:nvPr/>
        </p:nvSpPr>
        <p:spPr>
          <a:xfrm>
            <a:off x="731520" y="4023360"/>
            <a:ext cx="3108960" cy="640080"/>
          </a:xfrm>
          <a:prstGeom prst="rect">
            <a:avLst/>
          </a:prstGeom>
          <a:noFill/>
          <a:ln/>
        </p:spPr>
        <p:txBody>
          <a:bodyPr wrap="square" lIns="0" tIns="0" rIns="0" bIns="0" rtlCol="0" anchor="ctr"/>
          <a:lstStyle/>
          <a:p>
            <a:pPr algn="ctr" indent="0" marL="0">
              <a:buNone/>
            </a:pPr>
            <a:r>
              <a:rPr lang="en-US" sz="1500" b="1" dirty="0">
                <a:solidFill>
                  <a:srgbClr val="0F2540"/>
                </a:solidFill>
                <a:latin typeface="Calibri" pitchFamily="34" charset="0"/>
                <a:ea typeface="Calibri" pitchFamily="34" charset="-122"/>
                <a:cs typeface="Calibri" pitchFamily="34" charset="-120"/>
              </a:rPr>
              <a:t>dataplatformadvisory.com</a:t>
            </a:r>
            <a:endParaRPr lang="en-US" sz="1500" dirty="0"/>
          </a:p>
        </p:txBody>
      </p:sp>
      <p:sp>
        <p:nvSpPr>
          <p:cNvPr id="7" name="Text 5"/>
          <p:cNvSpPr txBox="1"/>
          <p:nvPr/>
        </p:nvSpPr>
        <p:spPr>
          <a:xfrm>
            <a:off x="731520" y="6035040"/>
            <a:ext cx="7315200" cy="457200"/>
          </a:xfrm>
          <a:prstGeom prst="rect">
            <a:avLst/>
          </a:prstGeom>
          <a:noFill/>
          <a:ln/>
        </p:spPr>
        <p:txBody>
          <a:bodyPr wrap="square" lIns="0" tIns="0" rIns="0" bIns="0" rtlCol="0" anchor="ctr"/>
          <a:lstStyle/>
          <a:p>
            <a:pPr indent="0" marL="0">
              <a:buNone/>
            </a:pPr>
            <a:r>
              <a:rPr lang="en-US" sz="1400" dirty="0">
                <a:solidFill>
                  <a:srgbClr val="C9D9E3"/>
                </a:solidFill>
                <a:latin typeface="Calibri" pitchFamily="34" charset="0"/>
                <a:ea typeface="Calibri" pitchFamily="34" charset="-122"/>
                <a:cs typeface="Calibri" pitchFamily="34" charset="-120"/>
              </a:rPr>
              <a:t>Ivan Lima  ·  Data Platform Advisory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2026-09-07T06:05:33Z</dcterms:created>
  <dcterms:modified xsi:type="dcterms:W3CDTF">2026-09-07T06:05:33Z</dcterms:modified>
</cp:coreProperties>
</file>