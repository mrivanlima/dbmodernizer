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RAG system is giving wrong answers, don't blame the model first. In this video, I'll walk through why retrieval -- not generation -- is usually the real culprit, and the three things that actually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number that reframes everything: seventy-three percent of RAG failures come from retrieval, not from the model itself. Think about that. The model did its job -- it just never saw the right passages to work with. So before you touch your prompt or swap models, look upstream.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matter most, and they compound. First, chunking -- and the surprising finding is that simple recursive chunking at three to five hundred tokens holds its own against fancier semantic chunking almost all the way up to five thousand tokens. Second, hybrid retrieval: combine keyword search with vector search. On a public benchmark that alone was worth a seven percent jump in relevance. If you're running vector-only search today, this is your biggest single upgrade.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reranking step and the gains stack further -- some rerankers show up to a twenty-eight percent lift in relevance scoring. Put it all together and you can see the real-world impact: a naive RAG setup answers about forty-four percent of factual questions correctly. A well-tuned one -- chunking, hybrid retrieval, reranking -- gets into the low sixties. That's not a tweak, that's the difference between a tool people trust and one they stop 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bring it together. Fix retrieval before the prompt. Default to simple recursive chunking. Add hybrid search. Rerank your shortlist. And measure everything against a real eval set -- every number I just gave you came from someone doing exactly that kind of controlled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you're evaluating whether your data platform is actually ready to support this kind of system reliably at scale, that's exactly the kind of assessment we do. Head to dataplatformadvisory dot com to get in touch.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6949440" y="-1188720"/>
            <a:ext cx="3840480" cy="3840480"/>
          </a:xfrm>
          <a:prstGeom prst="ellipse">
            <a:avLst/>
          </a:prstGeom>
          <a:solidFill>
            <a:srgbClr val="8FD3C7">
              <a:alpha val="12000"/>
            </a:srgbClr>
          </a:solidFill>
          <a:ln/>
        </p:spPr>
      </p:sp>
      <p:sp>
        <p:nvSpPr>
          <p:cNvPr id="3" name="Shape 1"/>
          <p:cNvSpPr/>
          <p:nvPr/>
        </p:nvSpPr>
        <p:spPr>
          <a:xfrm>
            <a:off x="-1463040" y="3566160"/>
            <a:ext cx="3108960" cy="3108960"/>
          </a:xfrm>
          <a:prstGeom prst="ellipse">
            <a:avLst/>
          </a:prstGeom>
          <a:solidFill>
            <a:srgbClr val="8FD3C7">
              <a:alpha val="10000"/>
            </a:srgbClr>
          </a:solidFill>
          <a:ln/>
        </p:spPr>
      </p:sp>
      <p:sp>
        <p:nvSpPr>
          <p:cNvPr id="4" name="Text 2"/>
          <p:cNvSpPr txBox="1"/>
          <p:nvPr/>
        </p:nvSpPr>
        <p:spPr>
          <a:xfrm>
            <a:off x="548640" y="1554480"/>
            <a:ext cx="8046720" cy="91440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RAG in Production</a:t>
            </a:r>
            <a:endParaRPr lang="en-US" sz="4000" dirty="0"/>
          </a:p>
        </p:txBody>
      </p:sp>
      <p:sp>
        <p:nvSpPr>
          <p:cNvPr id="5" name="Text 3"/>
          <p:cNvSpPr txBox="1"/>
          <p:nvPr/>
        </p:nvSpPr>
        <p:spPr>
          <a:xfrm>
            <a:off x="548640" y="2423160"/>
            <a:ext cx="8046720" cy="731520"/>
          </a:xfrm>
          <a:prstGeom prst="rect">
            <a:avLst/>
          </a:prstGeom>
          <a:noFill/>
          <a:ln/>
        </p:spPr>
        <p:txBody>
          <a:bodyPr wrap="square" lIns="0" tIns="0" rIns="0" bIns="0" rtlCol="0" anchor="ctr"/>
          <a:lstStyle/>
          <a:p>
            <a:pPr algn="l" indent="0" marL="0">
              <a:buNone/>
            </a:pPr>
            <a:r>
              <a:rPr lang="en-US" sz="1800" dirty="0">
                <a:solidFill>
                  <a:srgbClr val="C9D9E3"/>
                </a:solidFill>
                <a:latin typeface="Calibri" pitchFamily="34" charset="0"/>
                <a:ea typeface="Calibri" pitchFamily="34" charset="-122"/>
                <a:cs typeface="Calibri" pitchFamily="34" charset="-120"/>
              </a:rPr>
              <a:t>Chunking, Hybrid Retrieval, and What Actually Moves the Needle</a:t>
            </a:r>
            <a:endParaRPr lang="en-US" sz="1800" dirty="0"/>
          </a:p>
        </p:txBody>
      </p:sp>
      <p:sp>
        <p:nvSpPr>
          <p:cNvPr id="6" name="Shape 4"/>
          <p:cNvSpPr/>
          <p:nvPr/>
        </p:nvSpPr>
        <p:spPr>
          <a:xfrm>
            <a:off x="548640" y="4160520"/>
            <a:ext cx="502920" cy="36576"/>
          </a:xfrm>
          <a:prstGeom prst="rect">
            <a:avLst/>
          </a:prstGeom>
          <a:solidFill>
            <a:srgbClr val="8FD3C7"/>
          </a:solidFill>
          <a:ln/>
        </p:spPr>
      </p:sp>
      <p:sp>
        <p:nvSpPr>
          <p:cNvPr id="7" name="Text 5"/>
          <p:cNvSpPr txBox="1"/>
          <p:nvPr/>
        </p:nvSpPr>
        <p:spPr>
          <a:xfrm>
            <a:off x="548640" y="4297680"/>
            <a:ext cx="5486400" cy="365760"/>
          </a:xfrm>
          <a:prstGeom prst="rect">
            <a:avLst/>
          </a:prstGeom>
          <a:noFill/>
          <a:ln/>
        </p:spPr>
        <p:txBody>
          <a:bodyPr wrap="square" lIns="0" tIns="0" rIns="0" bIns="0" rtlCol="0" anchor="ctr"/>
          <a:lstStyle/>
          <a:p>
            <a:pPr algn="l" indent="0" marL="0">
              <a:buNone/>
            </a:pPr>
            <a:r>
              <a:rPr lang="en-US" sz="1400" dirty="0">
                <a:solidFill>
                  <a:srgbClr val="8FD3C7"/>
                </a:solidFill>
                <a:latin typeface="Calibri" pitchFamily="34" charset="0"/>
                <a:ea typeface="Calibri" pitchFamily="34" charset="-122"/>
                <a:cs typeface="Calibri" pitchFamily="34" charset="-120"/>
              </a:rPr>
              <a:t>Ivan Lima  ·  Data Platform Advisory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8046720" cy="914400"/>
          </a:xfrm>
          <a:prstGeom prst="roundRect">
            <a:avLst>
              <a:gd name="adj" fmla="val 10000"/>
            </a:avLst>
          </a:prstGeom>
          <a:solidFill>
            <a:srgbClr val="0F2540"/>
          </a:solidFill>
          <a:ln/>
        </p:spPr>
      </p:sp>
      <p:sp>
        <p:nvSpPr>
          <p:cNvPr id="3" name="Text 1"/>
          <p:cNvSpPr txBox="1"/>
          <p:nvPr/>
        </p:nvSpPr>
        <p:spPr>
          <a:xfrm>
            <a:off x="822960" y="502920"/>
            <a:ext cx="7498080" cy="91440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The Problem Everyone Misdiagnoses</a:t>
            </a:r>
            <a:endParaRPr lang="en-US" sz="2600" dirty="0"/>
          </a:p>
        </p:txBody>
      </p:sp>
      <p:sp>
        <p:nvSpPr>
          <p:cNvPr id="4" name="Shape 2"/>
          <p:cNvSpPr/>
          <p:nvPr/>
        </p:nvSpPr>
        <p:spPr>
          <a:xfrm>
            <a:off x="822960" y="1920240"/>
            <a:ext cx="1371600" cy="1371600"/>
          </a:xfrm>
          <a:prstGeom prst="ellipse">
            <a:avLst/>
          </a:prstGeom>
          <a:solidFill>
            <a:srgbClr val="0F2540"/>
          </a:solidFill>
          <a:ln/>
        </p:spPr>
      </p:sp>
      <p:sp>
        <p:nvSpPr>
          <p:cNvPr id="5" name="Text 3"/>
          <p:cNvSpPr txBox="1"/>
          <p:nvPr/>
        </p:nvSpPr>
        <p:spPr>
          <a:xfrm>
            <a:off x="822960" y="1920240"/>
            <a:ext cx="1371600" cy="1371600"/>
          </a:xfrm>
          <a:prstGeom prst="rect">
            <a:avLst/>
          </a:prstGeom>
          <a:noFill/>
          <a:ln/>
        </p:spPr>
        <p:txBody>
          <a:bodyPr wrap="square" lIns="0" tIns="0" rIns="0" bIns="0" rtlCol="0" anchor="ctr"/>
          <a:lstStyle/>
          <a:p>
            <a:pPr algn="ctr" indent="0" marL="0">
              <a:buNone/>
            </a:pPr>
            <a:r>
              <a:rPr lang="en-US" sz="2400" b="1" dirty="0">
                <a:solidFill>
                  <a:srgbClr val="8FD3C7"/>
                </a:solidFill>
                <a:latin typeface="Cambria" pitchFamily="34" charset="0"/>
                <a:ea typeface="Cambria" pitchFamily="34" charset="-122"/>
                <a:cs typeface="Cambria" pitchFamily="34" charset="-120"/>
              </a:rPr>
              <a:t>73%</a:t>
            </a:r>
            <a:endParaRPr lang="en-US" sz="2400" dirty="0"/>
          </a:p>
        </p:txBody>
      </p:sp>
      <p:sp>
        <p:nvSpPr>
          <p:cNvPr id="6" name="Text 4"/>
          <p:cNvSpPr txBox="1"/>
          <p:nvPr/>
        </p:nvSpPr>
        <p:spPr>
          <a:xfrm>
            <a:off x="2468880" y="1965960"/>
            <a:ext cx="6126480" cy="1280160"/>
          </a:xfrm>
          <a:prstGeom prst="rect">
            <a:avLst/>
          </a:prstGeom>
          <a:noFill/>
          <a:ln/>
        </p:spPr>
        <p:txBody>
          <a:bodyPr wrap="square" lIns="0" tIns="0" rIns="0" bIns="0" rtlCol="0" anchor="ctr"/>
          <a:lstStyle/>
          <a:p>
            <a:pPr indent="0" marL="0">
              <a:buNone/>
            </a:pPr>
            <a:r>
              <a:rPr lang="en-US" sz="1800" dirty="0">
                <a:solidFill>
                  <a:srgbClr val="3A4A5A"/>
                </a:solidFill>
                <a:latin typeface="Calibri" pitchFamily="34" charset="0"/>
                <a:ea typeface="Calibri" pitchFamily="34" charset="-122"/>
                <a:cs typeface="Calibri" pitchFamily="34" charset="-120"/>
              </a:rPr>
              <a:t>of RAG failures trace back to </a:t>
            </a:r>
            <a:pPr indent="0" marL="0">
              <a:buNone/>
            </a:pPr>
            <a:r>
              <a:rPr lang="en-US" sz="1800" b="1" dirty="0">
                <a:solidFill>
                  <a:srgbClr val="0F2540"/>
                </a:solidFill>
                <a:latin typeface="Calibri" pitchFamily="34" charset="0"/>
                <a:ea typeface="Calibri" pitchFamily="34" charset="-122"/>
                <a:cs typeface="Calibri" pitchFamily="34" charset="-120"/>
              </a:rPr>
              <a:t>retrieval</a:t>
            </a:r>
            <a:pPr indent="0" marL="0">
              <a:buNone/>
            </a:pPr>
            <a:r>
              <a:rPr lang="en-US" sz="1800" dirty="0">
                <a:solidFill>
                  <a:srgbClr val="3A4A5A"/>
                </a:solidFill>
                <a:latin typeface="Calibri" pitchFamily="34" charset="0"/>
                <a:ea typeface="Calibri" pitchFamily="34" charset="-122"/>
                <a:cs typeface="Calibri" pitchFamily="34" charset="-120"/>
              </a:rPr>
              <a:t> -- not the language model generating the answer.</a:t>
            </a:r>
            <a:endParaRPr lang="en-US" sz="1800" dirty="0"/>
          </a:p>
        </p:txBody>
      </p:sp>
      <p:sp>
        <p:nvSpPr>
          <p:cNvPr id="7" name="Shape 5"/>
          <p:cNvSpPr/>
          <p:nvPr/>
        </p:nvSpPr>
        <p:spPr>
          <a:xfrm>
            <a:off x="822960" y="3749040"/>
            <a:ext cx="7498080" cy="1051560"/>
          </a:xfrm>
          <a:prstGeom prst="roundRect">
            <a:avLst>
              <a:gd name="adj" fmla="val 6957"/>
            </a:avLst>
          </a:prstGeom>
          <a:solidFill>
            <a:srgbClr val="C9D9E3"/>
          </a:solidFill>
          <a:ln/>
        </p:spPr>
      </p:sp>
      <p:sp>
        <p:nvSpPr>
          <p:cNvPr id="8" name="Text 6"/>
          <p:cNvSpPr txBox="1"/>
          <p:nvPr/>
        </p:nvSpPr>
        <p:spPr>
          <a:xfrm>
            <a:off x="1097280" y="3749040"/>
            <a:ext cx="6949440" cy="1051560"/>
          </a:xfrm>
          <a:prstGeom prst="rect">
            <a:avLst/>
          </a:prstGeom>
          <a:noFill/>
          <a:ln/>
        </p:spPr>
        <p:txBody>
          <a:bodyPr wrap="square" lIns="0" tIns="0" rIns="0" bIns="0" rtlCol="0" anchor="ctr"/>
          <a:lstStyle/>
          <a:p>
            <a:pPr algn="l" indent="0" marL="0">
              <a:buNone/>
            </a:pPr>
            <a:r>
              <a:rPr lang="en-US" sz="1500" i="1" dirty="0">
                <a:solidFill>
                  <a:srgbClr val="0F2540"/>
                </a:solidFill>
                <a:latin typeface="Calibri" pitchFamily="34" charset="0"/>
                <a:ea typeface="Calibri" pitchFamily="34" charset="-122"/>
                <a:cs typeface="Calibri" pitchFamily="34" charset="-120"/>
              </a:rPr>
              <a:t>The model answered correctly given what it was handed. It just wasn't handed the right passages.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540"/>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Two Levers That Move the Needle</a:t>
            </a:r>
            <a:endParaRPr lang="en-US" sz="2600" dirty="0"/>
          </a:p>
        </p:txBody>
      </p:sp>
      <p:sp>
        <p:nvSpPr>
          <p:cNvPr id="3" name="Shape 1"/>
          <p:cNvSpPr/>
          <p:nvPr/>
        </p:nvSpPr>
        <p:spPr>
          <a:xfrm>
            <a:off x="548640" y="1234440"/>
            <a:ext cx="3794760" cy="3383280"/>
          </a:xfrm>
          <a:prstGeom prst="roundRect">
            <a:avLst>
              <a:gd name="adj" fmla="val 2703"/>
            </a:avLst>
          </a:prstGeom>
          <a:solidFill>
            <a:srgbClr val="16324F"/>
          </a:solidFill>
          <a:ln/>
        </p:spPr>
      </p:sp>
      <p:sp>
        <p:nvSpPr>
          <p:cNvPr id="4" name="Shape 2"/>
          <p:cNvSpPr/>
          <p:nvPr/>
        </p:nvSpPr>
        <p:spPr>
          <a:xfrm>
            <a:off x="868680" y="1554480"/>
            <a:ext cx="640080" cy="640080"/>
          </a:xfrm>
          <a:prstGeom prst="ellipse">
            <a:avLst/>
          </a:prstGeom>
          <a:solidFill>
            <a:srgbClr val="8FD3C7"/>
          </a:solidFill>
          <a:ln/>
        </p:spPr>
      </p:sp>
      <p:sp>
        <p:nvSpPr>
          <p:cNvPr id="5" name="Text 3"/>
          <p:cNvSpPr txBox="1"/>
          <p:nvPr/>
        </p:nvSpPr>
        <p:spPr>
          <a:xfrm>
            <a:off x="868680" y="1554480"/>
            <a:ext cx="640080" cy="640080"/>
          </a:xfrm>
          <a:prstGeom prst="rect">
            <a:avLst/>
          </a:prstGeom>
          <a:noFill/>
          <a:ln/>
        </p:spPr>
        <p:txBody>
          <a:bodyPr wrap="square" lIns="0" tIns="0" rIns="0" bIns="0" rtlCol="0" anchor="ctr"/>
          <a:lstStyle/>
          <a:p>
            <a:pPr algn="ctr" indent="0" marL="0">
              <a:buNone/>
            </a:pPr>
            <a:r>
              <a:rPr lang="en-US" sz="2000" b="1" dirty="0">
                <a:solidFill>
                  <a:srgbClr val="0F2540"/>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645920" y="1600200"/>
            <a:ext cx="2560320"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Chunking</a:t>
            </a:r>
            <a:endParaRPr lang="en-US" sz="2000" dirty="0"/>
          </a:p>
        </p:txBody>
      </p:sp>
      <p:sp>
        <p:nvSpPr>
          <p:cNvPr id="7" name="Text 5"/>
          <p:cNvSpPr txBox="1"/>
          <p:nvPr/>
        </p:nvSpPr>
        <p:spPr>
          <a:xfrm>
            <a:off x="868680" y="2331720"/>
            <a:ext cx="3246120" cy="210312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C9D9E3"/>
                </a:solidFill>
                <a:latin typeface="Calibri" pitchFamily="34" charset="0"/>
                <a:ea typeface="Calibri" pitchFamily="34" charset="-122"/>
                <a:cs typeface="Calibri" pitchFamily="34" charset="-120"/>
              </a:rPr>
              <a:t>Start recursive: 300-500 tokens, 10-20% overlap.</a:t>
            </a:r>
            <a:endParaRPr lang="en-US" sz="1300" dirty="0"/>
          </a:p>
          <a:p>
            <a:pPr marL="342900" indent="-342900">
              <a:spcAft>
                <a:spcPts val="1000"/>
              </a:spcAft>
              <a:buSzPct val="100000"/>
              <a:buChar char="•"/>
            </a:pPr>
            <a:r>
              <a:rPr lang="en-US" sz="1300" dirty="0">
                <a:solidFill>
                  <a:srgbClr val="C9D9E3"/>
                </a:solidFill>
                <a:latin typeface="Calibri" pitchFamily="34" charset="0"/>
                <a:ea typeface="Calibri" pitchFamily="34" charset="-122"/>
                <a:cs typeface="Calibri" pitchFamily="34" charset="-120"/>
              </a:rPr>
              <a:t>Matches semantic chunking up to ~5,000 tokens at a fraction of the cost.</a:t>
            </a:r>
            <a:endParaRPr lang="en-US" sz="1300" dirty="0"/>
          </a:p>
          <a:p>
            <a:pPr marL="342900" indent="-342900">
              <a:spcAft>
                <a:spcPts val="1000"/>
              </a:spcAft>
              <a:buSzPct val="100000"/>
              <a:buChar char="•"/>
            </a:pPr>
            <a:r>
              <a:rPr lang="en-US" sz="1300" dirty="0">
                <a:solidFill>
                  <a:srgbClr val="C9D9E3"/>
                </a:solidFill>
                <a:latin typeface="Calibri" pitchFamily="34" charset="0"/>
                <a:ea typeface="Calibri" pitchFamily="34" charset="-122"/>
                <a:cs typeface="Calibri" pitchFamily="34" charset="-120"/>
              </a:rPr>
              <a:t>Reserve semantic chunking for long, loosely-structured documents.</a:t>
            </a:r>
            <a:endParaRPr lang="en-US" sz="1300" dirty="0"/>
          </a:p>
        </p:txBody>
      </p:sp>
      <p:sp>
        <p:nvSpPr>
          <p:cNvPr id="8" name="Shape 6"/>
          <p:cNvSpPr/>
          <p:nvPr/>
        </p:nvSpPr>
        <p:spPr>
          <a:xfrm>
            <a:off x="4800600" y="1234440"/>
            <a:ext cx="3794760" cy="3383280"/>
          </a:xfrm>
          <a:prstGeom prst="roundRect">
            <a:avLst>
              <a:gd name="adj" fmla="val 2703"/>
            </a:avLst>
          </a:prstGeom>
          <a:solidFill>
            <a:srgbClr val="16324F"/>
          </a:solidFill>
          <a:ln/>
        </p:spPr>
      </p:sp>
      <p:sp>
        <p:nvSpPr>
          <p:cNvPr id="9" name="Shape 7"/>
          <p:cNvSpPr/>
          <p:nvPr/>
        </p:nvSpPr>
        <p:spPr>
          <a:xfrm>
            <a:off x="5120640" y="1554480"/>
            <a:ext cx="640080" cy="640080"/>
          </a:xfrm>
          <a:prstGeom prst="ellipse">
            <a:avLst/>
          </a:prstGeom>
          <a:solidFill>
            <a:srgbClr val="8FD3C7"/>
          </a:solidFill>
          <a:ln/>
        </p:spPr>
      </p:sp>
      <p:sp>
        <p:nvSpPr>
          <p:cNvPr id="10" name="Text 8"/>
          <p:cNvSpPr txBox="1"/>
          <p:nvPr/>
        </p:nvSpPr>
        <p:spPr>
          <a:xfrm>
            <a:off x="5120640" y="1554480"/>
            <a:ext cx="640080" cy="640080"/>
          </a:xfrm>
          <a:prstGeom prst="rect">
            <a:avLst/>
          </a:prstGeom>
          <a:noFill/>
          <a:ln/>
        </p:spPr>
        <p:txBody>
          <a:bodyPr wrap="square" lIns="0" tIns="0" rIns="0" bIns="0" rtlCol="0" anchor="ctr"/>
          <a:lstStyle/>
          <a:p>
            <a:pPr algn="ctr" indent="0" marL="0">
              <a:buNone/>
            </a:pPr>
            <a:r>
              <a:rPr lang="en-US" sz="2000" b="1" dirty="0">
                <a:solidFill>
                  <a:srgbClr val="0F2540"/>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5897880" y="1600200"/>
            <a:ext cx="2651760"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Hybrid Retrieval</a:t>
            </a:r>
            <a:endParaRPr lang="en-US" sz="2000" dirty="0"/>
          </a:p>
        </p:txBody>
      </p:sp>
      <p:sp>
        <p:nvSpPr>
          <p:cNvPr id="12" name="Text 10"/>
          <p:cNvSpPr txBox="1"/>
          <p:nvPr/>
        </p:nvSpPr>
        <p:spPr>
          <a:xfrm>
            <a:off x="5120640" y="2331720"/>
            <a:ext cx="3291840" cy="210312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C9D9E3"/>
                </a:solidFill>
                <a:latin typeface="Calibri" pitchFamily="34" charset="0"/>
                <a:ea typeface="Calibri" pitchFamily="34" charset="-122"/>
                <a:cs typeface="Calibri" pitchFamily="34" charset="-120"/>
              </a:rPr>
              <a:t>BM25 keyword search + dense vector search, merged.</a:t>
            </a:r>
            <a:endParaRPr lang="en-US" sz="1300" dirty="0"/>
          </a:p>
          <a:p>
            <a:pPr marL="342900" indent="-342900">
              <a:spcAft>
                <a:spcPts val="1000"/>
              </a:spcAft>
              <a:buSzPct val="100000"/>
              <a:buChar char="•"/>
            </a:pPr>
            <a:r>
              <a:rPr lang="en-US" sz="1300" dirty="0">
                <a:solidFill>
                  <a:srgbClr val="C9D9E3"/>
                </a:solidFill>
                <a:latin typeface="Calibri" pitchFamily="34" charset="0"/>
                <a:ea typeface="Calibri" pitchFamily="34" charset="-122"/>
                <a:cs typeface="Calibri" pitchFamily="34" charset="-120"/>
              </a:rPr>
              <a:t>+7.4% NDCG over either method alone on a public benchmark.</a:t>
            </a:r>
            <a:endParaRPr lang="en-US" sz="1300" dirty="0"/>
          </a:p>
          <a:p>
            <a:pPr marL="342900" indent="-342900">
              <a:spcAft>
                <a:spcPts val="1000"/>
              </a:spcAft>
              <a:buSzPct val="100000"/>
              <a:buChar char="•"/>
            </a:pPr>
            <a:r>
              <a:rPr lang="en-US" sz="1300" dirty="0">
                <a:solidFill>
                  <a:srgbClr val="C9D9E3"/>
                </a:solidFill>
                <a:latin typeface="Calibri" pitchFamily="34" charset="0"/>
                <a:ea typeface="Calibri" pitchFamily="34" charset="-122"/>
                <a:cs typeface="Calibri" pitchFamily="34" charset="-120"/>
              </a:rPr>
              <a:t>Catches exact matches (SKUs, codes) vector search alone misses.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8046720" cy="914400"/>
          </a:xfrm>
          <a:prstGeom prst="roundRect">
            <a:avLst>
              <a:gd name="adj" fmla="val 10000"/>
            </a:avLst>
          </a:prstGeom>
          <a:solidFill>
            <a:srgbClr val="0F2540"/>
          </a:solidFill>
          <a:ln/>
        </p:spPr>
      </p:sp>
      <p:sp>
        <p:nvSpPr>
          <p:cNvPr id="3" name="Text 1"/>
          <p:cNvSpPr txBox="1"/>
          <p:nvPr/>
        </p:nvSpPr>
        <p:spPr>
          <a:xfrm>
            <a:off x="822960" y="502920"/>
            <a:ext cx="7498080" cy="91440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Reranking Closes the Gap</a:t>
            </a:r>
            <a:endParaRPr lang="en-US" sz="2600" dirty="0"/>
          </a:p>
        </p:txBody>
      </p:sp>
      <p:sp>
        <p:nvSpPr>
          <p:cNvPr id="4" name="Shape 2"/>
          <p:cNvSpPr/>
          <p:nvPr/>
        </p:nvSpPr>
        <p:spPr>
          <a:xfrm>
            <a:off x="822960" y="1828800"/>
            <a:ext cx="2286000" cy="1737360"/>
          </a:xfrm>
          <a:prstGeom prst="roundRect">
            <a:avLst>
              <a:gd name="adj" fmla="val 4211"/>
            </a:avLst>
          </a:prstGeom>
          <a:solidFill>
            <a:srgbClr val="C9D9E3"/>
          </a:solidFill>
          <a:ln/>
        </p:spPr>
      </p:sp>
      <p:sp>
        <p:nvSpPr>
          <p:cNvPr id="5" name="Text 3"/>
          <p:cNvSpPr txBox="1"/>
          <p:nvPr/>
        </p:nvSpPr>
        <p:spPr>
          <a:xfrm>
            <a:off x="822960" y="1965960"/>
            <a:ext cx="2286000" cy="822960"/>
          </a:xfrm>
          <a:prstGeom prst="rect">
            <a:avLst/>
          </a:prstGeom>
          <a:noFill/>
          <a:ln/>
        </p:spPr>
        <p:txBody>
          <a:bodyPr wrap="square" lIns="0" tIns="0" rIns="0" bIns="0" rtlCol="0" anchor="ctr"/>
          <a:lstStyle/>
          <a:p>
            <a:pPr algn="ctr" indent="0" marL="0">
              <a:buNone/>
            </a:pPr>
            <a:r>
              <a:rPr lang="en-US" sz="3000" b="1" dirty="0">
                <a:solidFill>
                  <a:srgbClr val="0F2540"/>
                </a:solidFill>
                <a:latin typeface="Cambria" pitchFamily="34" charset="0"/>
                <a:ea typeface="Cambria" pitchFamily="34" charset="-122"/>
                <a:cs typeface="Cambria" pitchFamily="34" charset="-120"/>
              </a:rPr>
              <a:t>+28%</a:t>
            </a:r>
            <a:endParaRPr lang="en-US" sz="3000" dirty="0"/>
          </a:p>
        </p:txBody>
      </p:sp>
      <p:sp>
        <p:nvSpPr>
          <p:cNvPr id="6" name="Text 4"/>
          <p:cNvSpPr txBox="1"/>
          <p:nvPr/>
        </p:nvSpPr>
        <p:spPr>
          <a:xfrm>
            <a:off x="960120" y="2697480"/>
            <a:ext cx="2011680" cy="731520"/>
          </a:xfrm>
          <a:prstGeom prst="rect">
            <a:avLst/>
          </a:prstGeom>
          <a:noFill/>
          <a:ln/>
        </p:spPr>
        <p:txBody>
          <a:bodyPr wrap="square" lIns="0" tIns="0" rIns="0" bIns="0" rtlCol="0" anchor="ctr"/>
          <a:lstStyle/>
          <a:p>
            <a:pPr algn="ctr" indent="0" marL="0">
              <a:buNone/>
            </a:pPr>
            <a:r>
              <a:rPr lang="en-US" sz="1100" dirty="0">
                <a:solidFill>
                  <a:srgbClr val="3A4A5A"/>
                </a:solidFill>
                <a:latin typeface="Calibri" pitchFamily="34" charset="0"/>
                <a:ea typeface="Calibri" pitchFamily="34" charset="-122"/>
                <a:cs typeface="Calibri" pitchFamily="34" charset="-120"/>
              </a:rPr>
              <a:t>NDCG@10 gain</a:t>
            </a:r>
            <a:endParaRPr lang="en-US" sz="1100" dirty="0"/>
          </a:p>
          <a:p>
            <a:pPr algn="ctr" indent="0" marL="0">
              <a:buNone/>
            </a:pPr>
            <a:r>
              <a:rPr lang="en-US" sz="1100" dirty="0">
                <a:solidFill>
                  <a:srgbClr val="3A4A5A"/>
                </a:solidFill>
                <a:latin typeface="Calibri" pitchFamily="34" charset="0"/>
                <a:ea typeface="Calibri" pitchFamily="34" charset="-122"/>
                <a:cs typeface="Calibri" pitchFamily="34" charset="-120"/>
              </a:rPr>
              <a:t>from top rerankers</a:t>
            </a:r>
            <a:endParaRPr lang="en-US" sz="1100" dirty="0"/>
          </a:p>
        </p:txBody>
      </p:sp>
      <p:sp>
        <p:nvSpPr>
          <p:cNvPr id="7" name="Shape 5"/>
          <p:cNvSpPr/>
          <p:nvPr/>
        </p:nvSpPr>
        <p:spPr>
          <a:xfrm>
            <a:off x="3319272" y="1828800"/>
            <a:ext cx="2286000" cy="1737360"/>
          </a:xfrm>
          <a:prstGeom prst="roundRect">
            <a:avLst>
              <a:gd name="adj" fmla="val 4211"/>
            </a:avLst>
          </a:prstGeom>
          <a:solidFill>
            <a:srgbClr val="C9D9E3"/>
          </a:solidFill>
          <a:ln/>
        </p:spPr>
      </p:sp>
      <p:sp>
        <p:nvSpPr>
          <p:cNvPr id="8" name="Text 6"/>
          <p:cNvSpPr txBox="1"/>
          <p:nvPr/>
        </p:nvSpPr>
        <p:spPr>
          <a:xfrm>
            <a:off x="3319272" y="1965960"/>
            <a:ext cx="2286000" cy="822960"/>
          </a:xfrm>
          <a:prstGeom prst="rect">
            <a:avLst/>
          </a:prstGeom>
          <a:noFill/>
          <a:ln/>
        </p:spPr>
        <p:txBody>
          <a:bodyPr wrap="square" lIns="0" tIns="0" rIns="0" bIns="0" rtlCol="0" anchor="ctr"/>
          <a:lstStyle/>
          <a:p>
            <a:pPr algn="ctr" indent="0" marL="0">
              <a:buNone/>
            </a:pPr>
            <a:r>
              <a:rPr lang="en-US" sz="3000" b="1" dirty="0">
                <a:solidFill>
                  <a:srgbClr val="0F2540"/>
                </a:solidFill>
                <a:latin typeface="Cambria" pitchFamily="34" charset="0"/>
                <a:ea typeface="Cambria" pitchFamily="34" charset="-122"/>
                <a:cs typeface="Cambria" pitchFamily="34" charset="-120"/>
              </a:rPr>
              <a:t>44%</a:t>
            </a:r>
            <a:endParaRPr lang="en-US" sz="3000" dirty="0"/>
          </a:p>
        </p:txBody>
      </p:sp>
      <p:sp>
        <p:nvSpPr>
          <p:cNvPr id="9" name="Text 7"/>
          <p:cNvSpPr txBox="1"/>
          <p:nvPr/>
        </p:nvSpPr>
        <p:spPr>
          <a:xfrm>
            <a:off x="3456432" y="2697480"/>
            <a:ext cx="2011680" cy="731520"/>
          </a:xfrm>
          <a:prstGeom prst="rect">
            <a:avLst/>
          </a:prstGeom>
          <a:noFill/>
          <a:ln/>
        </p:spPr>
        <p:txBody>
          <a:bodyPr wrap="square" lIns="0" tIns="0" rIns="0" bIns="0" rtlCol="0" anchor="ctr"/>
          <a:lstStyle/>
          <a:p>
            <a:pPr algn="ctr" indent="0" marL="0">
              <a:buNone/>
            </a:pPr>
            <a:r>
              <a:rPr lang="en-US" sz="1100" dirty="0">
                <a:solidFill>
                  <a:srgbClr val="3A4A5A"/>
                </a:solidFill>
                <a:latin typeface="Calibri" pitchFamily="34" charset="0"/>
                <a:ea typeface="Calibri" pitchFamily="34" charset="-122"/>
                <a:cs typeface="Calibri" pitchFamily="34" charset="-120"/>
              </a:rPr>
              <a:t>accuracy, naive</a:t>
            </a:r>
            <a:endParaRPr lang="en-US" sz="1100" dirty="0"/>
          </a:p>
          <a:p>
            <a:pPr algn="ctr" indent="0" marL="0">
              <a:buNone/>
            </a:pPr>
            <a:r>
              <a:rPr lang="en-US" sz="1100" dirty="0">
                <a:solidFill>
                  <a:srgbClr val="3A4A5A"/>
                </a:solidFill>
                <a:latin typeface="Calibri" pitchFamily="34" charset="0"/>
                <a:ea typeface="Calibri" pitchFamily="34" charset="-122"/>
                <a:cs typeface="Calibri" pitchFamily="34" charset="-120"/>
              </a:rPr>
              <a:t>retrieval baseline</a:t>
            </a:r>
            <a:endParaRPr lang="en-US" sz="1100" dirty="0"/>
          </a:p>
        </p:txBody>
      </p:sp>
      <p:sp>
        <p:nvSpPr>
          <p:cNvPr id="10" name="Shape 8"/>
          <p:cNvSpPr/>
          <p:nvPr/>
        </p:nvSpPr>
        <p:spPr>
          <a:xfrm>
            <a:off x="5815584" y="1828800"/>
            <a:ext cx="2286000" cy="1737360"/>
          </a:xfrm>
          <a:prstGeom prst="roundRect">
            <a:avLst>
              <a:gd name="adj" fmla="val 4211"/>
            </a:avLst>
          </a:prstGeom>
          <a:solidFill>
            <a:srgbClr val="C9D9E3"/>
          </a:solidFill>
          <a:ln/>
        </p:spPr>
      </p:sp>
      <p:sp>
        <p:nvSpPr>
          <p:cNvPr id="11" name="Text 9"/>
          <p:cNvSpPr txBox="1"/>
          <p:nvPr/>
        </p:nvSpPr>
        <p:spPr>
          <a:xfrm>
            <a:off x="5815584" y="1965960"/>
            <a:ext cx="2286000" cy="822960"/>
          </a:xfrm>
          <a:prstGeom prst="rect">
            <a:avLst/>
          </a:prstGeom>
          <a:noFill/>
          <a:ln/>
        </p:spPr>
        <p:txBody>
          <a:bodyPr wrap="square" lIns="0" tIns="0" rIns="0" bIns="0" rtlCol="0" anchor="ctr"/>
          <a:lstStyle/>
          <a:p>
            <a:pPr algn="ctr" indent="0" marL="0">
              <a:buNone/>
            </a:pPr>
            <a:r>
              <a:rPr lang="en-US" sz="3000" b="1" dirty="0">
                <a:solidFill>
                  <a:srgbClr val="0F2540"/>
                </a:solidFill>
                <a:latin typeface="Cambria" pitchFamily="34" charset="0"/>
                <a:ea typeface="Cambria" pitchFamily="34" charset="-122"/>
                <a:cs typeface="Cambria" pitchFamily="34" charset="-120"/>
              </a:rPr>
              <a:t>63%</a:t>
            </a:r>
            <a:endParaRPr lang="en-US" sz="3000" dirty="0"/>
          </a:p>
        </p:txBody>
      </p:sp>
      <p:sp>
        <p:nvSpPr>
          <p:cNvPr id="12" name="Text 10"/>
          <p:cNvSpPr txBox="1"/>
          <p:nvPr/>
        </p:nvSpPr>
        <p:spPr>
          <a:xfrm>
            <a:off x="5952744" y="2697480"/>
            <a:ext cx="2011680" cy="731520"/>
          </a:xfrm>
          <a:prstGeom prst="rect">
            <a:avLst/>
          </a:prstGeom>
          <a:noFill/>
          <a:ln/>
        </p:spPr>
        <p:txBody>
          <a:bodyPr wrap="square" lIns="0" tIns="0" rIns="0" bIns="0" rtlCol="0" anchor="ctr"/>
          <a:lstStyle/>
          <a:p>
            <a:pPr algn="ctr" indent="0" marL="0">
              <a:buNone/>
            </a:pPr>
            <a:r>
              <a:rPr lang="en-US" sz="1100" dirty="0">
                <a:solidFill>
                  <a:srgbClr val="3A4A5A"/>
                </a:solidFill>
                <a:latin typeface="Calibri" pitchFamily="34" charset="0"/>
                <a:ea typeface="Calibri" pitchFamily="34" charset="-122"/>
                <a:cs typeface="Calibri" pitchFamily="34" charset="-120"/>
              </a:rPr>
              <a:t>accuracy, well-tuned</a:t>
            </a:r>
            <a:endParaRPr lang="en-US" sz="1100" dirty="0"/>
          </a:p>
          <a:p>
            <a:pPr algn="ctr" indent="0" marL="0">
              <a:buNone/>
            </a:pPr>
            <a:r>
              <a:rPr lang="en-US" sz="1100" dirty="0">
                <a:solidFill>
                  <a:srgbClr val="3A4A5A"/>
                </a:solidFill>
                <a:latin typeface="Calibri" pitchFamily="34" charset="0"/>
                <a:ea typeface="Calibri" pitchFamily="34" charset="-122"/>
                <a:cs typeface="Calibri" pitchFamily="34" charset="-120"/>
              </a:rPr>
              <a:t>RAG systems</a:t>
            </a:r>
            <a:endParaRPr lang="en-US" sz="1100" dirty="0"/>
          </a:p>
        </p:txBody>
      </p:sp>
      <p:sp>
        <p:nvSpPr>
          <p:cNvPr id="13" name="Text 11"/>
          <p:cNvSpPr txBox="1"/>
          <p:nvPr/>
        </p:nvSpPr>
        <p:spPr>
          <a:xfrm>
            <a:off x="822960" y="3794760"/>
            <a:ext cx="7498080" cy="822960"/>
          </a:xfrm>
          <a:prstGeom prst="rect">
            <a:avLst/>
          </a:prstGeom>
          <a:noFill/>
          <a:ln/>
        </p:spPr>
        <p:txBody>
          <a:bodyPr wrap="square" lIns="0" tIns="0" rIns="0" bIns="0" rtlCol="0" anchor="ctr"/>
          <a:lstStyle/>
          <a:p>
            <a:pPr algn="l" indent="0" marL="0">
              <a:buNone/>
            </a:pPr>
            <a:r>
              <a:rPr lang="en-US" sz="1500" i="1" dirty="0">
                <a:solidFill>
                  <a:srgbClr val="3A4A5A"/>
                </a:solidFill>
                <a:latin typeface="Calibri" pitchFamily="34" charset="0"/>
                <a:ea typeface="Calibri" pitchFamily="34" charset="-122"/>
                <a:cs typeface="Calibri" pitchFamily="34" charset="-120"/>
              </a:rPr>
              <a:t>Retrieve wide and cheap with hybrid search, then rerank the top 20-50 candidates before they reach the LLM.</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540"/>
        </a:solidFill>
      </p:bgPr>
    </p:bg>
    <p:spTree>
      <p:nvGrpSpPr>
        <p:cNvPr id="1" name=""/>
        <p:cNvGrpSpPr/>
        <p:nvPr/>
      </p:nvGrpSpPr>
      <p:grpSpPr>
        <a:xfrm>
          <a:off x="0" y="0"/>
          <a:ext cx="0" cy="0"/>
          <a:chOff x="0" y="0"/>
          <a:chExt cx="0" cy="0"/>
        </a:xfrm>
      </p:grpSpPr>
      <p:sp>
        <p:nvSpPr>
          <p:cNvPr id="2" name="Text 0"/>
          <p:cNvSpPr txBox="1"/>
          <p:nvPr/>
        </p:nvSpPr>
        <p:spPr>
          <a:xfrm>
            <a:off x="548640" y="457200"/>
            <a:ext cx="8046720" cy="6400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Shape 1"/>
          <p:cNvSpPr/>
          <p:nvPr/>
        </p:nvSpPr>
        <p:spPr>
          <a:xfrm>
            <a:off x="640080" y="1371600"/>
            <a:ext cx="384048" cy="384048"/>
          </a:xfrm>
          <a:prstGeom prst="ellipse">
            <a:avLst/>
          </a:prstGeom>
          <a:solidFill>
            <a:srgbClr val="8FD3C7"/>
          </a:solidFill>
          <a:ln/>
        </p:spPr>
      </p:sp>
      <p:sp>
        <p:nvSpPr>
          <p:cNvPr id="4" name="Text 2"/>
          <p:cNvSpPr txBox="1"/>
          <p:nvPr/>
        </p:nvSpPr>
        <p:spPr>
          <a:xfrm>
            <a:off x="640080" y="1371600"/>
            <a:ext cx="384048" cy="384048"/>
          </a:xfrm>
          <a:prstGeom prst="rect">
            <a:avLst/>
          </a:prstGeom>
          <a:noFill/>
          <a:ln/>
        </p:spPr>
        <p:txBody>
          <a:bodyPr wrap="square" lIns="0" tIns="0" rIns="0" bIns="0" rtlCol="0" anchor="ctr"/>
          <a:lstStyle/>
          <a:p>
            <a:pPr algn="ctr" indent="0" marL="0">
              <a:buNone/>
            </a:pPr>
            <a:r>
              <a:rPr lang="en-US" sz="1400" b="1" dirty="0">
                <a:solidFill>
                  <a:srgbClr val="0F2540"/>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234440" y="1316736"/>
            <a:ext cx="7315200" cy="5029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Fix retrieval before touching the prompt or the model.</a:t>
            </a:r>
            <a:endParaRPr lang="en-US" sz="1500" dirty="0"/>
          </a:p>
        </p:txBody>
      </p:sp>
      <p:sp>
        <p:nvSpPr>
          <p:cNvPr id="6" name="Shape 4"/>
          <p:cNvSpPr/>
          <p:nvPr/>
        </p:nvSpPr>
        <p:spPr>
          <a:xfrm>
            <a:off x="640080" y="2029968"/>
            <a:ext cx="384048" cy="384048"/>
          </a:xfrm>
          <a:prstGeom prst="ellipse">
            <a:avLst/>
          </a:prstGeom>
          <a:solidFill>
            <a:srgbClr val="8FD3C7"/>
          </a:solidFill>
          <a:ln/>
        </p:spPr>
      </p:sp>
      <p:sp>
        <p:nvSpPr>
          <p:cNvPr id="7" name="Text 5"/>
          <p:cNvSpPr txBox="1"/>
          <p:nvPr/>
        </p:nvSpPr>
        <p:spPr>
          <a:xfrm>
            <a:off x="640080" y="2029968"/>
            <a:ext cx="384048" cy="384048"/>
          </a:xfrm>
          <a:prstGeom prst="rect">
            <a:avLst/>
          </a:prstGeom>
          <a:noFill/>
          <a:ln/>
        </p:spPr>
        <p:txBody>
          <a:bodyPr wrap="square" lIns="0" tIns="0" rIns="0" bIns="0" rtlCol="0" anchor="ctr"/>
          <a:lstStyle/>
          <a:p>
            <a:pPr algn="ctr" indent="0" marL="0">
              <a:buNone/>
            </a:pPr>
            <a:r>
              <a:rPr lang="en-US" sz="1400" b="1" dirty="0">
                <a:solidFill>
                  <a:srgbClr val="0F2540"/>
                </a:solidFill>
                <a:latin typeface="Calibri" pitchFamily="34" charset="0"/>
                <a:ea typeface="Calibri" pitchFamily="34" charset="-122"/>
                <a:cs typeface="Calibri" pitchFamily="34" charset="-120"/>
              </a:rPr>
              <a:t>2</a:t>
            </a:r>
            <a:endParaRPr lang="en-US" sz="1400" dirty="0"/>
          </a:p>
        </p:txBody>
      </p:sp>
      <p:sp>
        <p:nvSpPr>
          <p:cNvPr id="8" name="Text 6"/>
          <p:cNvSpPr txBox="1"/>
          <p:nvPr/>
        </p:nvSpPr>
        <p:spPr>
          <a:xfrm>
            <a:off x="1234440" y="1975104"/>
            <a:ext cx="7315200" cy="5029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Recursive chunking (300-500 tokens) is a strong, cheap default.</a:t>
            </a:r>
            <a:endParaRPr lang="en-US" sz="1500" dirty="0"/>
          </a:p>
        </p:txBody>
      </p:sp>
      <p:sp>
        <p:nvSpPr>
          <p:cNvPr id="9" name="Shape 7"/>
          <p:cNvSpPr/>
          <p:nvPr/>
        </p:nvSpPr>
        <p:spPr>
          <a:xfrm>
            <a:off x="640080" y="2688336"/>
            <a:ext cx="384048" cy="384048"/>
          </a:xfrm>
          <a:prstGeom prst="ellipse">
            <a:avLst/>
          </a:prstGeom>
          <a:solidFill>
            <a:srgbClr val="8FD3C7"/>
          </a:solidFill>
          <a:ln/>
        </p:spPr>
      </p:sp>
      <p:sp>
        <p:nvSpPr>
          <p:cNvPr id="10" name="Text 8"/>
          <p:cNvSpPr txBox="1"/>
          <p:nvPr/>
        </p:nvSpPr>
        <p:spPr>
          <a:xfrm>
            <a:off x="640080" y="2688336"/>
            <a:ext cx="384048" cy="384048"/>
          </a:xfrm>
          <a:prstGeom prst="rect">
            <a:avLst/>
          </a:prstGeom>
          <a:noFill/>
          <a:ln/>
        </p:spPr>
        <p:txBody>
          <a:bodyPr wrap="square" lIns="0" tIns="0" rIns="0" bIns="0" rtlCol="0" anchor="ctr"/>
          <a:lstStyle/>
          <a:p>
            <a:pPr algn="ctr" indent="0" marL="0">
              <a:buNone/>
            </a:pPr>
            <a:r>
              <a:rPr lang="en-US" sz="1400" b="1" dirty="0">
                <a:solidFill>
                  <a:srgbClr val="0F2540"/>
                </a:solidFill>
                <a:latin typeface="Calibri" pitchFamily="34" charset="0"/>
                <a:ea typeface="Calibri" pitchFamily="34" charset="-122"/>
                <a:cs typeface="Calibri" pitchFamily="34" charset="-120"/>
              </a:rPr>
              <a:t>3</a:t>
            </a:r>
            <a:endParaRPr lang="en-US" sz="1400" dirty="0"/>
          </a:p>
        </p:txBody>
      </p:sp>
      <p:sp>
        <p:nvSpPr>
          <p:cNvPr id="11" name="Text 9"/>
          <p:cNvSpPr txBox="1"/>
          <p:nvPr/>
        </p:nvSpPr>
        <p:spPr>
          <a:xfrm>
            <a:off x="1234440" y="2633472"/>
            <a:ext cx="7315200" cy="5029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Hybrid search -- BM25 + vectors -- beats either method alone.</a:t>
            </a:r>
            <a:endParaRPr lang="en-US" sz="1500" dirty="0"/>
          </a:p>
        </p:txBody>
      </p:sp>
      <p:sp>
        <p:nvSpPr>
          <p:cNvPr id="12" name="Shape 10"/>
          <p:cNvSpPr/>
          <p:nvPr/>
        </p:nvSpPr>
        <p:spPr>
          <a:xfrm>
            <a:off x="640080" y="3346704"/>
            <a:ext cx="384048" cy="384048"/>
          </a:xfrm>
          <a:prstGeom prst="ellipse">
            <a:avLst/>
          </a:prstGeom>
          <a:solidFill>
            <a:srgbClr val="8FD3C7"/>
          </a:solidFill>
          <a:ln/>
        </p:spPr>
      </p:sp>
      <p:sp>
        <p:nvSpPr>
          <p:cNvPr id="13" name="Text 11"/>
          <p:cNvSpPr txBox="1"/>
          <p:nvPr/>
        </p:nvSpPr>
        <p:spPr>
          <a:xfrm>
            <a:off x="640080" y="3346704"/>
            <a:ext cx="384048" cy="384048"/>
          </a:xfrm>
          <a:prstGeom prst="rect">
            <a:avLst/>
          </a:prstGeom>
          <a:noFill/>
          <a:ln/>
        </p:spPr>
        <p:txBody>
          <a:bodyPr wrap="square" lIns="0" tIns="0" rIns="0" bIns="0" rtlCol="0" anchor="ctr"/>
          <a:lstStyle/>
          <a:p>
            <a:pPr algn="ctr" indent="0" marL="0">
              <a:buNone/>
            </a:pPr>
            <a:r>
              <a:rPr lang="en-US" sz="1400" b="1" dirty="0">
                <a:solidFill>
                  <a:srgbClr val="0F2540"/>
                </a:solidFill>
                <a:latin typeface="Calibri" pitchFamily="34" charset="0"/>
                <a:ea typeface="Calibri" pitchFamily="34" charset="-122"/>
                <a:cs typeface="Calibri" pitchFamily="34" charset="-120"/>
              </a:rPr>
              <a:t>4</a:t>
            </a:r>
            <a:endParaRPr lang="en-US" sz="1400" dirty="0"/>
          </a:p>
        </p:txBody>
      </p:sp>
      <p:sp>
        <p:nvSpPr>
          <p:cNvPr id="14" name="Text 12"/>
          <p:cNvSpPr txBox="1"/>
          <p:nvPr/>
        </p:nvSpPr>
        <p:spPr>
          <a:xfrm>
            <a:off x="1234440" y="3291840"/>
            <a:ext cx="7315200" cy="5029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Rerank the shortlist before it reaches the LLM.</a:t>
            </a:r>
            <a:endParaRPr lang="en-US" sz="1500" dirty="0"/>
          </a:p>
        </p:txBody>
      </p:sp>
      <p:sp>
        <p:nvSpPr>
          <p:cNvPr id="15" name="Shape 13"/>
          <p:cNvSpPr/>
          <p:nvPr/>
        </p:nvSpPr>
        <p:spPr>
          <a:xfrm>
            <a:off x="640080" y="4005072"/>
            <a:ext cx="384048" cy="384048"/>
          </a:xfrm>
          <a:prstGeom prst="ellipse">
            <a:avLst/>
          </a:prstGeom>
          <a:solidFill>
            <a:srgbClr val="8FD3C7"/>
          </a:solidFill>
          <a:ln/>
        </p:spPr>
      </p:sp>
      <p:sp>
        <p:nvSpPr>
          <p:cNvPr id="16" name="Text 14"/>
          <p:cNvSpPr txBox="1"/>
          <p:nvPr/>
        </p:nvSpPr>
        <p:spPr>
          <a:xfrm>
            <a:off x="640080" y="4005072"/>
            <a:ext cx="384048" cy="384048"/>
          </a:xfrm>
          <a:prstGeom prst="rect">
            <a:avLst/>
          </a:prstGeom>
          <a:noFill/>
          <a:ln/>
        </p:spPr>
        <p:txBody>
          <a:bodyPr wrap="square" lIns="0" tIns="0" rIns="0" bIns="0" rtlCol="0" anchor="ctr"/>
          <a:lstStyle/>
          <a:p>
            <a:pPr algn="ctr" indent="0" marL="0">
              <a:buNone/>
            </a:pPr>
            <a:r>
              <a:rPr lang="en-US" sz="1400" b="1" dirty="0">
                <a:solidFill>
                  <a:srgbClr val="0F2540"/>
                </a:solidFill>
                <a:latin typeface="Calibri" pitchFamily="34" charset="0"/>
                <a:ea typeface="Calibri" pitchFamily="34" charset="-122"/>
                <a:cs typeface="Calibri" pitchFamily="34" charset="-120"/>
              </a:rPr>
              <a:t>5</a:t>
            </a:r>
            <a:endParaRPr lang="en-US" sz="1400" dirty="0"/>
          </a:p>
        </p:txBody>
      </p:sp>
      <p:sp>
        <p:nvSpPr>
          <p:cNvPr id="17" name="Text 15"/>
          <p:cNvSpPr txBox="1"/>
          <p:nvPr/>
        </p:nvSpPr>
        <p:spPr>
          <a:xfrm>
            <a:off x="1234440" y="3950208"/>
            <a:ext cx="7315200" cy="5029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Measure every change against a labeled eval set.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1280160" y="-1463040"/>
            <a:ext cx="4114800" cy="4114800"/>
          </a:xfrm>
          <a:prstGeom prst="ellipse">
            <a:avLst/>
          </a:prstGeom>
          <a:solidFill>
            <a:srgbClr val="8FD3C7">
              <a:alpha val="12000"/>
            </a:srgbClr>
          </a:solidFill>
          <a:ln/>
        </p:spPr>
      </p:sp>
      <p:sp>
        <p:nvSpPr>
          <p:cNvPr id="3" name="Text 1"/>
          <p:cNvSpPr txBox="1"/>
          <p:nvPr/>
        </p:nvSpPr>
        <p:spPr>
          <a:xfrm>
            <a:off x="548640" y="1417320"/>
            <a:ext cx="8046720"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Is Your Data Platform Ready for This?</a:t>
            </a:r>
            <a:endParaRPr lang="en-US" sz="3000" dirty="0"/>
          </a:p>
        </p:txBody>
      </p:sp>
      <p:sp>
        <p:nvSpPr>
          <p:cNvPr id="4" name="Text 2"/>
          <p:cNvSpPr txBox="1"/>
          <p:nvPr/>
        </p:nvSpPr>
        <p:spPr>
          <a:xfrm>
            <a:off x="914400" y="2331720"/>
            <a:ext cx="7315200" cy="640080"/>
          </a:xfrm>
          <a:prstGeom prst="rect">
            <a:avLst/>
          </a:prstGeom>
          <a:noFill/>
          <a:ln/>
        </p:spPr>
        <p:txBody>
          <a:bodyPr wrap="square" lIns="0" tIns="0" rIns="0" bIns="0" rtlCol="0" anchor="ctr"/>
          <a:lstStyle/>
          <a:p>
            <a:pPr algn="ctr" indent="0" marL="0">
              <a:buNone/>
            </a:pPr>
            <a:r>
              <a:rPr lang="en-US" sz="1500" dirty="0">
                <a:solidFill>
                  <a:srgbClr val="C9D9E3"/>
                </a:solidFill>
                <a:latin typeface="Calibri" pitchFamily="34" charset="0"/>
                <a:ea typeface="Calibri" pitchFamily="34" charset="-122"/>
                <a:cs typeface="Calibri" pitchFamily="34" charset="-120"/>
              </a:rPr>
              <a:t>Chunking, hybrid retrieval, and reranking only pay off on top of a data platform built for AI.</a:t>
            </a:r>
            <a:endParaRPr lang="en-US" sz="1500" dirty="0"/>
          </a:p>
        </p:txBody>
      </p:sp>
      <p:sp>
        <p:nvSpPr>
          <p:cNvPr id="5" name="Shape 3"/>
          <p:cNvSpPr/>
          <p:nvPr/>
        </p:nvSpPr>
        <p:spPr>
          <a:xfrm>
            <a:off x="2971800" y="3200400"/>
            <a:ext cx="3200400" cy="594360"/>
          </a:xfrm>
          <a:prstGeom prst="roundRect">
            <a:avLst>
              <a:gd name="adj" fmla="val 49231"/>
            </a:avLst>
          </a:prstGeom>
          <a:solidFill>
            <a:srgbClr val="8FD3C7"/>
          </a:solidFill>
          <a:ln/>
        </p:spPr>
      </p:sp>
      <p:sp>
        <p:nvSpPr>
          <p:cNvPr id="6" name="Text 4"/>
          <p:cNvSpPr txBox="1"/>
          <p:nvPr/>
        </p:nvSpPr>
        <p:spPr>
          <a:xfrm>
            <a:off x="2971800" y="3200400"/>
            <a:ext cx="3200400" cy="594360"/>
          </a:xfrm>
          <a:prstGeom prst="rect">
            <a:avLst/>
          </a:prstGeom>
          <a:noFill/>
          <a:ln/>
        </p:spPr>
        <p:txBody>
          <a:bodyPr wrap="square" lIns="0" tIns="0" rIns="0" bIns="0" rtlCol="0" anchor="ctr"/>
          <a:lstStyle/>
          <a:p>
            <a:pPr algn="ctr" indent="0" marL="0">
              <a:buNone/>
            </a:pPr>
            <a:r>
              <a:rPr lang="en-US" sz="1400" b="1" dirty="0">
                <a:solidFill>
                  <a:srgbClr val="0F2540"/>
                </a:solidFill>
                <a:latin typeface="Calibri" pitchFamily="34" charset="0"/>
                <a:ea typeface="Calibri" pitchFamily="34" charset="-122"/>
                <a:cs typeface="Calibri" pitchFamily="34" charset="-120"/>
              </a:rPr>
              <a:t>dataplatformadvisory.com</a:t>
            </a:r>
            <a:endParaRPr lang="en-US" sz="1400" dirty="0"/>
          </a:p>
        </p:txBody>
      </p:sp>
      <p:sp>
        <p:nvSpPr>
          <p:cNvPr id="7" name="Text 5"/>
          <p:cNvSpPr txBox="1"/>
          <p:nvPr/>
        </p:nvSpPr>
        <p:spPr>
          <a:xfrm>
            <a:off x="548640" y="4297680"/>
            <a:ext cx="8046720" cy="365760"/>
          </a:xfrm>
          <a:prstGeom prst="rect">
            <a:avLst/>
          </a:prstGeom>
          <a:noFill/>
          <a:ln/>
        </p:spPr>
        <p:txBody>
          <a:bodyPr wrap="square" lIns="0" tIns="0" rIns="0" bIns="0" rtlCol="0" anchor="ctr"/>
          <a:lstStyle/>
          <a:p>
            <a:pPr algn="ctr" indent="0" marL="0">
              <a:buNone/>
            </a:pPr>
            <a:r>
              <a:rPr lang="en-US" sz="1300" dirty="0">
                <a:solidFill>
                  <a:srgbClr val="8FD3C7"/>
                </a:solidFill>
                <a:latin typeface="Calibri" pitchFamily="34" charset="0"/>
                <a:ea typeface="Calibri" pitchFamily="34" charset="-122"/>
                <a:cs typeface="Calibri" pitchFamily="34" charset="-120"/>
              </a:rPr>
              <a:t>Ivan Lima  ·  Data Platform Advisory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2026-09-03T06:07:14Z</dcterms:created>
  <dcterms:modified xsi:type="dcterms:W3CDTF">2026-09-03T06:07:14Z</dcterms:modified>
</cp:coreProperties>
</file>