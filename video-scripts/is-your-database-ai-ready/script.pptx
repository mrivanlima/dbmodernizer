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companies investing in AI right now don't actually have a model problem. They have a database problem. Let's look at the numbers, and what they actually mean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7 percent of enterprises say their data is completely ready for AI, according to a 2026 report from Cloudera and Harvard Business Review Analytic Services. A separate CIO dot com survey put it even lower, at 5 percent, even though nearly every enterprise is actively investing in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not that companies are ignoring AI — Writer's 2026 enterprise AI adoption research found 79 percent of organizations face real challenges getting value from AI despite high investment. The money is going in, the results aren't coming out proportionally, and when you trace it back, the database was never built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database layer, AI-ready breaks down into four auditable things: indexing built for retrieval, not just reporting. Pipelines that don't break when upstream systems change. Schema changes that go through CI/CD instead of tribal knowledge. And data quality that's been profiled,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wondering which side of that 7 percent figure you're on, the fastest way to find out isn't a full audit — it's picking the one AI feature that matters most right now and tracing its data path end to end. Where does it slow down, where does it break, where does someone quietly patch it by hand every week. That's your real modernization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database has become the thing slowing down your AI initiatives, that's exactly what I help companies fix. Link's in the description — take a look at the blog, or reach out directly.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822960" y="2240280"/>
            <a:ext cx="914400" cy="914400"/>
          </a:xfrm>
          <a:prstGeom prst="roundRect">
            <a:avLst>
              <a:gd name="adj" fmla="val 18000"/>
            </a:avLst>
          </a:prstGeom>
          <a:solidFill>
            <a:srgbClr val="8FD3C7"/>
          </a:solidFill>
          <a:ln/>
        </p:spPr>
      </p:sp>
      <p:sp>
        <p:nvSpPr>
          <p:cNvPr id="3" name="Text 1"/>
          <p:cNvSpPr/>
          <p:nvPr/>
        </p:nvSpPr>
        <p:spPr>
          <a:xfrm>
            <a:off x="822960" y="2240280"/>
            <a:ext cx="914400" cy="914400"/>
          </a:xfrm>
          <a:prstGeom prst="rect">
            <a:avLst/>
          </a:prstGeom>
          <a:noFill/>
          <a:ln/>
        </p:spPr>
        <p:txBody>
          <a:bodyPr wrap="square" rtlCol="0" anchor="ctr"/>
          <a:lstStyle/>
          <a:p>
            <a:pPr algn="ctr" indent="0" marL="0">
              <a:buNone/>
            </a:pPr>
            <a:r>
              <a:rPr lang="en-US" sz="4000" b="1" dirty="0">
                <a:solidFill>
                  <a:srgbClr val="0F2540"/>
                </a:solidFill>
                <a:latin typeface="Calibri" pitchFamily="34" charset="0"/>
                <a:ea typeface="Calibri" pitchFamily="34" charset="-122"/>
                <a:cs typeface="Calibri" pitchFamily="34" charset="-120"/>
              </a:rPr>
              <a:t>D</a:t>
            </a:r>
            <a:endParaRPr lang="en-US" sz="4000" dirty="0"/>
          </a:p>
        </p:txBody>
      </p:sp>
      <p:sp>
        <p:nvSpPr>
          <p:cNvPr id="4" name="Text 2"/>
          <p:cNvSpPr/>
          <p:nvPr/>
        </p:nvSpPr>
        <p:spPr>
          <a:xfrm>
            <a:off x="2011680" y="2103120"/>
            <a:ext cx="932688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Is Your Database AI-Ready?</a:t>
            </a:r>
            <a:endParaRPr lang="en-US" sz="3800" dirty="0"/>
          </a:p>
        </p:txBody>
      </p:sp>
      <p:sp>
        <p:nvSpPr>
          <p:cNvPr id="5" name="Text 3"/>
          <p:cNvSpPr/>
          <p:nvPr/>
        </p:nvSpPr>
        <p:spPr>
          <a:xfrm>
            <a:off x="2011680" y="2880360"/>
            <a:ext cx="9326880" cy="548640"/>
          </a:xfrm>
          <a:prstGeom prst="rect">
            <a:avLst/>
          </a:prstGeom>
          <a:noFill/>
          <a:ln/>
        </p:spPr>
        <p:txBody>
          <a:bodyPr wrap="square" lIns="0" tIns="0" rIns="0" bIns="0" rtlCol="0" anchor="ctr"/>
          <a:lstStyle/>
          <a:p>
            <a:pPr indent="0" marL="0">
              <a:buNone/>
            </a:pPr>
            <a:r>
              <a:rPr lang="en-US" sz="1900" dirty="0">
                <a:solidFill>
                  <a:srgbClr val="8FD3C7"/>
                </a:solidFill>
                <a:latin typeface="Calibri" pitchFamily="34" charset="0"/>
                <a:ea typeface="Calibri" pitchFamily="34" charset="-122"/>
                <a:cs typeface="Calibri" pitchFamily="34" charset="-120"/>
              </a:rPr>
              <a:t>The Data Behind Why Most Enterprises Aren't</a:t>
            </a:r>
            <a:endParaRPr lang="en-US" sz="1900" dirty="0"/>
          </a:p>
        </p:txBody>
      </p:sp>
      <p:sp>
        <p:nvSpPr>
          <p:cNvPr id="6" name="Text 4"/>
          <p:cNvSpPr/>
          <p:nvPr/>
        </p:nvSpPr>
        <p:spPr>
          <a:xfrm>
            <a:off x="2011680" y="3611880"/>
            <a:ext cx="9326880" cy="365760"/>
          </a:xfrm>
          <a:prstGeom prst="rect">
            <a:avLst/>
          </a:prstGeom>
          <a:noFill/>
          <a:ln/>
        </p:spPr>
        <p:txBody>
          <a:bodyPr wrap="square" lIns="0" tIns="0" rIns="0" bIns="0" rtlCol="0" anchor="ctr"/>
          <a:lstStyle/>
          <a:p>
            <a:pPr indent="0" marL="0">
              <a:buNone/>
            </a:pPr>
            <a:r>
              <a:rPr lang="en-US" sz="1300" dirty="0">
                <a:solidFill>
                  <a:srgbClr val="C9D9E3"/>
                </a:solidFill>
                <a:latin typeface="Calibri" pitchFamily="34" charset="0"/>
                <a:ea typeface="Calibri" pitchFamily="34" charset="-122"/>
                <a:cs typeface="Calibri" pitchFamily="34" charset="-120"/>
              </a:rPr>
              <a:t>Ivan Lima  ·  DbModernizer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1097280"/>
            <a:ext cx="4754880" cy="2377440"/>
          </a:xfrm>
          <a:prstGeom prst="rect">
            <a:avLst/>
          </a:prstGeom>
          <a:noFill/>
          <a:ln/>
        </p:spPr>
        <p:txBody>
          <a:bodyPr wrap="square" lIns="0" tIns="0" rIns="0" bIns="0" rtlCol="0" anchor="ctr"/>
          <a:lstStyle/>
          <a:p>
            <a:pPr indent="0" marL="0">
              <a:buNone/>
            </a:pPr>
            <a:r>
              <a:rPr lang="en-US" sz="13000" b="1" dirty="0">
                <a:solidFill>
                  <a:srgbClr val="0F2540"/>
                </a:solidFill>
                <a:latin typeface="Cambria" pitchFamily="34" charset="0"/>
                <a:ea typeface="Cambria" pitchFamily="34" charset="-122"/>
                <a:cs typeface="Cambria" pitchFamily="34" charset="-120"/>
              </a:rPr>
              <a:t>7%</a:t>
            </a:r>
            <a:endParaRPr lang="en-US" sz="13000" dirty="0"/>
          </a:p>
        </p:txBody>
      </p:sp>
      <p:sp>
        <p:nvSpPr>
          <p:cNvPr id="3" name="Text 1"/>
          <p:cNvSpPr/>
          <p:nvPr/>
        </p:nvSpPr>
        <p:spPr>
          <a:xfrm>
            <a:off x="731520" y="3566160"/>
            <a:ext cx="4572000" cy="1463040"/>
          </a:xfrm>
          <a:prstGeom prst="rect">
            <a:avLst/>
          </a:prstGeom>
          <a:noFill/>
          <a:ln/>
        </p:spPr>
        <p:txBody>
          <a:bodyPr wrap="square" lIns="0" tIns="0" rIns="0" bIns="0" rtlCol="0" anchor="ctr"/>
          <a:lstStyle/>
          <a:p>
            <a:pPr indent="0" marL="0">
              <a:buNone/>
            </a:pPr>
            <a:r>
              <a:rPr lang="en-US" sz="2000" b="1" dirty="0">
                <a:solidFill>
                  <a:srgbClr val="3A4A5A"/>
                </a:solidFill>
                <a:latin typeface="Calibri" pitchFamily="34" charset="0"/>
                <a:ea typeface="Calibri" pitchFamily="34" charset="-122"/>
                <a:cs typeface="Calibri" pitchFamily="34" charset="-120"/>
              </a:rPr>
              <a:t>of enterprises say their data is completely ready for AI</a:t>
            </a:r>
            <a:endParaRPr lang="en-US" sz="2000" dirty="0"/>
          </a:p>
        </p:txBody>
      </p:sp>
      <p:sp>
        <p:nvSpPr>
          <p:cNvPr id="4" name="Text 2"/>
          <p:cNvSpPr/>
          <p:nvPr/>
        </p:nvSpPr>
        <p:spPr>
          <a:xfrm>
            <a:off x="731520" y="6035040"/>
            <a:ext cx="5486400" cy="365760"/>
          </a:xfrm>
          <a:prstGeom prst="rect">
            <a:avLst/>
          </a:prstGeom>
          <a:noFill/>
          <a:ln/>
        </p:spPr>
        <p:txBody>
          <a:bodyPr wrap="square" lIns="0" tIns="0" rIns="0" bIns="0" rtlCol="0" anchor="ctr"/>
          <a:lstStyle/>
          <a:p>
            <a:pPr indent="0" marL="0">
              <a:buNone/>
            </a:pPr>
            <a:r>
              <a:rPr lang="en-US" sz="1100" i="1" dirty="0">
                <a:solidFill>
                  <a:srgbClr val="8FA6B8"/>
                </a:solidFill>
                <a:latin typeface="Calibri" pitchFamily="34" charset="0"/>
                <a:ea typeface="Calibri" pitchFamily="34" charset="-122"/>
                <a:cs typeface="Calibri" pitchFamily="34" charset="-120"/>
              </a:rPr>
              <a:t>Source: Cloudera / Harvard Business Review Analytic Services, 2026</a:t>
            </a:r>
            <a:endParaRPr lang="en-US" sz="1100" dirty="0"/>
          </a:p>
        </p:txBody>
      </p:sp>
      <p:sp>
        <p:nvSpPr>
          <p:cNvPr id="5" name="Shape 3"/>
          <p:cNvSpPr/>
          <p:nvPr/>
        </p:nvSpPr>
        <p:spPr>
          <a:xfrm>
            <a:off x="6126480" y="1280160"/>
            <a:ext cx="5486400" cy="4297680"/>
          </a:xfrm>
          <a:prstGeom prst="roundRect">
            <a:avLst>
              <a:gd name="adj" fmla="val 2553"/>
            </a:avLst>
          </a:prstGeom>
          <a:solidFill>
            <a:srgbClr val="0F2540"/>
          </a:solidFill>
          <a:ln/>
        </p:spPr>
      </p:sp>
      <p:sp>
        <p:nvSpPr>
          <p:cNvPr id="6" name="Text 4"/>
          <p:cNvSpPr/>
          <p:nvPr/>
        </p:nvSpPr>
        <p:spPr>
          <a:xfrm>
            <a:off x="6492240" y="1645920"/>
            <a:ext cx="4754880" cy="640080"/>
          </a:xfrm>
          <a:prstGeom prst="rect">
            <a:avLst/>
          </a:prstGeom>
          <a:noFill/>
          <a:ln/>
        </p:spPr>
        <p:txBody>
          <a:bodyPr wrap="square" lIns="0" tIns="0" rIns="0" bIns="0" rtlCol="0" anchor="ctr"/>
          <a:lstStyle/>
          <a:p>
            <a:pPr indent="0" marL="0">
              <a:buNone/>
            </a:pPr>
            <a:r>
              <a:rPr lang="en-US" sz="1600" dirty="0">
                <a:solidFill>
                  <a:srgbClr val="C9D9E3"/>
                </a:solidFill>
                <a:latin typeface="Calibri" pitchFamily="34" charset="0"/>
                <a:ea typeface="Calibri" pitchFamily="34" charset="-122"/>
                <a:cs typeface="Calibri" pitchFamily="34" charset="-120"/>
              </a:rPr>
              <a:t>A separate CIO.com survey put it even lower</a:t>
            </a:r>
            <a:endParaRPr lang="en-US" sz="1600" dirty="0"/>
          </a:p>
        </p:txBody>
      </p:sp>
      <p:sp>
        <p:nvSpPr>
          <p:cNvPr id="7" name="Text 5"/>
          <p:cNvSpPr/>
          <p:nvPr/>
        </p:nvSpPr>
        <p:spPr>
          <a:xfrm>
            <a:off x="6492240" y="2286000"/>
            <a:ext cx="4754880" cy="1463040"/>
          </a:xfrm>
          <a:prstGeom prst="rect">
            <a:avLst/>
          </a:prstGeom>
          <a:noFill/>
          <a:ln/>
        </p:spPr>
        <p:txBody>
          <a:bodyPr wrap="square" lIns="0" tIns="0" rIns="0" bIns="0" rtlCol="0" anchor="ctr"/>
          <a:lstStyle/>
          <a:p>
            <a:pPr indent="0" marL="0">
              <a:buNone/>
            </a:pPr>
            <a:r>
              <a:rPr lang="en-US" sz="8000" b="1" dirty="0">
                <a:solidFill>
                  <a:srgbClr val="8FD3C7"/>
                </a:solidFill>
                <a:latin typeface="Cambria" pitchFamily="34" charset="0"/>
                <a:ea typeface="Cambria" pitchFamily="34" charset="-122"/>
                <a:cs typeface="Cambria" pitchFamily="34" charset="-120"/>
              </a:rPr>
              <a:t>5%</a:t>
            </a:r>
            <a:endParaRPr lang="en-US" sz="8000" dirty="0"/>
          </a:p>
        </p:txBody>
      </p:sp>
      <p:sp>
        <p:nvSpPr>
          <p:cNvPr id="8" name="Text 6"/>
          <p:cNvSpPr/>
          <p:nvPr/>
        </p:nvSpPr>
        <p:spPr>
          <a:xfrm>
            <a:off x="6492240" y="3840480"/>
            <a:ext cx="4754880" cy="14630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even as nearly every enterprise is actively investing in AI</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Why the Gap Is So Wide</a:t>
            </a:r>
            <a:endParaRPr lang="en-US" sz="3200" dirty="0"/>
          </a:p>
        </p:txBody>
      </p:sp>
      <p:sp>
        <p:nvSpPr>
          <p:cNvPr id="3" name="Shape 1"/>
          <p:cNvSpPr/>
          <p:nvPr/>
        </p:nvSpPr>
        <p:spPr>
          <a:xfrm>
            <a:off x="822960" y="1828800"/>
            <a:ext cx="2926080" cy="2926080"/>
          </a:xfrm>
          <a:prstGeom prst="ellipse">
            <a:avLst/>
          </a:prstGeom>
          <a:solidFill>
            <a:srgbClr val="8FD3C7"/>
          </a:solidFill>
          <a:ln/>
        </p:spPr>
      </p:sp>
      <p:sp>
        <p:nvSpPr>
          <p:cNvPr id="4" name="Text 2"/>
          <p:cNvSpPr/>
          <p:nvPr/>
        </p:nvSpPr>
        <p:spPr>
          <a:xfrm>
            <a:off x="822960" y="2651760"/>
            <a:ext cx="2926080" cy="1280160"/>
          </a:xfrm>
          <a:prstGeom prst="rect">
            <a:avLst/>
          </a:prstGeom>
          <a:noFill/>
          <a:ln/>
        </p:spPr>
        <p:txBody>
          <a:bodyPr wrap="square" lIns="0" tIns="0" rIns="0" bIns="0" rtlCol="0" anchor="ctr"/>
          <a:lstStyle/>
          <a:p>
            <a:pPr algn="ctr" indent="0" marL="0">
              <a:buNone/>
            </a:pPr>
            <a:r>
              <a:rPr lang="en-US" sz="4800" b="1" dirty="0">
                <a:solidFill>
                  <a:srgbClr val="0F2540"/>
                </a:solidFill>
                <a:latin typeface="Cambria" pitchFamily="34" charset="0"/>
                <a:ea typeface="Cambria" pitchFamily="34" charset="-122"/>
                <a:cs typeface="Cambria" pitchFamily="34" charset="-120"/>
              </a:rPr>
              <a:t>79%</a:t>
            </a:r>
            <a:endParaRPr lang="en-US" sz="4800" dirty="0"/>
          </a:p>
        </p:txBody>
      </p:sp>
      <p:sp>
        <p:nvSpPr>
          <p:cNvPr id="5" name="Text 3"/>
          <p:cNvSpPr/>
          <p:nvPr/>
        </p:nvSpPr>
        <p:spPr>
          <a:xfrm>
            <a:off x="4206240" y="2286000"/>
            <a:ext cx="7406640" cy="201168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of organizations say integration challenges are hindering their AI initiatives — even after significant investment.</a:t>
            </a:r>
            <a:endParaRPr lang="en-US" sz="2200" dirty="0"/>
          </a:p>
        </p:txBody>
      </p:sp>
      <p:sp>
        <p:nvSpPr>
          <p:cNvPr id="6" name="Text 4"/>
          <p:cNvSpPr/>
          <p:nvPr/>
        </p:nvSpPr>
        <p:spPr>
          <a:xfrm>
            <a:off x="4206240" y="4206240"/>
            <a:ext cx="7406640" cy="1463040"/>
          </a:xfrm>
          <a:prstGeom prst="rect">
            <a:avLst/>
          </a:prstGeom>
          <a:noFill/>
          <a:ln/>
        </p:spPr>
        <p:txBody>
          <a:bodyPr wrap="square" lIns="0" tIns="0" rIns="0" bIns="0" rtlCol="0" anchor="ctr"/>
          <a:lstStyle/>
          <a:p>
            <a:pPr indent="0" marL="0">
              <a:buNone/>
            </a:pPr>
            <a:r>
              <a:rPr lang="en-US" sz="1600" i="1" dirty="0">
                <a:solidFill>
                  <a:srgbClr val="C9D9E3"/>
                </a:solidFill>
                <a:latin typeface="Calibri" pitchFamily="34" charset="0"/>
                <a:ea typeface="Calibri" pitchFamily="34" charset="-122"/>
                <a:cs typeface="Calibri" pitchFamily="34" charset="-120"/>
              </a:rPr>
              <a:t>The money is going in. The results aren't coming out proportionally — and the pattern traces back to the database underneath.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indent="0" marL="0">
              <a:buNone/>
            </a:pPr>
            <a:r>
              <a:rPr lang="en-US" sz="3000" b="1" dirty="0">
                <a:solidFill>
                  <a:srgbClr val="0F2540"/>
                </a:solidFill>
                <a:latin typeface="Cambria" pitchFamily="34" charset="0"/>
                <a:ea typeface="Cambria" pitchFamily="34" charset="-122"/>
                <a:cs typeface="Cambria" pitchFamily="34" charset="-120"/>
              </a:rPr>
              <a:t>What "AI-Ready" Actually Means</a:t>
            </a:r>
            <a:endParaRPr lang="en-US" sz="3000" dirty="0"/>
          </a:p>
        </p:txBody>
      </p:sp>
      <p:sp>
        <p:nvSpPr>
          <p:cNvPr id="3" name="Shape 1"/>
          <p:cNvSpPr/>
          <p:nvPr/>
        </p:nvSpPr>
        <p:spPr>
          <a:xfrm>
            <a:off x="548640" y="1463040"/>
            <a:ext cx="5349240" cy="1965960"/>
          </a:xfrm>
          <a:prstGeom prst="roundRect">
            <a:avLst>
              <a:gd name="adj" fmla="val 4651"/>
            </a:avLst>
          </a:prstGeom>
          <a:solidFill>
            <a:srgbClr val="F4F7F9"/>
          </a:solidFill>
          <a:ln/>
        </p:spPr>
      </p:sp>
      <p:sp>
        <p:nvSpPr>
          <p:cNvPr id="4" name="Shape 2"/>
          <p:cNvSpPr/>
          <p:nvPr/>
        </p:nvSpPr>
        <p:spPr>
          <a:xfrm>
            <a:off x="822960" y="1737360"/>
            <a:ext cx="457200" cy="457200"/>
          </a:xfrm>
          <a:prstGeom prst="ellipse">
            <a:avLst/>
          </a:prstGeom>
          <a:solidFill>
            <a:srgbClr val="8FD3C7"/>
          </a:solidFill>
          <a:ln/>
        </p:spPr>
      </p:sp>
      <p:sp>
        <p:nvSpPr>
          <p:cNvPr id="5" name="Text 3"/>
          <p:cNvSpPr/>
          <p:nvPr/>
        </p:nvSpPr>
        <p:spPr>
          <a:xfrm>
            <a:off x="822960" y="173736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822960" y="2331720"/>
            <a:ext cx="4800600" cy="457200"/>
          </a:xfrm>
          <a:prstGeom prst="rect">
            <a:avLst/>
          </a:prstGeom>
          <a:noFill/>
          <a:ln/>
        </p:spPr>
        <p:txBody>
          <a:bodyPr wrap="square" lIns="0" tIns="0" rIns="0" bIns="0" rtlCol="0" anchor="ctr"/>
          <a:lstStyle/>
          <a:p>
            <a:pPr indent="0" marL="0">
              <a:buNone/>
            </a:pPr>
            <a:r>
              <a:rPr lang="en-US" sz="1600" b="1" dirty="0">
                <a:solidFill>
                  <a:srgbClr val="0F2540"/>
                </a:solidFill>
                <a:latin typeface="Calibri" pitchFamily="34" charset="0"/>
                <a:ea typeface="Calibri" pitchFamily="34" charset="-122"/>
                <a:cs typeface="Calibri" pitchFamily="34" charset="-120"/>
              </a:rPr>
              <a:t>Indexing Built for Retrieval</a:t>
            </a:r>
            <a:endParaRPr lang="en-US" sz="1600" dirty="0"/>
          </a:p>
        </p:txBody>
      </p:sp>
      <p:sp>
        <p:nvSpPr>
          <p:cNvPr id="7" name="Text 5"/>
          <p:cNvSpPr/>
          <p:nvPr/>
        </p:nvSpPr>
        <p:spPr>
          <a:xfrm>
            <a:off x="822960" y="2743200"/>
            <a:ext cx="4800600" cy="640080"/>
          </a:xfrm>
          <a:prstGeom prst="rect">
            <a:avLst/>
          </a:prstGeom>
          <a:noFill/>
          <a:ln/>
        </p:spPr>
        <p:txBody>
          <a:bodyPr wrap="square" lIns="0" tIns="0" rIns="0" bIns="0" rtlCol="0" anchor="ctr"/>
          <a:lstStyle/>
          <a:p>
            <a:pPr indent="0" marL="0">
              <a:buNone/>
            </a:pPr>
            <a:r>
              <a:rPr lang="en-US" sz="1200" dirty="0">
                <a:solidFill>
                  <a:srgbClr val="3A4A5A"/>
                </a:solidFill>
                <a:latin typeface="Calibri" pitchFamily="34" charset="0"/>
                <a:ea typeface="Calibri" pitchFamily="34" charset="-122"/>
                <a:cs typeface="Calibri" pitchFamily="34" charset="-120"/>
              </a:rPr>
              <a:t>Not just reporting — vector and hybrid search need purpose-built indexes.</a:t>
            </a:r>
            <a:endParaRPr lang="en-US" sz="1200" dirty="0"/>
          </a:p>
        </p:txBody>
      </p:sp>
      <p:sp>
        <p:nvSpPr>
          <p:cNvPr id="8" name="Shape 6"/>
          <p:cNvSpPr/>
          <p:nvPr/>
        </p:nvSpPr>
        <p:spPr>
          <a:xfrm>
            <a:off x="6263640" y="1463040"/>
            <a:ext cx="5349240" cy="1965960"/>
          </a:xfrm>
          <a:prstGeom prst="roundRect">
            <a:avLst>
              <a:gd name="adj" fmla="val 4651"/>
            </a:avLst>
          </a:prstGeom>
          <a:solidFill>
            <a:srgbClr val="F4F7F9"/>
          </a:solidFill>
          <a:ln/>
        </p:spPr>
      </p:sp>
      <p:sp>
        <p:nvSpPr>
          <p:cNvPr id="9" name="Shape 7"/>
          <p:cNvSpPr/>
          <p:nvPr/>
        </p:nvSpPr>
        <p:spPr>
          <a:xfrm>
            <a:off x="6537960" y="1737360"/>
            <a:ext cx="457200" cy="457200"/>
          </a:xfrm>
          <a:prstGeom prst="ellipse">
            <a:avLst/>
          </a:prstGeom>
          <a:solidFill>
            <a:srgbClr val="8FD3C7"/>
          </a:solidFill>
          <a:ln/>
        </p:spPr>
      </p:sp>
      <p:sp>
        <p:nvSpPr>
          <p:cNvPr id="10" name="Text 8"/>
          <p:cNvSpPr/>
          <p:nvPr/>
        </p:nvSpPr>
        <p:spPr>
          <a:xfrm>
            <a:off x="6537960" y="173736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6537960" y="2331720"/>
            <a:ext cx="4800600" cy="457200"/>
          </a:xfrm>
          <a:prstGeom prst="rect">
            <a:avLst/>
          </a:prstGeom>
          <a:noFill/>
          <a:ln/>
        </p:spPr>
        <p:txBody>
          <a:bodyPr wrap="square" lIns="0" tIns="0" rIns="0" bIns="0" rtlCol="0" anchor="ctr"/>
          <a:lstStyle/>
          <a:p>
            <a:pPr indent="0" marL="0">
              <a:buNone/>
            </a:pPr>
            <a:r>
              <a:rPr lang="en-US" sz="1600" b="1" dirty="0">
                <a:solidFill>
                  <a:srgbClr val="0F2540"/>
                </a:solidFill>
                <a:latin typeface="Calibri" pitchFamily="34" charset="0"/>
                <a:ea typeface="Calibri" pitchFamily="34" charset="-122"/>
                <a:cs typeface="Calibri" pitchFamily="34" charset="-120"/>
              </a:rPr>
              <a:t>Resilient Pipelines</a:t>
            </a:r>
            <a:endParaRPr lang="en-US" sz="1600" dirty="0"/>
          </a:p>
        </p:txBody>
      </p:sp>
      <p:sp>
        <p:nvSpPr>
          <p:cNvPr id="12" name="Text 10"/>
          <p:cNvSpPr/>
          <p:nvPr/>
        </p:nvSpPr>
        <p:spPr>
          <a:xfrm>
            <a:off x="6537960" y="2743200"/>
            <a:ext cx="4800600" cy="640080"/>
          </a:xfrm>
          <a:prstGeom prst="rect">
            <a:avLst/>
          </a:prstGeom>
          <a:noFill/>
          <a:ln/>
        </p:spPr>
        <p:txBody>
          <a:bodyPr wrap="square" lIns="0" tIns="0" rIns="0" bIns="0" rtlCol="0" anchor="ctr"/>
          <a:lstStyle/>
          <a:p>
            <a:pPr indent="0" marL="0">
              <a:buNone/>
            </a:pPr>
            <a:r>
              <a:rPr lang="en-US" sz="1200" dirty="0">
                <a:solidFill>
                  <a:srgbClr val="3A4A5A"/>
                </a:solidFill>
                <a:latin typeface="Calibri" pitchFamily="34" charset="0"/>
                <a:ea typeface="Calibri" pitchFamily="34" charset="-122"/>
                <a:cs typeface="Calibri" pitchFamily="34" charset="-120"/>
              </a:rPr>
              <a:t>Don't break every time an upstream schema changes.</a:t>
            </a:r>
            <a:endParaRPr lang="en-US" sz="1200" dirty="0"/>
          </a:p>
        </p:txBody>
      </p:sp>
      <p:sp>
        <p:nvSpPr>
          <p:cNvPr id="13" name="Shape 11"/>
          <p:cNvSpPr/>
          <p:nvPr/>
        </p:nvSpPr>
        <p:spPr>
          <a:xfrm>
            <a:off x="548640" y="3703320"/>
            <a:ext cx="5349240" cy="1965960"/>
          </a:xfrm>
          <a:prstGeom prst="roundRect">
            <a:avLst>
              <a:gd name="adj" fmla="val 4651"/>
            </a:avLst>
          </a:prstGeom>
          <a:solidFill>
            <a:srgbClr val="F4F7F9"/>
          </a:solidFill>
          <a:ln/>
        </p:spPr>
      </p:sp>
      <p:sp>
        <p:nvSpPr>
          <p:cNvPr id="14" name="Shape 12"/>
          <p:cNvSpPr/>
          <p:nvPr/>
        </p:nvSpPr>
        <p:spPr>
          <a:xfrm>
            <a:off x="822960" y="3977640"/>
            <a:ext cx="457200" cy="457200"/>
          </a:xfrm>
          <a:prstGeom prst="ellipse">
            <a:avLst/>
          </a:prstGeom>
          <a:solidFill>
            <a:srgbClr val="8FD3C7"/>
          </a:solidFill>
          <a:ln/>
        </p:spPr>
      </p:sp>
      <p:sp>
        <p:nvSpPr>
          <p:cNvPr id="15" name="Text 13"/>
          <p:cNvSpPr/>
          <p:nvPr/>
        </p:nvSpPr>
        <p:spPr>
          <a:xfrm>
            <a:off x="822960" y="397764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822960" y="4572000"/>
            <a:ext cx="4800600" cy="457200"/>
          </a:xfrm>
          <a:prstGeom prst="rect">
            <a:avLst/>
          </a:prstGeom>
          <a:noFill/>
          <a:ln/>
        </p:spPr>
        <p:txBody>
          <a:bodyPr wrap="square" lIns="0" tIns="0" rIns="0" bIns="0" rtlCol="0" anchor="ctr"/>
          <a:lstStyle/>
          <a:p>
            <a:pPr indent="0" marL="0">
              <a:buNone/>
            </a:pPr>
            <a:r>
              <a:rPr lang="en-US" sz="1600" b="1" dirty="0">
                <a:solidFill>
                  <a:srgbClr val="0F2540"/>
                </a:solidFill>
                <a:latin typeface="Calibri" pitchFamily="34" charset="0"/>
                <a:ea typeface="Calibri" pitchFamily="34" charset="-122"/>
                <a:cs typeface="Calibri" pitchFamily="34" charset="-120"/>
              </a:rPr>
              <a:t>CI/CD, Not Tribal Knowledge</a:t>
            </a:r>
            <a:endParaRPr lang="en-US" sz="1600" dirty="0"/>
          </a:p>
        </p:txBody>
      </p:sp>
      <p:sp>
        <p:nvSpPr>
          <p:cNvPr id="17" name="Text 15"/>
          <p:cNvSpPr/>
          <p:nvPr/>
        </p:nvSpPr>
        <p:spPr>
          <a:xfrm>
            <a:off x="822960" y="4983480"/>
            <a:ext cx="4800600" cy="640080"/>
          </a:xfrm>
          <a:prstGeom prst="rect">
            <a:avLst/>
          </a:prstGeom>
          <a:noFill/>
          <a:ln/>
        </p:spPr>
        <p:txBody>
          <a:bodyPr wrap="square" lIns="0" tIns="0" rIns="0" bIns="0" rtlCol="0" anchor="ctr"/>
          <a:lstStyle/>
          <a:p>
            <a:pPr indent="0" marL="0">
              <a:buNone/>
            </a:pPr>
            <a:r>
              <a:rPr lang="en-US" sz="1200" dirty="0">
                <a:solidFill>
                  <a:srgbClr val="3A4A5A"/>
                </a:solidFill>
                <a:latin typeface="Calibri" pitchFamily="34" charset="0"/>
                <a:ea typeface="Calibri" pitchFamily="34" charset="-122"/>
                <a:cs typeface="Calibri" pitchFamily="34" charset="-120"/>
              </a:rPr>
              <a:t>Schema changes go through a pipeline, not someone's memory.</a:t>
            </a:r>
            <a:endParaRPr lang="en-US" sz="1200" dirty="0"/>
          </a:p>
        </p:txBody>
      </p:sp>
      <p:sp>
        <p:nvSpPr>
          <p:cNvPr id="18" name="Shape 16"/>
          <p:cNvSpPr/>
          <p:nvPr/>
        </p:nvSpPr>
        <p:spPr>
          <a:xfrm>
            <a:off x="6263640" y="3703320"/>
            <a:ext cx="5349240" cy="1965960"/>
          </a:xfrm>
          <a:prstGeom prst="roundRect">
            <a:avLst>
              <a:gd name="adj" fmla="val 4651"/>
            </a:avLst>
          </a:prstGeom>
          <a:solidFill>
            <a:srgbClr val="F4F7F9"/>
          </a:solidFill>
          <a:ln/>
        </p:spPr>
      </p:sp>
      <p:sp>
        <p:nvSpPr>
          <p:cNvPr id="19" name="Shape 17"/>
          <p:cNvSpPr/>
          <p:nvPr/>
        </p:nvSpPr>
        <p:spPr>
          <a:xfrm>
            <a:off x="6537960" y="3977640"/>
            <a:ext cx="457200" cy="457200"/>
          </a:xfrm>
          <a:prstGeom prst="ellipse">
            <a:avLst/>
          </a:prstGeom>
          <a:solidFill>
            <a:srgbClr val="8FD3C7"/>
          </a:solidFill>
          <a:ln/>
        </p:spPr>
      </p:sp>
      <p:sp>
        <p:nvSpPr>
          <p:cNvPr id="20" name="Text 18"/>
          <p:cNvSpPr/>
          <p:nvPr/>
        </p:nvSpPr>
        <p:spPr>
          <a:xfrm>
            <a:off x="6537960" y="397764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4</a:t>
            </a:r>
            <a:endParaRPr lang="en-US" sz="1800" dirty="0"/>
          </a:p>
        </p:txBody>
      </p:sp>
      <p:sp>
        <p:nvSpPr>
          <p:cNvPr id="21" name="Text 19"/>
          <p:cNvSpPr/>
          <p:nvPr/>
        </p:nvSpPr>
        <p:spPr>
          <a:xfrm>
            <a:off x="6537960" y="4572000"/>
            <a:ext cx="4800600" cy="457200"/>
          </a:xfrm>
          <a:prstGeom prst="rect">
            <a:avLst/>
          </a:prstGeom>
          <a:noFill/>
          <a:ln/>
        </p:spPr>
        <p:txBody>
          <a:bodyPr wrap="square" lIns="0" tIns="0" rIns="0" bIns="0" rtlCol="0" anchor="ctr"/>
          <a:lstStyle/>
          <a:p>
            <a:pPr indent="0" marL="0">
              <a:buNone/>
            </a:pPr>
            <a:r>
              <a:rPr lang="en-US" sz="1600" b="1" dirty="0">
                <a:solidFill>
                  <a:srgbClr val="0F2540"/>
                </a:solidFill>
                <a:latin typeface="Calibri" pitchFamily="34" charset="0"/>
                <a:ea typeface="Calibri" pitchFamily="34" charset="-122"/>
                <a:cs typeface="Calibri" pitchFamily="34" charset="-120"/>
              </a:rPr>
              <a:t>Profiled Data Quality</a:t>
            </a:r>
            <a:endParaRPr lang="en-US" sz="1600" dirty="0"/>
          </a:p>
        </p:txBody>
      </p:sp>
      <p:sp>
        <p:nvSpPr>
          <p:cNvPr id="22" name="Text 20"/>
          <p:cNvSpPr/>
          <p:nvPr/>
        </p:nvSpPr>
        <p:spPr>
          <a:xfrm>
            <a:off x="6537960" y="4983480"/>
            <a:ext cx="4800600" cy="640080"/>
          </a:xfrm>
          <a:prstGeom prst="rect">
            <a:avLst/>
          </a:prstGeom>
          <a:noFill/>
          <a:ln/>
        </p:spPr>
        <p:txBody>
          <a:bodyPr wrap="square" lIns="0" tIns="0" rIns="0" bIns="0" rtlCol="0" anchor="ctr"/>
          <a:lstStyle/>
          <a:p>
            <a:pPr indent="0" marL="0">
              <a:buNone/>
            </a:pPr>
            <a:r>
              <a:rPr lang="en-US" sz="1200" dirty="0">
                <a:solidFill>
                  <a:srgbClr val="3A4A5A"/>
                </a:solidFill>
                <a:latin typeface="Calibri" pitchFamily="34" charset="0"/>
                <a:ea typeface="Calibri" pitchFamily="34" charset="-122"/>
                <a:cs typeface="Calibri" pitchFamily="34" charset="-120"/>
              </a:rPr>
              <a:t>Assumed data quality shows up directly in AI output.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Where to Actually Start</a:t>
            </a:r>
            <a:endParaRPr lang="en-US" sz="3200" dirty="0"/>
          </a:p>
        </p:txBody>
      </p:sp>
      <p:sp>
        <p:nvSpPr>
          <p:cNvPr id="3" name="Shape 1"/>
          <p:cNvSpPr/>
          <p:nvPr/>
        </p:nvSpPr>
        <p:spPr>
          <a:xfrm>
            <a:off x="548640" y="1737360"/>
            <a:ext cx="11064240" cy="3931920"/>
          </a:xfrm>
          <a:prstGeom prst="roundRect">
            <a:avLst>
              <a:gd name="adj" fmla="val 2791"/>
            </a:avLst>
          </a:prstGeom>
          <a:solidFill>
            <a:srgbClr val="0A1B30"/>
          </a:solidFill>
          <a:ln/>
        </p:spPr>
      </p:sp>
      <p:sp>
        <p:nvSpPr>
          <p:cNvPr id="4" name="Text 2"/>
          <p:cNvSpPr/>
          <p:nvPr/>
        </p:nvSpPr>
        <p:spPr>
          <a:xfrm>
            <a:off x="914400" y="2103120"/>
            <a:ext cx="10332720" cy="548640"/>
          </a:xfrm>
          <a:prstGeom prst="rect">
            <a:avLst/>
          </a:prstGeom>
          <a:noFill/>
          <a:ln/>
        </p:spPr>
        <p:txBody>
          <a:bodyPr wrap="square" lIns="0" tIns="0" rIns="0" bIns="0" rtlCol="0" anchor="ctr"/>
          <a:lstStyle/>
          <a:p>
            <a:pPr indent="0" marL="0">
              <a:buNone/>
            </a:pPr>
            <a:r>
              <a:rPr lang="en-US" sz="2200" b="1" dirty="0">
                <a:solidFill>
                  <a:srgbClr val="8FD3C7"/>
                </a:solidFill>
                <a:latin typeface="Calibri" pitchFamily="34" charset="0"/>
                <a:ea typeface="Calibri" pitchFamily="34" charset="-122"/>
                <a:cs typeface="Calibri" pitchFamily="34" charset="-120"/>
              </a:rPr>
              <a:t>Not a full audit.</a:t>
            </a:r>
            <a:endParaRPr lang="en-US" sz="2200" dirty="0"/>
          </a:p>
        </p:txBody>
      </p:sp>
      <p:sp>
        <p:nvSpPr>
          <p:cNvPr id="5" name="Text 3"/>
          <p:cNvSpPr/>
          <p:nvPr/>
        </p:nvSpPr>
        <p:spPr>
          <a:xfrm>
            <a:off x="914400" y="2697480"/>
            <a:ext cx="1033272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Pick the one AI feature that matters most to the business, and trace its data path end to end:</a:t>
            </a:r>
            <a:endParaRPr lang="en-US" sz="1800" dirty="0"/>
          </a:p>
        </p:txBody>
      </p:sp>
      <p:sp>
        <p:nvSpPr>
          <p:cNvPr id="6" name="Text 4"/>
          <p:cNvSpPr/>
          <p:nvPr/>
        </p:nvSpPr>
        <p:spPr>
          <a:xfrm>
            <a:off x="1097280" y="3474720"/>
            <a:ext cx="9784080" cy="457200"/>
          </a:xfrm>
          <a:prstGeom prst="rect">
            <a:avLst/>
          </a:prstGeom>
          <a:noFill/>
          <a:ln/>
        </p:spPr>
        <p:txBody>
          <a:bodyPr wrap="square" lIns="0" tIns="0" rIns="0" bIns="0" rtlCol="0" anchor="ctr"/>
          <a:lstStyle/>
          <a:p>
            <a:pPr indent="0" marL="0">
              <a:buNone/>
            </a:pPr>
            <a:r>
              <a:rPr lang="en-US" sz="1700" dirty="0">
                <a:solidFill>
                  <a:srgbClr val="C9D9E3"/>
                </a:solidFill>
                <a:latin typeface="Calibri" pitchFamily="34" charset="0"/>
                <a:ea typeface="Calibri" pitchFamily="34" charset="-122"/>
                <a:cs typeface="Calibri" pitchFamily="34" charset="-120"/>
              </a:rPr>
              <a:t>•  Where does it slow down?</a:t>
            </a:r>
            <a:endParaRPr lang="en-US" sz="1700" dirty="0"/>
          </a:p>
        </p:txBody>
      </p:sp>
      <p:sp>
        <p:nvSpPr>
          <p:cNvPr id="7" name="Text 5"/>
          <p:cNvSpPr/>
          <p:nvPr/>
        </p:nvSpPr>
        <p:spPr>
          <a:xfrm>
            <a:off x="1097280" y="4023360"/>
            <a:ext cx="9784080" cy="457200"/>
          </a:xfrm>
          <a:prstGeom prst="rect">
            <a:avLst/>
          </a:prstGeom>
          <a:noFill/>
          <a:ln/>
        </p:spPr>
        <p:txBody>
          <a:bodyPr wrap="square" lIns="0" tIns="0" rIns="0" bIns="0" rtlCol="0" anchor="ctr"/>
          <a:lstStyle/>
          <a:p>
            <a:pPr indent="0" marL="0">
              <a:buNone/>
            </a:pPr>
            <a:r>
              <a:rPr lang="en-US" sz="1700" dirty="0">
                <a:solidFill>
                  <a:srgbClr val="C9D9E3"/>
                </a:solidFill>
                <a:latin typeface="Calibri" pitchFamily="34" charset="0"/>
                <a:ea typeface="Calibri" pitchFamily="34" charset="-122"/>
                <a:cs typeface="Calibri" pitchFamily="34" charset="-120"/>
              </a:rPr>
              <a:t>•  Where does it break?</a:t>
            </a:r>
            <a:endParaRPr lang="en-US" sz="1700" dirty="0"/>
          </a:p>
        </p:txBody>
      </p:sp>
      <p:sp>
        <p:nvSpPr>
          <p:cNvPr id="8" name="Text 6"/>
          <p:cNvSpPr/>
          <p:nvPr/>
        </p:nvSpPr>
        <p:spPr>
          <a:xfrm>
            <a:off x="1097280" y="4572000"/>
            <a:ext cx="9784080" cy="457200"/>
          </a:xfrm>
          <a:prstGeom prst="rect">
            <a:avLst/>
          </a:prstGeom>
          <a:noFill/>
          <a:ln/>
        </p:spPr>
        <p:txBody>
          <a:bodyPr wrap="square" lIns="0" tIns="0" rIns="0" bIns="0" rtlCol="0" anchor="ctr"/>
          <a:lstStyle/>
          <a:p>
            <a:pPr indent="0" marL="0">
              <a:buNone/>
            </a:pPr>
            <a:r>
              <a:rPr lang="en-US" sz="1700" dirty="0">
                <a:solidFill>
                  <a:srgbClr val="C9D9E3"/>
                </a:solidFill>
                <a:latin typeface="Calibri" pitchFamily="34" charset="0"/>
                <a:ea typeface="Calibri" pitchFamily="34" charset="-122"/>
                <a:cs typeface="Calibri" pitchFamily="34" charset="-120"/>
              </a:rPr>
              <a:t>•  Where does someone quietly patch it by hand every week?</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011680"/>
            <a:ext cx="10698480" cy="914400"/>
          </a:xfrm>
          <a:prstGeom prst="rect">
            <a:avLst/>
          </a:prstGeom>
          <a:noFill/>
          <a:ln/>
        </p:spPr>
        <p:txBody>
          <a:bodyPr wrap="square" lIns="0" tIns="0" rIns="0" bIns="0" rtlCol="0" anchor="ctr"/>
          <a:lstStyle/>
          <a:p>
            <a:pPr indent="0" marL="0">
              <a:buNone/>
            </a:pPr>
            <a:r>
              <a:rPr lang="en-US" sz="3200" b="1" dirty="0">
                <a:solidFill>
                  <a:srgbClr val="0F2540"/>
                </a:solidFill>
                <a:latin typeface="Cambria" pitchFamily="34" charset="0"/>
                <a:ea typeface="Cambria" pitchFamily="34" charset="-122"/>
                <a:cs typeface="Cambria" pitchFamily="34" charset="-120"/>
              </a:rPr>
              <a:t>Is Your Database Holding Back Your AI Roadmap?</a:t>
            </a:r>
            <a:endParaRPr lang="en-US" sz="3200" dirty="0"/>
          </a:p>
        </p:txBody>
      </p:sp>
      <p:sp>
        <p:nvSpPr>
          <p:cNvPr id="3" name="Shape 1"/>
          <p:cNvSpPr/>
          <p:nvPr/>
        </p:nvSpPr>
        <p:spPr>
          <a:xfrm>
            <a:off x="731520" y="3200400"/>
            <a:ext cx="4937760" cy="777240"/>
          </a:xfrm>
          <a:prstGeom prst="roundRect">
            <a:avLst>
              <a:gd name="adj" fmla="val 11765"/>
            </a:avLst>
          </a:prstGeom>
          <a:solidFill>
            <a:srgbClr val="0F2540"/>
          </a:solidFill>
          <a:ln/>
        </p:spPr>
      </p:sp>
      <p:sp>
        <p:nvSpPr>
          <p:cNvPr id="4" name="Text 2"/>
          <p:cNvSpPr/>
          <p:nvPr/>
        </p:nvSpPr>
        <p:spPr>
          <a:xfrm>
            <a:off x="731520" y="3200400"/>
            <a:ext cx="493776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Let's talk — mrivanlima.github.io/DbModernizer</a:t>
            </a:r>
            <a:endParaRPr lang="en-US" sz="1500" dirty="0"/>
          </a:p>
        </p:txBody>
      </p:sp>
      <p:sp>
        <p:nvSpPr>
          <p:cNvPr id="5" name="Text 3"/>
          <p:cNvSpPr/>
          <p:nvPr/>
        </p:nvSpPr>
        <p:spPr>
          <a:xfrm>
            <a:off x="731520" y="4206240"/>
            <a:ext cx="10698480" cy="457200"/>
          </a:xfrm>
          <a:prstGeom prst="rect">
            <a:avLst/>
          </a:prstGeom>
          <a:noFill/>
          <a:ln/>
        </p:spPr>
        <p:txBody>
          <a:bodyPr wrap="square" lIns="0" tIns="0" rIns="0" bIns="0" rtlCol="0" anchor="ctr"/>
          <a:lstStyle/>
          <a:p>
            <a:pPr indent="0" marL="0">
              <a:buNone/>
            </a:pPr>
            <a:r>
              <a:rPr lang="en-US" sz="1400" dirty="0">
                <a:solidFill>
                  <a:srgbClr val="3A4A5A"/>
                </a:solidFill>
                <a:latin typeface="Calibri" pitchFamily="34" charset="0"/>
                <a:ea typeface="Calibri" pitchFamily="34" charset="-122"/>
                <a:cs typeface="Calibri" pitchFamily="34" charset="-120"/>
              </a:rPr>
              <a:t>mrivanlima@gmail.com   ·   linkedin.com/in/mrivanlima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2026-08-12T17:49:57Z</dcterms:created>
  <dcterms:modified xsi:type="dcterms:W3CDTF">2026-08-12T17:49:57Z</dcterms:modified>
</cp:coreProperties>
</file>