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Ivan Lima with Data Platform Advisory. Today we're talking about agentic AI and data migration, and specifically, what it actually means when someone tells you 'AI is doing the migration.' Because in 2026, that phrase gets thrown around a lot, and it usually means something very different from what people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phrase: 'AI is doing the migration.' Sounds simple, right? But that sentence can mean two very different things. It can mean an agent is helping with discovery and translation while a human still approves the risky steps. Or it can mean an agent has full, unsupervised access to your production database. Mixing those two up isn't a technicality — it's already caused real, documented incidents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pitch versus the reality? The pitch is: the agent connects to production, runs the whole migration, no human needed, fire and forget. The reality, based on how this is actually working in production teams, is different. Agents handle discovery, schema mapping, code translation, and validation. But a human still approves the cutover — the moment the new database actually goes live. That's the step you can't easily undo, so it stays a human call. And in that safe zone, agents really are fast — two to four times faster on the phases that don't touch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distinction matters so much. Two real incidents in 2026. First: PocketOS, a car rental SaaS platform. An agent hit a credential mismatch, found an API token with way more access than it needed, and deleted the production database plus every backup — because the backups lived in the same storage volume. Nine seconds, gone. Second incident: a developer connected an agent to a live Supabase database and asked it to fix some issues. The agent ran a migration command with a flag pointed at production instead of a test database. Every single table got dropped. In both cases, the only thing telling the agent not to do this was a system prompt — and a system prompt is not a security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boil this down to four takeaways. One: agents are great at discovery, mapping, translation, and validation — not at deciding when to flip the switch to production. Two: none of those safe tasks actually need standing write access to a live database. Three: scope every credential tightly, and put a real, enforced gate — not just a polite instruction — on anything destructive. And four: keep your backups somewhere an agent, or anyone else, can't wipe out alongside the primary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is figuring out where AI agents actually belong in a database migration, and where the hard line needs to sit, that's exactly the kind of architecture review we do at Data Platform Advisory. Head to dataplatformadvisory.com for the full breakdown, and get in touch before your next migration project scopes agent access on the fly.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9418320" y="-1371600"/>
            <a:ext cx="4114800" cy="4114800"/>
          </a:xfrm>
          <a:prstGeom prst="ellipse">
            <a:avLst/>
          </a:prstGeom>
          <a:solidFill>
            <a:srgbClr val="8FD3C7">
              <a:alpha val="12000"/>
            </a:srgbClr>
          </a:solidFill>
          <a:ln/>
        </p:spPr>
      </p:sp>
      <p:sp>
        <p:nvSpPr>
          <p:cNvPr id="3" name="Shape 1"/>
          <p:cNvSpPr/>
          <p:nvPr/>
        </p:nvSpPr>
        <p:spPr>
          <a:xfrm>
            <a:off x="-1645920" y="4754880"/>
            <a:ext cx="3291840" cy="3291840"/>
          </a:xfrm>
          <a:prstGeom prst="ellipse">
            <a:avLst/>
          </a:prstGeom>
          <a:solidFill>
            <a:srgbClr val="8FD3C7">
              <a:alpha val="10000"/>
            </a:srgbClr>
          </a:solidFill>
          <a:ln/>
        </p:spPr>
      </p:sp>
      <p:sp>
        <p:nvSpPr>
          <p:cNvPr id="4" name="Text 2"/>
          <p:cNvSpPr txBox="1"/>
          <p:nvPr/>
        </p:nvSpPr>
        <p:spPr>
          <a:xfrm>
            <a:off x="731520" y="2286000"/>
            <a:ext cx="1069848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Agentic AI Data Migration</a:t>
            </a:r>
            <a:endParaRPr lang="en-US" sz="4000" dirty="0"/>
          </a:p>
        </p:txBody>
      </p:sp>
      <p:sp>
        <p:nvSpPr>
          <p:cNvPr id="5" name="Text 3"/>
          <p:cNvSpPr txBox="1"/>
          <p:nvPr/>
        </p:nvSpPr>
        <p:spPr>
          <a:xfrm>
            <a:off x="731520" y="3291840"/>
            <a:ext cx="10698480" cy="640080"/>
          </a:xfrm>
          <a:prstGeom prst="rect">
            <a:avLst/>
          </a:prstGeom>
          <a:noFill/>
          <a:ln/>
        </p:spPr>
        <p:txBody>
          <a:bodyPr wrap="square" lIns="0" tIns="0" rIns="0" bIns="0" rtlCol="0" anchor="ctr"/>
          <a:lstStyle/>
          <a:p>
            <a:pPr indent="0" marL="0">
              <a:buNone/>
            </a:pPr>
            <a:r>
              <a:rPr lang="en-US" sz="2000" dirty="0">
                <a:solidFill>
                  <a:srgbClr val="8FD3C7"/>
                </a:solidFill>
                <a:latin typeface="Calibri" pitchFamily="34" charset="0"/>
                <a:ea typeface="Calibri" pitchFamily="34" charset="-122"/>
                <a:cs typeface="Calibri" pitchFamily="34" charset="-120"/>
              </a:rPr>
              <a:t>What "AI Doing the Migration" Actually Means Now</a:t>
            </a:r>
            <a:endParaRPr lang="en-US" sz="2000" dirty="0"/>
          </a:p>
        </p:txBody>
      </p:sp>
      <p:sp>
        <p:nvSpPr>
          <p:cNvPr id="6" name="Text 4"/>
          <p:cNvSpPr txBox="1"/>
          <p:nvPr/>
        </p:nvSpPr>
        <p:spPr>
          <a:xfrm>
            <a:off x="731520" y="5943600"/>
            <a:ext cx="7315200" cy="457200"/>
          </a:xfrm>
          <a:prstGeom prst="rect">
            <a:avLst/>
          </a:prstGeom>
          <a:noFill/>
          <a:ln/>
        </p:spPr>
        <p:txBody>
          <a:bodyPr wrap="square" lIns="0" tIns="0" rIns="0" bIns="0" rtlCol="0" anchor="ctr"/>
          <a:lstStyle/>
          <a:p>
            <a:pPr indent="0" marL="0">
              <a:buNone/>
            </a:pPr>
            <a:r>
              <a:rPr lang="en-US" sz="1400" dirty="0">
                <a:solidFill>
                  <a:srgbClr val="C9D9E3"/>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The phrase everyone's using</a:t>
            </a:r>
            <a:endParaRPr lang="en-US" sz="3000" dirty="0"/>
          </a:p>
        </p:txBody>
      </p:sp>
      <p:sp>
        <p:nvSpPr>
          <p:cNvPr id="3" name="Shape 1"/>
          <p:cNvSpPr/>
          <p:nvPr/>
        </p:nvSpPr>
        <p:spPr>
          <a:xfrm>
            <a:off x="731520" y="1645920"/>
            <a:ext cx="10607040" cy="1828800"/>
          </a:xfrm>
          <a:prstGeom prst="roundRect">
            <a:avLst>
              <a:gd name="adj" fmla="val 6000"/>
            </a:avLst>
          </a:prstGeom>
          <a:solidFill>
            <a:srgbClr val="0F2540"/>
          </a:solidFill>
          <a:ln/>
          <a:effectLst>
            <a:outerShdw sx="100000" sy="100000" kx="0" ky="0" algn="bl" rotWithShape="0" blurRad="101600" dist="38100" dir="5400000">
              <a:srgbClr val="000000">
                <a:alpha val="25000"/>
              </a:srgbClr>
            </a:outerShdw>
          </a:effectLst>
        </p:spPr>
      </p:sp>
      <p:sp>
        <p:nvSpPr>
          <p:cNvPr id="4" name="Text 2"/>
          <p:cNvSpPr txBox="1"/>
          <p:nvPr/>
        </p:nvSpPr>
        <p:spPr>
          <a:xfrm>
            <a:off x="1097280" y="1965960"/>
            <a:ext cx="9875520" cy="1188720"/>
          </a:xfrm>
          <a:prstGeom prst="rect">
            <a:avLst/>
          </a:prstGeom>
          <a:noFill/>
          <a:ln/>
        </p:spPr>
        <p:txBody>
          <a:bodyPr wrap="square" lIns="0" tIns="0" rIns="0" bIns="0" rtlCol="0" anchor="ctr"/>
          <a:lstStyle/>
          <a:p>
            <a:pPr algn="ctr" indent="0" marL="0">
              <a:buNone/>
            </a:pPr>
            <a:r>
              <a:rPr lang="en-US" sz="3000" b="1" i="1" dirty="0">
                <a:solidFill>
                  <a:srgbClr val="8FD3C7"/>
                </a:solidFill>
                <a:latin typeface="Cambria" pitchFamily="34" charset="0"/>
                <a:ea typeface="Cambria" pitchFamily="34" charset="-122"/>
                <a:cs typeface="Cambria" pitchFamily="34" charset="-120"/>
              </a:rPr>
              <a:t>"AI is doing the migration"</a:t>
            </a:r>
            <a:endParaRPr lang="en-US" sz="3000" dirty="0"/>
          </a:p>
        </p:txBody>
      </p:sp>
      <p:sp>
        <p:nvSpPr>
          <p:cNvPr id="5" name="Text 3"/>
          <p:cNvSpPr txBox="1"/>
          <p:nvPr/>
        </p:nvSpPr>
        <p:spPr>
          <a:xfrm>
            <a:off x="731520" y="3931920"/>
            <a:ext cx="10607040" cy="1280160"/>
          </a:xfrm>
          <a:prstGeom prst="rect">
            <a:avLst/>
          </a:prstGeom>
          <a:noFill/>
          <a:ln/>
        </p:spPr>
        <p:txBody>
          <a:bodyPr wrap="square" lIns="0" tIns="0" rIns="0" bIns="0" rtlCol="0" anchor="ctr"/>
          <a:lstStyle/>
          <a:p>
            <a:pPr indent="0" marL="0">
              <a:buNone/>
            </a:pPr>
            <a:r>
              <a:rPr lang="en-US" sz="1800" dirty="0">
                <a:solidFill>
                  <a:srgbClr val="3A4A5A"/>
                </a:solidFill>
                <a:latin typeface="Calibri" pitchFamily="34" charset="0"/>
                <a:ea typeface="Calibri" pitchFamily="34" charset="-122"/>
                <a:cs typeface="Calibri" pitchFamily="34" charset="-120"/>
              </a:rPr>
              <a:t>Two very different things could be meant by this sentence — and in 2026, the wrong assumption has already cost companies their production databases.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it means vs. what it should mean</a:t>
            </a:r>
            <a:endParaRPr lang="en-US" sz="2800" dirty="0"/>
          </a:p>
        </p:txBody>
      </p:sp>
      <p:sp>
        <p:nvSpPr>
          <p:cNvPr id="3" name="Shape 1"/>
          <p:cNvSpPr/>
          <p:nvPr/>
        </p:nvSpPr>
        <p:spPr>
          <a:xfrm>
            <a:off x="640080" y="1463040"/>
            <a:ext cx="5212080" cy="4754880"/>
          </a:xfrm>
          <a:prstGeom prst="roundRect">
            <a:avLst>
              <a:gd name="adj" fmla="val 2308"/>
            </a:avLst>
          </a:prstGeom>
          <a:solidFill>
            <a:srgbClr val="16324F"/>
          </a:solidFill>
          <a:ln w="12700">
            <a:solidFill>
              <a:srgbClr val="3A4A5A"/>
            </a:solidFill>
            <a:prstDash val="solid"/>
          </a:ln>
        </p:spPr>
      </p:sp>
      <p:sp>
        <p:nvSpPr>
          <p:cNvPr id="4" name="Text 2"/>
          <p:cNvSpPr txBox="1"/>
          <p:nvPr/>
        </p:nvSpPr>
        <p:spPr>
          <a:xfrm>
            <a:off x="914400" y="1691640"/>
            <a:ext cx="4663440" cy="457200"/>
          </a:xfrm>
          <a:prstGeom prst="rect">
            <a:avLst/>
          </a:prstGeom>
          <a:noFill/>
          <a:ln/>
        </p:spPr>
        <p:txBody>
          <a:bodyPr wrap="square" lIns="0" tIns="0" rIns="0" bIns="0" rtlCol="0" anchor="ctr"/>
          <a:lstStyle/>
          <a:p>
            <a:pPr indent="0" marL="0">
              <a:buNone/>
            </a:pPr>
            <a:r>
              <a:rPr lang="en-US" sz="1800" b="1" dirty="0">
                <a:solidFill>
                  <a:srgbClr val="8FD3C7"/>
                </a:solidFill>
                <a:latin typeface="Cambria" pitchFamily="34" charset="0"/>
                <a:ea typeface="Cambria" pitchFamily="34" charset="-122"/>
                <a:cs typeface="Cambria" pitchFamily="34" charset="-120"/>
              </a:rPr>
              <a:t>The pitch</a:t>
            </a:r>
            <a:endParaRPr lang="en-US" sz="1800" dirty="0"/>
          </a:p>
        </p:txBody>
      </p:sp>
      <p:sp>
        <p:nvSpPr>
          <p:cNvPr id="5" name="Text 3"/>
          <p:cNvSpPr txBox="1"/>
          <p:nvPr/>
        </p:nvSpPr>
        <p:spPr>
          <a:xfrm>
            <a:off x="914400" y="2286000"/>
            <a:ext cx="4663440" cy="347472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C9D9E3"/>
                </a:solidFill>
                <a:latin typeface="Calibri" pitchFamily="34" charset="0"/>
                <a:ea typeface="Calibri" pitchFamily="34" charset="-122"/>
                <a:cs typeface="Calibri" pitchFamily="34" charset="-120"/>
              </a:rPr>
              <a:t>Agent connects to production</a:t>
            </a:r>
            <a:endParaRPr lang="en-US" sz="1600" dirty="0"/>
          </a:p>
          <a:p>
            <a:pPr marL="342900" indent="-342900">
              <a:spcAft>
                <a:spcPts val="1400"/>
              </a:spcAft>
              <a:buSzPct val="100000"/>
              <a:buChar char="•"/>
            </a:pPr>
            <a:r>
              <a:rPr lang="en-US" sz="1600" dirty="0">
                <a:solidFill>
                  <a:srgbClr val="C9D9E3"/>
                </a:solidFill>
                <a:latin typeface="Calibri" pitchFamily="34" charset="0"/>
                <a:ea typeface="Calibri" pitchFamily="34" charset="-122"/>
                <a:cs typeface="Calibri" pitchFamily="34" charset="-120"/>
              </a:rPr>
              <a:t>Runs the whole migration end to end</a:t>
            </a:r>
            <a:endParaRPr lang="en-US" sz="1600" dirty="0"/>
          </a:p>
          <a:p>
            <a:pPr marL="342900" indent="-342900">
              <a:spcAft>
                <a:spcPts val="1400"/>
              </a:spcAft>
              <a:buSzPct val="100000"/>
              <a:buChar char="•"/>
            </a:pPr>
            <a:r>
              <a:rPr lang="en-US" sz="1600" dirty="0">
                <a:solidFill>
                  <a:srgbClr val="C9D9E3"/>
                </a:solidFill>
                <a:latin typeface="Calibri" pitchFamily="34" charset="0"/>
                <a:ea typeface="Calibri" pitchFamily="34" charset="-122"/>
                <a:cs typeface="Calibri" pitchFamily="34" charset="-120"/>
              </a:rPr>
              <a:t>No human in the loop needed</a:t>
            </a:r>
            <a:endParaRPr lang="en-US" sz="1600" dirty="0"/>
          </a:p>
          <a:p>
            <a:pPr marL="342900" indent="-342900">
              <a:spcAft>
                <a:spcPts val="1400"/>
              </a:spcAft>
              <a:buSzPct val="100000"/>
              <a:buChar char="•"/>
            </a:pPr>
            <a:r>
              <a:rPr lang="en-US" sz="1600" dirty="0">
                <a:solidFill>
                  <a:srgbClr val="C9D9E3"/>
                </a:solidFill>
                <a:latin typeface="Calibri" pitchFamily="34" charset="0"/>
                <a:ea typeface="Calibri" pitchFamily="34" charset="-122"/>
                <a:cs typeface="Calibri" pitchFamily="34" charset="-120"/>
              </a:rPr>
              <a:t>"Fire and forget"</a:t>
            </a:r>
            <a:endParaRPr lang="en-US" sz="1600" dirty="0"/>
          </a:p>
        </p:txBody>
      </p:sp>
      <p:sp>
        <p:nvSpPr>
          <p:cNvPr id="6" name="Shape 4"/>
          <p:cNvSpPr/>
          <p:nvPr/>
        </p:nvSpPr>
        <p:spPr>
          <a:xfrm>
            <a:off x="6309360" y="1463040"/>
            <a:ext cx="5212080" cy="4754880"/>
          </a:xfrm>
          <a:prstGeom prst="roundRect">
            <a:avLst>
              <a:gd name="adj" fmla="val 2308"/>
            </a:avLst>
          </a:prstGeom>
          <a:solidFill>
            <a:srgbClr val="8FD3C7"/>
          </a:solidFill>
          <a:ln/>
        </p:spPr>
      </p:sp>
      <p:sp>
        <p:nvSpPr>
          <p:cNvPr id="7" name="Text 5"/>
          <p:cNvSpPr txBox="1"/>
          <p:nvPr/>
        </p:nvSpPr>
        <p:spPr>
          <a:xfrm>
            <a:off x="6583680" y="1691640"/>
            <a:ext cx="4663440" cy="457200"/>
          </a:xfrm>
          <a:prstGeom prst="rect">
            <a:avLst/>
          </a:prstGeom>
          <a:noFill/>
          <a:ln/>
        </p:spPr>
        <p:txBody>
          <a:bodyPr wrap="square" lIns="0" tIns="0" rIns="0" bIns="0" rtlCol="0" anchor="ctr"/>
          <a:lstStyle/>
          <a:p>
            <a:pPr indent="0" marL="0">
              <a:buNone/>
            </a:pPr>
            <a:r>
              <a:rPr lang="en-US" sz="1800" b="1" dirty="0">
                <a:solidFill>
                  <a:srgbClr val="0F2540"/>
                </a:solidFill>
                <a:latin typeface="Cambria" pitchFamily="34" charset="0"/>
                <a:ea typeface="Cambria" pitchFamily="34" charset="-122"/>
                <a:cs typeface="Cambria" pitchFamily="34" charset="-120"/>
              </a:rPr>
              <a:t>The reality in production</a:t>
            </a:r>
            <a:endParaRPr lang="en-US" sz="1800" dirty="0"/>
          </a:p>
        </p:txBody>
      </p:sp>
      <p:sp>
        <p:nvSpPr>
          <p:cNvPr id="8" name="Text 6"/>
          <p:cNvSpPr txBox="1"/>
          <p:nvPr/>
        </p:nvSpPr>
        <p:spPr>
          <a:xfrm>
            <a:off x="6583680" y="2286000"/>
            <a:ext cx="4663440" cy="347472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0F2540"/>
                </a:solidFill>
                <a:latin typeface="Calibri" pitchFamily="34" charset="0"/>
                <a:ea typeface="Calibri" pitchFamily="34" charset="-122"/>
                <a:cs typeface="Calibri" pitchFamily="34" charset="-120"/>
              </a:rPr>
              <a:t>Agent handles discovery + mapping</a:t>
            </a:r>
            <a:endParaRPr lang="en-US" sz="1600" dirty="0"/>
          </a:p>
          <a:p>
            <a:pPr marL="342900" indent="-342900">
              <a:spcAft>
                <a:spcPts val="1400"/>
              </a:spcAft>
              <a:buSzPct val="100000"/>
              <a:buChar char="•"/>
            </a:pPr>
            <a:r>
              <a:rPr lang="en-US" sz="1600" dirty="0">
                <a:solidFill>
                  <a:srgbClr val="0F2540"/>
                </a:solidFill>
                <a:latin typeface="Calibri" pitchFamily="34" charset="0"/>
                <a:ea typeface="Calibri" pitchFamily="34" charset="-122"/>
                <a:cs typeface="Calibri" pitchFamily="34" charset="-120"/>
              </a:rPr>
              <a:t>Agent translates code + runs validation</a:t>
            </a:r>
            <a:endParaRPr lang="en-US" sz="1600" dirty="0"/>
          </a:p>
          <a:p>
            <a:pPr marL="342900" indent="-342900">
              <a:spcAft>
                <a:spcPts val="1400"/>
              </a:spcAft>
              <a:buSzPct val="100000"/>
              <a:buChar char="•"/>
            </a:pPr>
            <a:r>
              <a:rPr lang="en-US" sz="1600" dirty="0">
                <a:solidFill>
                  <a:srgbClr val="0F2540"/>
                </a:solidFill>
                <a:latin typeface="Calibri" pitchFamily="34" charset="0"/>
                <a:ea typeface="Calibri" pitchFamily="34" charset="-122"/>
                <a:cs typeface="Calibri" pitchFamily="34" charset="-120"/>
              </a:rPr>
              <a:t>Human approves cutover, every time</a:t>
            </a:r>
            <a:endParaRPr lang="en-US" sz="1600" dirty="0"/>
          </a:p>
          <a:p>
            <a:pPr marL="342900" indent="-342900">
              <a:spcAft>
                <a:spcPts val="1400"/>
              </a:spcAft>
              <a:buSzPct val="100000"/>
              <a:buChar char="•"/>
            </a:pPr>
            <a:r>
              <a:rPr lang="en-US" sz="1600" dirty="0">
                <a:solidFill>
                  <a:srgbClr val="0F2540"/>
                </a:solidFill>
                <a:latin typeface="Calibri" pitchFamily="34" charset="0"/>
                <a:ea typeface="Calibri" pitchFamily="34" charset="-122"/>
                <a:cs typeface="Calibri" pitchFamily="34" charset="-120"/>
              </a:rPr>
              <a:t>2–4x faster — in the safe phases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731520"/>
          </a:xfrm>
          <a:prstGeom prst="rect">
            <a:avLst/>
          </a:prstGeom>
          <a:noFill/>
          <a:ln/>
        </p:spPr>
        <p:txBody>
          <a:bodyPr wrap="square" lIns="0" tIns="0" rIns="0" bIns="0" rtlCol="0" anchor="ctr"/>
          <a:lstStyle/>
          <a:p>
            <a:pPr indent="0" marL="0">
              <a:buNone/>
            </a:pPr>
            <a:r>
              <a:rPr lang="en-US" sz="2600" b="1" dirty="0">
                <a:solidFill>
                  <a:srgbClr val="0F2540"/>
                </a:solidFill>
                <a:latin typeface="Cambria" pitchFamily="34" charset="0"/>
                <a:ea typeface="Cambria" pitchFamily="34" charset="-122"/>
                <a:cs typeface="Cambria" pitchFamily="34" charset="-120"/>
              </a:rPr>
              <a:t>When the human-approval gate goes missing</a:t>
            </a:r>
            <a:endParaRPr lang="en-US" sz="2600" dirty="0"/>
          </a:p>
        </p:txBody>
      </p:sp>
      <p:sp>
        <p:nvSpPr>
          <p:cNvPr id="3" name="Shape 1"/>
          <p:cNvSpPr/>
          <p:nvPr/>
        </p:nvSpPr>
        <p:spPr>
          <a:xfrm>
            <a:off x="640080" y="1463040"/>
            <a:ext cx="5212080" cy="4754880"/>
          </a:xfrm>
          <a:prstGeom prst="roundRect">
            <a:avLst>
              <a:gd name="adj" fmla="val 2308"/>
            </a:avLst>
          </a:prstGeom>
          <a:solidFill>
            <a:srgbClr val="F4F7F8"/>
          </a:solidFill>
          <a:ln w="12700">
            <a:solidFill>
              <a:srgbClr val="C9D9E3"/>
            </a:solidFill>
            <a:prstDash val="solid"/>
          </a:ln>
        </p:spPr>
      </p:sp>
      <p:sp>
        <p:nvSpPr>
          <p:cNvPr id="4" name="Text 2"/>
          <p:cNvSpPr txBox="1"/>
          <p:nvPr/>
        </p:nvSpPr>
        <p:spPr>
          <a:xfrm>
            <a:off x="914400" y="1691640"/>
            <a:ext cx="4663440" cy="914400"/>
          </a:xfrm>
          <a:prstGeom prst="rect">
            <a:avLst/>
          </a:prstGeom>
          <a:noFill/>
          <a:ln/>
        </p:spPr>
        <p:txBody>
          <a:bodyPr wrap="square" lIns="0" tIns="0" rIns="0" bIns="0" rtlCol="0" anchor="ctr"/>
          <a:lstStyle/>
          <a:p>
            <a:pPr indent="0" marL="0">
              <a:buNone/>
            </a:pPr>
            <a:r>
              <a:rPr lang="en-US" sz="4400" b="1" dirty="0">
                <a:solidFill>
                  <a:srgbClr val="0F2540"/>
                </a:solidFill>
                <a:latin typeface="Cambria" pitchFamily="34" charset="0"/>
                <a:ea typeface="Cambria" pitchFamily="34" charset="-122"/>
                <a:cs typeface="Cambria" pitchFamily="34" charset="-120"/>
              </a:rPr>
              <a:t>9 seconds</a:t>
            </a:r>
            <a:endParaRPr lang="en-US" sz="4400" dirty="0"/>
          </a:p>
        </p:txBody>
      </p:sp>
      <p:sp>
        <p:nvSpPr>
          <p:cNvPr id="5" name="Text 3"/>
          <p:cNvSpPr txBox="1"/>
          <p:nvPr/>
        </p:nvSpPr>
        <p:spPr>
          <a:xfrm>
            <a:off x="914400" y="2514600"/>
            <a:ext cx="4663440" cy="411480"/>
          </a:xfrm>
          <a:prstGeom prst="rect">
            <a:avLst/>
          </a:prstGeom>
          <a:noFill/>
          <a:ln/>
        </p:spPr>
        <p:txBody>
          <a:bodyPr wrap="square" lIns="0" tIns="0" rIns="0" bIns="0" rtlCol="0" anchor="ctr"/>
          <a:lstStyle/>
          <a:p>
            <a:pPr indent="0" marL="0">
              <a:buNone/>
            </a:pPr>
            <a:r>
              <a:rPr lang="en-US" sz="1400" b="1" dirty="0">
                <a:solidFill>
                  <a:srgbClr val="8FD3C7"/>
                </a:solidFill>
                <a:latin typeface="Calibri" pitchFamily="34" charset="0"/>
                <a:ea typeface="Calibri" pitchFamily="34" charset="-122"/>
                <a:cs typeface="Calibri" pitchFamily="34" charset="-120"/>
              </a:rPr>
              <a:t>PocketOS, April 2026</a:t>
            </a:r>
            <a:endParaRPr lang="en-US" sz="1400" dirty="0"/>
          </a:p>
        </p:txBody>
      </p:sp>
      <p:sp>
        <p:nvSpPr>
          <p:cNvPr id="6" name="Text 4"/>
          <p:cNvSpPr txBox="1"/>
          <p:nvPr/>
        </p:nvSpPr>
        <p:spPr>
          <a:xfrm>
            <a:off x="914400" y="3017520"/>
            <a:ext cx="4663440" cy="2926080"/>
          </a:xfrm>
          <a:prstGeom prst="rect">
            <a:avLst/>
          </a:prstGeom>
          <a:noFill/>
          <a:ln/>
        </p:spPr>
        <p:txBody>
          <a:bodyPr wrap="square" lIns="0" tIns="0" rIns="0" bIns="0" rtlCol="0" anchor="ctr"/>
          <a:lstStyle/>
          <a:p>
            <a:pPr indent="0" marL="0">
              <a:buNone/>
            </a:pPr>
            <a:r>
              <a:rPr lang="en-US" sz="1450" dirty="0">
                <a:solidFill>
                  <a:srgbClr val="3A4A5A"/>
                </a:solidFill>
                <a:latin typeface="Calibri" pitchFamily="34" charset="0"/>
                <a:ea typeface="Calibri" pitchFamily="34" charset="-122"/>
                <a:cs typeface="Calibri" pitchFamily="34" charset="-120"/>
              </a:rPr>
              <a:t>A coding agent hit a credential mismatch, found an over-permissioned API token, and deleted the production database and every backup in the same volume. Most recent backup: 3 months old.</a:t>
            </a:r>
            <a:endParaRPr lang="en-US" sz="1450" dirty="0"/>
          </a:p>
        </p:txBody>
      </p:sp>
      <p:sp>
        <p:nvSpPr>
          <p:cNvPr id="7" name="Shape 5"/>
          <p:cNvSpPr/>
          <p:nvPr/>
        </p:nvSpPr>
        <p:spPr>
          <a:xfrm>
            <a:off x="6309360" y="1463040"/>
            <a:ext cx="5212080" cy="4754880"/>
          </a:xfrm>
          <a:prstGeom prst="roundRect">
            <a:avLst>
              <a:gd name="adj" fmla="val 2308"/>
            </a:avLst>
          </a:prstGeom>
          <a:solidFill>
            <a:srgbClr val="F4F7F8"/>
          </a:solidFill>
          <a:ln w="12700">
            <a:solidFill>
              <a:srgbClr val="C9D9E3"/>
            </a:solidFill>
            <a:prstDash val="solid"/>
          </a:ln>
        </p:spPr>
      </p:sp>
      <p:sp>
        <p:nvSpPr>
          <p:cNvPr id="8" name="Text 6"/>
          <p:cNvSpPr txBox="1"/>
          <p:nvPr/>
        </p:nvSpPr>
        <p:spPr>
          <a:xfrm>
            <a:off x="6583680" y="1691640"/>
            <a:ext cx="4663440" cy="914400"/>
          </a:xfrm>
          <a:prstGeom prst="rect">
            <a:avLst/>
          </a:prstGeom>
          <a:noFill/>
          <a:ln/>
        </p:spPr>
        <p:txBody>
          <a:bodyPr wrap="square" lIns="0" tIns="0" rIns="0" bIns="0" rtlCol="0" anchor="ctr"/>
          <a:lstStyle/>
          <a:p>
            <a:pPr indent="0" marL="0">
              <a:buNone/>
            </a:pPr>
            <a:r>
              <a:rPr lang="en-US" sz="4400" b="1" dirty="0">
                <a:solidFill>
                  <a:srgbClr val="0F2540"/>
                </a:solidFill>
                <a:latin typeface="Cambria" pitchFamily="34" charset="0"/>
                <a:ea typeface="Cambria" pitchFamily="34" charset="-122"/>
                <a:cs typeface="Cambria" pitchFamily="34" charset="-120"/>
              </a:rPr>
              <a:t>Every table</a:t>
            </a:r>
            <a:endParaRPr lang="en-US" sz="4400" dirty="0"/>
          </a:p>
        </p:txBody>
      </p:sp>
      <p:sp>
        <p:nvSpPr>
          <p:cNvPr id="9" name="Text 7"/>
          <p:cNvSpPr txBox="1"/>
          <p:nvPr/>
        </p:nvSpPr>
        <p:spPr>
          <a:xfrm>
            <a:off x="6583680" y="2514600"/>
            <a:ext cx="4663440" cy="411480"/>
          </a:xfrm>
          <a:prstGeom prst="rect">
            <a:avLst/>
          </a:prstGeom>
          <a:noFill/>
          <a:ln/>
        </p:spPr>
        <p:txBody>
          <a:bodyPr wrap="square" lIns="0" tIns="0" rIns="0" bIns="0" rtlCol="0" anchor="ctr"/>
          <a:lstStyle/>
          <a:p>
            <a:pPr indent="0" marL="0">
              <a:buNone/>
            </a:pPr>
            <a:r>
              <a:rPr lang="en-US" sz="1400" b="1" dirty="0">
                <a:solidFill>
                  <a:srgbClr val="8FD3C7"/>
                </a:solidFill>
                <a:latin typeface="Calibri" pitchFamily="34" charset="0"/>
                <a:ea typeface="Calibri" pitchFamily="34" charset="-122"/>
                <a:cs typeface="Calibri" pitchFamily="34" charset="-120"/>
              </a:rPr>
              <a:t>Supabase, August 2026</a:t>
            </a:r>
            <a:endParaRPr lang="en-US" sz="1400" dirty="0"/>
          </a:p>
        </p:txBody>
      </p:sp>
      <p:sp>
        <p:nvSpPr>
          <p:cNvPr id="10" name="Text 8"/>
          <p:cNvSpPr txBox="1"/>
          <p:nvPr/>
        </p:nvSpPr>
        <p:spPr>
          <a:xfrm>
            <a:off x="6583680" y="3017520"/>
            <a:ext cx="4663440" cy="2926080"/>
          </a:xfrm>
          <a:prstGeom prst="rect">
            <a:avLst/>
          </a:prstGeom>
          <a:noFill/>
          <a:ln/>
        </p:spPr>
        <p:txBody>
          <a:bodyPr wrap="square" lIns="0" tIns="0" rIns="0" bIns="0" rtlCol="0" anchor="ctr"/>
          <a:lstStyle/>
          <a:p>
            <a:pPr indent="0" marL="0">
              <a:buNone/>
            </a:pPr>
            <a:r>
              <a:rPr lang="en-US" sz="1450" dirty="0">
                <a:solidFill>
                  <a:srgbClr val="3A4A5A"/>
                </a:solidFill>
                <a:latin typeface="Calibri" pitchFamily="34" charset="0"/>
                <a:ea typeface="Calibri" pitchFamily="34" charset="-122"/>
                <a:cs typeface="Calibri" pitchFamily="34" charset="-120"/>
              </a:rPr>
              <a:t>An agent ran a Prisma migration flag pointed at the production URL instead of a disposable test database. Prisma reset the shadow database first — against production. Every table was dropped.</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3" name="Shape 1"/>
          <p:cNvSpPr/>
          <p:nvPr/>
        </p:nvSpPr>
        <p:spPr>
          <a:xfrm>
            <a:off x="731520" y="1554480"/>
            <a:ext cx="548640" cy="548640"/>
          </a:xfrm>
          <a:prstGeom prst="ellipse">
            <a:avLst/>
          </a:prstGeom>
          <a:solidFill>
            <a:srgbClr val="8FD3C7"/>
          </a:solidFill>
          <a:ln/>
        </p:spPr>
      </p:sp>
      <p:sp>
        <p:nvSpPr>
          <p:cNvPr id="4" name="Text 2"/>
          <p:cNvSpPr txBox="1"/>
          <p:nvPr/>
        </p:nvSpPr>
        <p:spPr>
          <a:xfrm>
            <a:off x="731520" y="1554480"/>
            <a:ext cx="548640" cy="54864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54480" y="1508760"/>
            <a:ext cx="9692640" cy="64008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Agents do discovery, mapping, translation, and validation — not cutover.</a:t>
            </a:r>
            <a:endParaRPr lang="en-US" sz="1700" dirty="0"/>
          </a:p>
        </p:txBody>
      </p:sp>
      <p:sp>
        <p:nvSpPr>
          <p:cNvPr id="6" name="Shape 4"/>
          <p:cNvSpPr/>
          <p:nvPr/>
        </p:nvSpPr>
        <p:spPr>
          <a:xfrm>
            <a:off x="731520" y="2606040"/>
            <a:ext cx="548640" cy="548640"/>
          </a:xfrm>
          <a:prstGeom prst="ellipse">
            <a:avLst/>
          </a:prstGeom>
          <a:solidFill>
            <a:srgbClr val="8FD3C7"/>
          </a:solidFill>
          <a:ln/>
        </p:spPr>
      </p:sp>
      <p:sp>
        <p:nvSpPr>
          <p:cNvPr id="7" name="Text 5"/>
          <p:cNvSpPr txBox="1"/>
          <p:nvPr/>
        </p:nvSpPr>
        <p:spPr>
          <a:xfrm>
            <a:off x="731520" y="2606040"/>
            <a:ext cx="548640" cy="54864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54480" y="2560320"/>
            <a:ext cx="9692640" cy="64008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None of the agent's safe tasks require standing write access to production.</a:t>
            </a:r>
            <a:endParaRPr lang="en-US" sz="1700" dirty="0"/>
          </a:p>
        </p:txBody>
      </p:sp>
      <p:sp>
        <p:nvSpPr>
          <p:cNvPr id="9" name="Shape 7"/>
          <p:cNvSpPr/>
          <p:nvPr/>
        </p:nvSpPr>
        <p:spPr>
          <a:xfrm>
            <a:off x="731520" y="3657600"/>
            <a:ext cx="548640" cy="548640"/>
          </a:xfrm>
          <a:prstGeom prst="ellipse">
            <a:avLst/>
          </a:prstGeom>
          <a:solidFill>
            <a:srgbClr val="8FD3C7"/>
          </a:solidFill>
          <a:ln/>
        </p:spPr>
      </p:sp>
      <p:sp>
        <p:nvSpPr>
          <p:cNvPr id="10" name="Text 8"/>
          <p:cNvSpPr txBox="1"/>
          <p:nvPr/>
        </p:nvSpPr>
        <p:spPr>
          <a:xfrm>
            <a:off x="731520" y="3657600"/>
            <a:ext cx="548640" cy="54864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54480" y="3611880"/>
            <a:ext cx="9692640" cy="64008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Scope every credential; put a hard, non-bypassable gate on destructive operations.</a:t>
            </a:r>
            <a:endParaRPr lang="en-US" sz="1700" dirty="0"/>
          </a:p>
        </p:txBody>
      </p:sp>
      <p:sp>
        <p:nvSpPr>
          <p:cNvPr id="12" name="Shape 10"/>
          <p:cNvSpPr/>
          <p:nvPr/>
        </p:nvSpPr>
        <p:spPr>
          <a:xfrm>
            <a:off x="731520" y="4709160"/>
            <a:ext cx="548640" cy="548640"/>
          </a:xfrm>
          <a:prstGeom prst="ellipse">
            <a:avLst/>
          </a:prstGeom>
          <a:solidFill>
            <a:srgbClr val="8FD3C7"/>
          </a:solidFill>
          <a:ln/>
        </p:spPr>
      </p:sp>
      <p:sp>
        <p:nvSpPr>
          <p:cNvPr id="13" name="Text 11"/>
          <p:cNvSpPr txBox="1"/>
          <p:nvPr/>
        </p:nvSpPr>
        <p:spPr>
          <a:xfrm>
            <a:off x="731520" y="4709160"/>
            <a:ext cx="548640" cy="54864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554480" y="4663440"/>
            <a:ext cx="9692640" cy="64008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Keep backups outside the blast radius of the data they protect.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FD3C7"/>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0F2540">
              <a:alpha val="12000"/>
            </a:srgbClr>
          </a:solidFill>
          <a:ln/>
        </p:spPr>
      </p:sp>
      <p:sp>
        <p:nvSpPr>
          <p:cNvPr id="3" name="Text 1"/>
          <p:cNvSpPr txBox="1"/>
          <p:nvPr/>
        </p:nvSpPr>
        <p:spPr>
          <a:xfrm>
            <a:off x="731520" y="1828800"/>
            <a:ext cx="10607040" cy="164592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Is your next migration</a:t>
            </a:r>
            <a:endParaRPr lang="en-US" sz="3200" dirty="0"/>
          </a:p>
          <a:p>
            <a:pPr indent="0" marL="0">
              <a:buNone/>
            </a:pPr>
            <a:r>
              <a:rPr lang="en-US" sz="3200" b="1" dirty="0">
                <a:solidFill>
                  <a:srgbClr val="0F2540"/>
                </a:solidFill>
                <a:latin typeface="Cambria" pitchFamily="34" charset="0"/>
                <a:ea typeface="Cambria" pitchFamily="34" charset="-122"/>
                <a:cs typeface="Cambria" pitchFamily="34" charset="-120"/>
              </a:rPr>
              <a:t>scoping agent access on the fly?</a:t>
            </a:r>
            <a:endParaRPr lang="en-US" sz="3200" dirty="0"/>
          </a:p>
        </p:txBody>
      </p:sp>
      <p:sp>
        <p:nvSpPr>
          <p:cNvPr id="4" name="Text 2"/>
          <p:cNvSpPr txBox="1"/>
          <p:nvPr/>
        </p:nvSpPr>
        <p:spPr>
          <a:xfrm>
            <a:off x="731520" y="3749040"/>
            <a:ext cx="10607040" cy="548640"/>
          </a:xfrm>
          <a:prstGeom prst="rect">
            <a:avLst/>
          </a:prstGeom>
          <a:noFill/>
          <a:ln/>
        </p:spPr>
        <p:txBody>
          <a:bodyPr wrap="square" lIns="0" tIns="0" rIns="0" bIns="0" rtlCol="0" anchor="ctr"/>
          <a:lstStyle/>
          <a:p>
            <a:pPr indent="0" marL="0">
              <a:buNone/>
            </a:pPr>
            <a:r>
              <a:rPr lang="en-US" sz="1800" dirty="0">
                <a:solidFill>
                  <a:srgbClr val="0F2540"/>
                </a:solidFill>
                <a:latin typeface="Calibri" pitchFamily="34" charset="0"/>
                <a:ea typeface="Calibri" pitchFamily="34" charset="-122"/>
                <a:cs typeface="Calibri" pitchFamily="34" charset="-120"/>
              </a:rPr>
              <a:t>Read the full breakdown at dataplatformadvisory.com</a:t>
            </a:r>
            <a:endParaRPr lang="en-US" sz="1800" dirty="0"/>
          </a:p>
        </p:txBody>
      </p:sp>
      <p:sp>
        <p:nvSpPr>
          <p:cNvPr id="5" name="Text 3"/>
          <p:cNvSpPr txBox="1"/>
          <p:nvPr/>
        </p:nvSpPr>
        <p:spPr>
          <a:xfrm>
            <a:off x="731520" y="6035040"/>
            <a:ext cx="7315200" cy="457200"/>
          </a:xfrm>
          <a:prstGeom prst="rect">
            <a:avLst/>
          </a:prstGeom>
          <a:noFill/>
          <a:ln/>
        </p:spPr>
        <p:txBody>
          <a:bodyPr wrap="square" lIns="0" tIns="0" rIns="0" bIns="0" rtlCol="0" anchor="ctr"/>
          <a:lstStyle/>
          <a:p>
            <a:pPr indent="0" marL="0">
              <a:buNone/>
            </a:pPr>
            <a:r>
              <a:rPr lang="en-US" sz="1400" b="1" dirty="0">
                <a:solidFill>
                  <a:srgbClr val="0F2540"/>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2026-09-09T06:07:17Z</dcterms:created>
  <dcterms:modified xsi:type="dcterms:W3CDTF">2026-09-09T06:07:17Z</dcterms:modified>
</cp:coreProperties>
</file>